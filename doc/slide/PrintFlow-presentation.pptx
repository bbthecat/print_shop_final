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7b97c068-2447-d074-b8e9-451196751603}">
          <p14:sldIdLst>
            <p14:sldId id="256"/>
          </p14:sldIdLst>
        </p14:section>
        <p14:section name="ภาพรวม" id="{7e47825a-4fcc-e569-c0c7-bc1feec2baf3}">
          <p14:sldIdLst>
            <p14:sldId id="257"/>
            <p14:sldId id="258"/>
          </p14:sldIdLst>
        </p14:section>
        <p14:section name="สถาปัตยกรรม" id="{4ccb79a8-4797-32da-3d93-7b5041fd44c4}">
          <p14:sldIdLst>
            <p14:sldId id="259"/>
            <p14:sldId id="260"/>
          </p14:sldIdLst>
        </p14:section>
        <p14:section name="Design Patterns" id="{8236ae0b-aa30-3ba5-9ea3-aef6648ebd5e}">
          <p14:sldIdLst>
            <p14:sldId id="261"/>
            <p14:sldId id="262"/>
            <p14:sldId id="263"/>
            <p14:sldId id="264"/>
            <p14:sldId id="265"/>
          </p14:sldIdLst>
        </p14:section>
        <p14:section name="คุณภาพ" id="{fa0c805f-5ed5-f8dd-215a-9b28990b09df}">
          <p14:sldIdLst>
            <p14:sldId id="266"/>
            <p14:sldId id="267"/>
            <p14:sldId id="268"/>
          </p14:sldIdLst>
        </p14:section>
        <p14:section name="ปิด" id="{96cf5048-99eb-9203-f1fd-b3c67f1aee4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จำนวน test แยกตามชั้น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 test</c:v>
                </c:pt>
              </c:strCache>
            </c:strRef>
          </c:tx>
          <c:spPr>
            <a:solidFill>
              <a:srgbClr val="00A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Controller / หน้าเว็บ</c:v>
                  </c:pt>
                  <c:pt idx="1">
                    <c:v>Service + Pattern</c:v>
                  </c:pt>
                  <c:pt idx="2">
                    <c:v>Security</c:v>
                  </c:pt>
                  <c:pt idx="3">
                    <c:v>Repository</c:v>
                  </c:pt>
                  <c:pt idx="4">
                    <c:v>Integration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</c:v>
                </c:pt>
                <c:pt idx="1">
                  <c:v>73</c:v>
                </c:pt>
                <c:pt idx="2">
                  <c:v>20</c:v>
                </c:pt>
                <c:pt idx="3">
                  <c:v>10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แนะนำทีมและหัวข้อ: PrintFlow เป็นระบบจัดการร้านรับพิมพ์ Spring Boot แบบ Layered Architecture ทั้ง REST API และหน้าเว็บ Thymeleaf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เรียกได้แค่ Service ไม่เรียก Repository ตรง ใช้ DTO แยก Entity ออกจาก API ทุก dependency ฉีดผ่าน 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 free plan อาจใช้เวลาตื่น 30-60 วินาที เปิดเว็บทิ้งไว้ก่อนเริ่มนำเสนอ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PrintFlow · CP353002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k-dot-0"/>
          <p:cNvSpPr/>
          <p:nvPr/>
        </p:nvSpPr>
        <p:spPr>
          <a:xfrm>
            <a:off x="548640" y="105156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ink-dot-1"/>
          <p:cNvSpPr/>
          <p:nvPr/>
        </p:nvSpPr>
        <p:spPr>
          <a:xfrm>
            <a:off x="841248" y="105156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ink-dot-2"/>
          <p:cNvSpPr/>
          <p:nvPr/>
        </p:nvSpPr>
        <p:spPr>
          <a:xfrm>
            <a:off x="1133856" y="105156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ink-dot-3"/>
          <p:cNvSpPr/>
          <p:nvPr/>
        </p:nvSpPr>
        <p:spPr>
          <a:xfrm>
            <a:off x="1426464" y="1051560"/>
            <a:ext cx="201168" cy="2011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PrintFlow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ระบบจัดการร้านรับพิมพ์เอกสาร — สั่งพิมพ์ ติดตามสถานะ ชำระเงิน และรายงาน ในที่เดียว</a:t>
            </a:r>
            <a:endParaRPr lang="en-US" sz="1800" dirty="0"/>
          </a:p>
        </p:txBody>
      </p:sp>
      <p:sp>
        <p:nvSpPr>
          <p:cNvPr id="8" name="team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0"/>
                </a:solidFill>
              </a:rPr>
              <a:t>CP353002 Principles of Software Design and Development · Section 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0"/>
                </a:solidFill>
              </a:rPr>
              <a:t>ณัฐชา (P1) · ปฏิภาณ (P2) · รัชชานนท์ (P3) · อาณัฐ (P4)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ปัญหาของร้านพิมพ์ และสิ่งที่ระบบแก้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problem-card-0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blem-icon-0-circle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roblem-icon-0-label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?</a:t>
            </a:r>
            <a:endParaRPr lang="en-US" sz="1400" dirty="0"/>
          </a:p>
        </p:txBody>
      </p:sp>
      <p:sp>
        <p:nvSpPr>
          <p:cNvPr id="10" name="problem-head-0"/>
          <p:cNvSpPr txBox="1"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คิดราคาด้วยมือ</a:t>
            </a:r>
            <a:endParaRPr lang="en-US" sz="1600" dirty="0"/>
          </a:p>
        </p:txBody>
      </p:sp>
      <p:sp>
        <p:nvSpPr>
          <p:cNvPr id="11" name="problem-body-0"/>
          <p:cNvSpPr txBox="1"/>
          <p:nvPr/>
        </p:nvSpPr>
        <p:spPr>
          <a:xfrm>
            <a:off x="68580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ขาวดำ สี ภาพถ่าย บริการเสริม และโปรโมชัน คิดผิดง่าย</a:t>
            </a:r>
            <a:endParaRPr lang="en-US" sz="1300" dirty="0"/>
          </a:p>
        </p:txBody>
      </p:sp>
      <p:sp>
        <p:nvSpPr>
          <p:cNvPr id="12" name="problem-card-1"/>
          <p:cNvSpPr/>
          <p:nvPr/>
        </p:nvSpPr>
        <p:spPr>
          <a:xfrm>
            <a:off x="324612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roblem-icon-1-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roblem-icon-1-label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…</a:t>
            </a:r>
            <a:endParaRPr lang="en-US" sz="1400" dirty="0"/>
          </a:p>
        </p:txBody>
      </p:sp>
      <p:sp>
        <p:nvSpPr>
          <p:cNvPr id="15" name="problem-head-1"/>
          <p:cNvSpPr txBox="1"/>
          <p:nvPr/>
        </p:nvSpPr>
        <p:spPr>
          <a:xfrm>
            <a:off x="34747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ลูกค้าไม่รู้สถานะงาน</a:t>
            </a:r>
            <a:endParaRPr lang="en-US" sz="1600" dirty="0"/>
          </a:p>
        </p:txBody>
      </p:sp>
      <p:sp>
        <p:nvSpPr>
          <p:cNvPr id="16" name="problem-body-1"/>
          <p:cNvSpPr txBox="1"/>
          <p:nvPr/>
        </p:nvSpPr>
        <p:spPr>
          <a:xfrm>
            <a:off x="347472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ต้องโทรถามร้านว่างานพิมพ์เสร็จหรือยัง</a:t>
            </a:r>
            <a:endParaRPr lang="en-US" sz="1300" dirty="0"/>
          </a:p>
        </p:txBody>
      </p:sp>
      <p:sp>
        <p:nvSpPr>
          <p:cNvPr id="17" name="problem-card-2"/>
          <p:cNvSpPr/>
          <p:nvPr/>
        </p:nvSpPr>
        <p:spPr>
          <a:xfrm>
            <a:off x="603504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blem-icon-2-circle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problem-icon-2-label"/>
          <p:cNvSpPr txBox="1"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฿</a:t>
            </a:r>
            <a:endParaRPr lang="en-US" sz="1400" dirty="0"/>
          </a:p>
        </p:txBody>
      </p:sp>
      <p:sp>
        <p:nvSpPr>
          <p:cNvPr id="20" name="problem-head-2"/>
          <p:cNvSpPr txBox="1"/>
          <p:nvPr/>
        </p:nvSpPr>
        <p:spPr>
          <a:xfrm>
            <a:off x="62636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ยอดขายกระจัดกระจาย</a:t>
            </a:r>
            <a:endParaRPr lang="en-US" sz="1600" dirty="0"/>
          </a:p>
        </p:txBody>
      </p:sp>
      <p:sp>
        <p:nvSpPr>
          <p:cNvPr id="21" name="problem-body-2"/>
          <p:cNvSpPr txBox="1"/>
          <p:nvPr/>
        </p:nvSpPr>
        <p:spPr>
          <a:xfrm>
            <a:off x="626364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ไม่มีสรุปยอดและบริการยอดนิยมให้เจ้าของร้าน</a:t>
            </a:r>
            <a:endParaRPr lang="en-US" sz="1300" dirty="0"/>
          </a:p>
        </p:txBody>
      </p:sp>
      <p:sp>
        <p:nvSpPr>
          <p:cNvPr id="22" name="solution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PrintFlow: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คำนวณราคาอัตโนมัติด้วย Strategy · ติดตามสถานะแบบ State · แจ้งเตือนอัตโนมัติด้วย Observer · ตรวจคำสั่งพิมพ์ด้วย Chain of Responsibility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ผู้ใช้ 3 บทบาท · 14 Use Case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role-card-0"/>
          <p:cNvSpPr/>
          <p:nvPr/>
        </p:nvSpPr>
        <p:spPr>
          <a:xfrm>
            <a:off x="45720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ole-icon-0-circle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role-icon-0-label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0" name="role-head-0"/>
          <p:cNvSpPr txBox="1"/>
          <p:nvPr/>
        </p:nvSpPr>
        <p:spPr>
          <a:xfrm>
            <a:off x="12344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ลูกค้า (Customer)</a:t>
            </a:r>
            <a:endParaRPr lang="en-US" sz="1500" dirty="0"/>
          </a:p>
        </p:txBody>
      </p:sp>
      <p:sp>
        <p:nvSpPr>
          <p:cNvPr id="11" name="role-items-0"/>
          <p:cNvSpPr txBox="1"/>
          <p:nvPr/>
        </p:nvSpPr>
        <p:spPr>
          <a:xfrm>
            <a:off x="64008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สมัครสมาชิก / แก้โปรไฟล์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สั่งพิมพ์ ระบุจำนวนหน้า-ชุด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ติดตามสถานะ / ยกเลิกตอนรอยืนยัน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รับแจ้งเตือน</a:t>
            </a:r>
            <a:endParaRPr lang="en-US" sz="1300" dirty="0"/>
          </a:p>
        </p:txBody>
      </p:sp>
      <p:sp>
        <p:nvSpPr>
          <p:cNvPr id="12" name="role-card-1"/>
          <p:cNvSpPr/>
          <p:nvPr/>
        </p:nvSpPr>
        <p:spPr>
          <a:xfrm>
            <a:off x="324612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ole-icon-1-circle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role-icon-1-label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15" name="role-head-1"/>
          <p:cNvSpPr txBox="1"/>
          <p:nvPr/>
        </p:nvSpPr>
        <p:spPr>
          <a:xfrm>
            <a:off x="40233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พนักงาน (Staff)</a:t>
            </a:r>
            <a:endParaRPr lang="en-US" sz="1500" dirty="0"/>
          </a:p>
        </p:txBody>
      </p:sp>
      <p:sp>
        <p:nvSpPr>
          <p:cNvPr id="16" name="role-items-1"/>
          <p:cNvSpPr txBox="1"/>
          <p:nvPr/>
        </p:nvSpPr>
        <p:spPr>
          <a:xfrm>
            <a:off x="342900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แดชบอร์ดงานวันนี้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ยืนยันและเปลี่ยนสถานะงาน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บันทึกการชำระเงิน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รับแจ้งเตือนงานใหม่</a:t>
            </a:r>
            <a:endParaRPr lang="en-US" sz="1300" dirty="0"/>
          </a:p>
        </p:txBody>
      </p:sp>
      <p:sp>
        <p:nvSpPr>
          <p:cNvPr id="17" name="role-card-2"/>
          <p:cNvSpPr/>
          <p:nvPr/>
        </p:nvSpPr>
        <p:spPr>
          <a:xfrm>
            <a:off x="603504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ole-icon-2-circle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role-icon-2-label"/>
          <p:cNvSpPr txBox="1"/>
          <p:nvPr/>
        </p:nvSpPr>
        <p:spPr>
          <a:xfrm>
            <a:off x="6263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0" name="role-head-2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ผู้ดูแล (Admin)</a:t>
            </a:r>
            <a:endParaRPr lang="en-US" sz="1500" dirty="0"/>
          </a:p>
        </p:txBody>
      </p:sp>
      <p:sp>
        <p:nvSpPr>
          <p:cNvPr id="21" name="role-items-2"/>
          <p:cNvSpPr txBox="1"/>
          <p:nvPr/>
        </p:nvSpPr>
        <p:spPr>
          <a:xfrm>
            <a:off x="6217920" y="196596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จัดการบริการ / บริการเสริม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จัดการโปรโมชัน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จัดการบัญชีผู้ใช้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รายงานยอดขาย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Layered Architecture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component-diagram" descr="Component diagram ของ Print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937760" cy="3443012"/>
          </a:xfrm>
          <a:prstGeom prst="rect">
            <a:avLst/>
          </a:prstGeom>
        </p:spPr>
      </p:pic>
      <p:sp>
        <p:nvSpPr>
          <p:cNvPr id="8" name="layer-card-0"/>
          <p:cNvSpPr/>
          <p:nvPr/>
        </p:nvSpPr>
        <p:spPr>
          <a:xfrm>
            <a:off x="5669280" y="109728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ayer-text-0"/>
          <p:cNvSpPr txBox="1"/>
          <p:nvPr/>
        </p:nvSpPr>
        <p:spPr>
          <a:xfrm>
            <a:off x="5806440" y="1097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Presentation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REST API /api/v1/** + หน้าเว็บ Thymeleaf</a:t>
            </a:r>
            <a:endParaRPr lang="en-US" sz="1400" dirty="0"/>
          </a:p>
        </p:txBody>
      </p:sp>
      <p:sp>
        <p:nvSpPr>
          <p:cNvPr id="10" name="layer-card-1"/>
          <p:cNvSpPr/>
          <p:nvPr/>
        </p:nvSpPr>
        <p:spPr>
          <a:xfrm>
            <a:off x="5669280" y="196596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ayer-text-1"/>
          <p:cNvSpPr txBox="1"/>
          <p:nvPr/>
        </p:nvSpPr>
        <p:spPr>
          <a:xfrm>
            <a:off x="5806440" y="1965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interface + impl, Strategy, State, Observer, Chain</a:t>
            </a:r>
            <a:endParaRPr lang="en-US" sz="1400" dirty="0"/>
          </a:p>
        </p:txBody>
      </p:sp>
      <p:sp>
        <p:nvSpPr>
          <p:cNvPr id="12" name="layer-card-2"/>
          <p:cNvSpPr/>
          <p:nvPr/>
        </p:nvSpPr>
        <p:spPr>
          <a:xfrm>
            <a:off x="5669280" y="283464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ayer-text-2"/>
          <p:cNvSpPr txBox="1"/>
          <p:nvPr/>
        </p:nvSpPr>
        <p:spPr>
          <a:xfrm>
            <a:off x="5806440" y="2834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Repository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Spring Data JPA</a:t>
            </a:r>
            <a:endParaRPr lang="en-US" sz="1400" dirty="0"/>
          </a:p>
        </p:txBody>
      </p:sp>
      <p:sp>
        <p:nvSpPr>
          <p:cNvPr id="14" name="layer-card-3"/>
          <p:cNvSpPr/>
          <p:nvPr/>
        </p:nvSpPr>
        <p:spPr>
          <a:xfrm>
            <a:off x="5669280" y="370332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ayer-text-3"/>
          <p:cNvSpPr txBox="1"/>
          <p:nvPr/>
        </p:nvSpPr>
        <p:spPr>
          <a:xfrm>
            <a:off x="5806440" y="3703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PostgreSQL + Flyway V1–V7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ฐานข้อมูล 13 ตาราง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er-diagram" descr="ER diagram 13 ตารา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852160" cy="3080263"/>
          </a:xfrm>
          <a:prstGeom prst="rect">
            <a:avLst/>
          </a:prstGeom>
        </p:spPr>
      </p:pic>
      <p:sp>
        <p:nvSpPr>
          <p:cNvPr id="8" name="db-stat-0"/>
          <p:cNvSpPr txBox="1"/>
          <p:nvPr/>
        </p:nvSpPr>
        <p:spPr>
          <a:xfrm>
            <a:off x="6583680" y="1051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13</a:t>
            </a:r>
            <a:endParaRPr lang="en-US" sz="4000" dirty="0"/>
          </a:p>
        </p:txBody>
      </p:sp>
      <p:sp>
        <p:nvSpPr>
          <p:cNvPr id="9" name="db-stat-label-0"/>
          <p:cNvSpPr txBox="1"/>
          <p:nvPr/>
        </p:nvSpPr>
        <p:spPr>
          <a:xfrm>
            <a:off x="65836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ตาราง</a:t>
            </a:r>
            <a:endParaRPr lang="en-US" sz="1200" dirty="0"/>
          </a:p>
        </p:txBody>
      </p:sp>
      <p:sp>
        <p:nvSpPr>
          <p:cNvPr id="10" name="db-stat-1"/>
          <p:cNvSpPr txBox="1"/>
          <p:nvPr/>
        </p:nvSpPr>
        <p:spPr>
          <a:xfrm>
            <a:off x="658368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</a:t>
            </a:r>
            <a:endParaRPr lang="en-US" sz="4000" dirty="0"/>
          </a:p>
        </p:txBody>
      </p:sp>
      <p:sp>
        <p:nvSpPr>
          <p:cNvPr id="11" name="db-stat-label-1"/>
          <p:cNvSpPr txBox="1"/>
          <p:nvPr/>
        </p:nvSpPr>
        <p:spPr>
          <a:xfrm>
            <a:off x="65836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Flyway migration</a:t>
            </a:r>
            <a:endParaRPr lang="en-US" sz="1200" dirty="0"/>
          </a:p>
        </p:txBody>
      </p:sp>
      <p:sp>
        <p:nvSpPr>
          <p:cNvPr id="12" name="db-stat-2"/>
          <p:cNvSpPr txBox="1"/>
          <p:nvPr/>
        </p:nvSpPr>
        <p:spPr>
          <a:xfrm>
            <a:off x="658368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1:1 · 1:N · M:N</a:t>
            </a:r>
            <a:endParaRPr lang="en-US" sz="2000" dirty="0"/>
          </a:p>
        </p:txBody>
      </p:sp>
      <p:sp>
        <p:nvSpPr>
          <p:cNvPr id="13" name="db-stat-label-2"/>
          <p:cNvSpPr txBox="1"/>
          <p:nvPr/>
        </p:nvSpPr>
        <p:spPr>
          <a:xfrm>
            <a:off x="65836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ครบทุกความสัมพันธ์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GoF Behavioral Patterns 4 ตัว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pattern-card-0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ttern-icon-0-circle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attern-icon-0-label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</a:t>
            </a:r>
            <a:endParaRPr lang="en-US" sz="1400" dirty="0"/>
          </a:p>
        </p:txBody>
      </p:sp>
      <p:sp>
        <p:nvSpPr>
          <p:cNvPr id="10" name="pattern-head-0"/>
          <p:cNvSpPr txBox="1"/>
          <p:nvPr/>
        </p:nvSpPr>
        <p:spPr>
          <a:xfrm>
            <a:off x="141732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Strategy</a:t>
            </a:r>
            <a:endParaRPr lang="en-US" sz="1700" dirty="0"/>
          </a:p>
        </p:txBody>
      </p:sp>
      <p:sp>
        <p:nvSpPr>
          <p:cNvPr id="11" name="pattern-body-0"/>
          <p:cNvSpPr txBox="1"/>
          <p:nvPr/>
        </p:nvSpPr>
        <p:spPr>
          <a:xfrm>
            <a:off x="141732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สูตรราคา 3 แบบ + ส่วนลด 2 แบบ</a:t>
            </a:r>
            <a:endParaRPr lang="en-US" sz="1300" dirty="0"/>
          </a:p>
        </p:txBody>
      </p:sp>
      <p:sp>
        <p:nvSpPr>
          <p:cNvPr id="12" name="pattern-owner-0"/>
          <p:cNvSpPr txBox="1"/>
          <p:nvPr/>
        </p:nvSpPr>
        <p:spPr>
          <a:xfrm>
            <a:off x="141732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ผู้รับผิดชอบ P2</a:t>
            </a:r>
            <a:endParaRPr lang="en-US" sz="1100" dirty="0"/>
          </a:p>
        </p:txBody>
      </p:sp>
      <p:sp>
        <p:nvSpPr>
          <p:cNvPr id="13" name="pattern-card-1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ttern-icon-1-circle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pattern-icon-1-label"/>
          <p:cNvSpPr txBox="1"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</a:t>
            </a:r>
            <a:endParaRPr lang="en-US" sz="1400" dirty="0"/>
          </a:p>
        </p:txBody>
      </p:sp>
      <p:sp>
        <p:nvSpPr>
          <p:cNvPr id="16" name="pattern-head-1"/>
          <p:cNvSpPr txBox="1"/>
          <p:nvPr/>
        </p:nvSpPr>
        <p:spPr>
          <a:xfrm>
            <a:off x="562356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State</a:t>
            </a:r>
            <a:endParaRPr lang="en-US" sz="1700" dirty="0"/>
          </a:p>
        </p:txBody>
      </p:sp>
      <p:sp>
        <p:nvSpPr>
          <p:cNvPr id="17" name="pattern-body-1"/>
          <p:cNvSpPr txBox="1"/>
          <p:nvPr/>
        </p:nvSpPr>
        <p:spPr>
          <a:xfrm>
            <a:off x="562356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สถานะ แต่ละสถานะรู้ว่าไปต่อที่ไหนได้</a:t>
            </a:r>
            <a:endParaRPr lang="en-US" sz="1300" dirty="0"/>
          </a:p>
        </p:txBody>
      </p:sp>
      <p:sp>
        <p:nvSpPr>
          <p:cNvPr id="18" name="pattern-owner-1"/>
          <p:cNvSpPr txBox="1"/>
          <p:nvPr/>
        </p:nvSpPr>
        <p:spPr>
          <a:xfrm>
            <a:off x="56235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ผู้รับผิดชอบ P4</a:t>
            </a:r>
            <a:endParaRPr lang="en-US" sz="1100" dirty="0"/>
          </a:p>
        </p:txBody>
      </p:sp>
      <p:sp>
        <p:nvSpPr>
          <p:cNvPr id="19" name="pattern-card-2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ttern-icon-2-circle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attern-icon-2-label"/>
          <p:cNvSpPr txBox="1"/>
          <p:nvPr/>
        </p:nvSpPr>
        <p:spPr>
          <a:xfrm>
            <a:off x="6858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Ob</a:t>
            </a:r>
            <a:endParaRPr lang="en-US" sz="1400" dirty="0"/>
          </a:p>
        </p:txBody>
      </p:sp>
      <p:sp>
        <p:nvSpPr>
          <p:cNvPr id="22" name="pattern-head-2"/>
          <p:cNvSpPr txBox="1"/>
          <p:nvPr/>
        </p:nvSpPr>
        <p:spPr>
          <a:xfrm>
            <a:off x="141732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Observer</a:t>
            </a:r>
            <a:endParaRPr lang="en-US" sz="1700" dirty="0"/>
          </a:p>
        </p:txBody>
      </p:sp>
      <p:sp>
        <p:nvSpPr>
          <p:cNvPr id="23" name="pattern-body-2"/>
          <p:cNvSpPr txBox="1"/>
          <p:nvPr/>
        </p:nvSpPr>
        <p:spPr>
          <a:xfrm>
            <a:off x="141732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event 2 ตัว → listener 5 ตัว</a:t>
            </a:r>
            <a:endParaRPr lang="en-US" sz="1300" dirty="0"/>
          </a:p>
        </p:txBody>
      </p:sp>
      <p:sp>
        <p:nvSpPr>
          <p:cNvPr id="24" name="pattern-owner-2"/>
          <p:cNvSpPr txBox="1"/>
          <p:nvPr/>
        </p:nvSpPr>
        <p:spPr>
          <a:xfrm>
            <a:off x="141732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ผู้รับผิดชอบ P4</a:t>
            </a:r>
            <a:endParaRPr lang="en-US" sz="1100" dirty="0"/>
          </a:p>
        </p:txBody>
      </p:sp>
      <p:sp>
        <p:nvSpPr>
          <p:cNvPr id="25" name="pattern-card-3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ttern-icon-3-circle"/>
          <p:cNvSpPr/>
          <p:nvPr/>
        </p:nvSpPr>
        <p:spPr>
          <a:xfrm>
            <a:off x="4892040" y="3017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pattern-icon-3-label"/>
          <p:cNvSpPr txBox="1"/>
          <p:nvPr/>
        </p:nvSpPr>
        <p:spPr>
          <a:xfrm>
            <a:off x="48920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</a:t>
            </a:r>
            <a:endParaRPr lang="en-US" sz="1400" dirty="0"/>
          </a:p>
        </p:txBody>
      </p:sp>
      <p:sp>
        <p:nvSpPr>
          <p:cNvPr id="28" name="pattern-head-3"/>
          <p:cNvSpPr txBox="1"/>
          <p:nvPr/>
        </p:nvSpPr>
        <p:spPr>
          <a:xfrm>
            <a:off x="562356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Chain of Responsibility</a:t>
            </a:r>
            <a:endParaRPr lang="en-US" sz="1700" dirty="0"/>
          </a:p>
        </p:txBody>
      </p:sp>
      <p:sp>
        <p:nvSpPr>
          <p:cNvPr id="29" name="pattern-body-3"/>
          <p:cNvSpPr txBox="1"/>
          <p:nvPr/>
        </p:nvSpPr>
        <p:spPr>
          <a:xfrm>
            <a:off x="562356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ตรวจคำสั่งพิมพ์ 4 ขั้น</a:t>
            </a:r>
            <a:endParaRPr lang="en-US" sz="1300" dirty="0"/>
          </a:p>
        </p:txBody>
      </p:sp>
      <p:sp>
        <p:nvSpPr>
          <p:cNvPr id="30" name="pattern-owner-3"/>
          <p:cNvSpPr txBox="1"/>
          <p:nvPr/>
        </p:nvSpPr>
        <p:spPr>
          <a:xfrm>
            <a:off x="56235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ผู้รับผิดชอบ P3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Strategy — คำนวณราคาโดยไม่มี if-else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graphicFrame>
        <p:nvGraphicFramePr>
          <p:cNvPr id="8" name="pricin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ประเภทงาน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สูตร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ขาวดำ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ราคา × หน้า × ชุด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สี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ราคา × หน้า × ชุด (เกิน 50 หน้า ลด 10%)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ภาพถ่าย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ราคา × จำนวนแผ่น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บริการเสริม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ราคา × จำนวนชุด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example-card"/>
          <p:cNvSpPr/>
          <p:nvPr/>
        </p:nvSpPr>
        <p:spPr>
          <a:xfrm>
            <a:off x="5486400" y="1097280"/>
            <a:ext cx="3200400" cy="324612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example-head"/>
          <p:cNvSpPr txBox="1"/>
          <p:nvPr/>
        </p:nvSpPr>
        <p:spPr>
          <a:xfrm>
            <a:off x="5715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ตัวอย่างจริง</a:t>
            </a:r>
            <a:endParaRPr lang="en-US" sz="1400" dirty="0"/>
          </a:p>
        </p:txBody>
      </p:sp>
      <p:sp>
        <p:nvSpPr>
          <p:cNvPr id="10" name="example-body"/>
          <p:cNvSpPr txBox="1"/>
          <p:nvPr/>
        </p:nvSpPr>
        <p:spPr>
          <a:xfrm>
            <a:off x="5715000" y="1645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รายงาน 20 หน้า ขาวดำ 1 ชุด + เย็บมุม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1.50 × 20 + 2.00 × 1</a:t>
            </a:r>
            <a:endParaRPr lang="en-US" sz="1300" dirty="0"/>
          </a:p>
        </p:txBody>
      </p:sp>
      <p:sp>
        <p:nvSpPr>
          <p:cNvPr id="11" name="example-total"/>
          <p:cNvSpPr txBox="1"/>
          <p:nvPr/>
        </p:nvSpPr>
        <p:spPr>
          <a:xfrm>
            <a:off x="5715000" y="2606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32.00 บาท</a:t>
            </a:r>
            <a:endParaRPr lang="en-US" sz="3600" dirty="0"/>
          </a:p>
        </p:txBody>
      </p:sp>
      <p:sp>
        <p:nvSpPr>
          <p:cNvPr id="12" name="example-ocp"/>
          <p:cNvSpPr txBox="1"/>
          <p:nvPr/>
        </p:nvSpPr>
        <p:spPr>
          <a:xfrm>
            <a:off x="571500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0"/>
                </a:solidFill>
              </a:rPr>
              <a:t>เพิ่มประเภทใหม่ = เพิ่มคลาสใหม่ ไม่แก้ของเดิม (OCP)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State — กฎการเปลี่ยนสถานะอยู่ในคลาสของแต่ละสถานะ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tate-0"/>
          <p:cNvSpPr/>
          <p:nvPr/>
        </p:nvSpPr>
        <p:spPr>
          <a:xfrm>
            <a:off x="457200" y="14630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state-label-0"/>
          <p:cNvSpPr txBox="1"/>
          <p:nvPr/>
        </p:nvSpPr>
        <p:spPr>
          <a:xfrm>
            <a:off x="45720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รอยืนยัน</a:t>
            </a:r>
            <a:endParaRPr lang="en-US" sz="1400" dirty="0"/>
          </a:p>
        </p:txBody>
      </p:sp>
      <p:sp>
        <p:nvSpPr>
          <p:cNvPr id="9" name="state-arrow-0"/>
          <p:cNvSpPr/>
          <p:nvPr/>
        </p:nvSpPr>
        <p:spPr>
          <a:xfrm>
            <a:off x="1901952" y="1691640"/>
            <a:ext cx="219456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ate-1"/>
          <p:cNvSpPr/>
          <p:nvPr/>
        </p:nvSpPr>
        <p:spPr>
          <a:xfrm>
            <a:off x="2148840" y="14630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11" name="state-label-1"/>
          <p:cNvSpPr txBox="1"/>
          <p:nvPr/>
        </p:nvSpPr>
        <p:spPr>
          <a:xfrm>
            <a:off x="214884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รับงานแล้ว</a:t>
            </a:r>
            <a:endParaRPr lang="en-US" sz="1400" dirty="0"/>
          </a:p>
        </p:txBody>
      </p:sp>
      <p:sp>
        <p:nvSpPr>
          <p:cNvPr id="12" name="state-arrow-1"/>
          <p:cNvSpPr/>
          <p:nvPr/>
        </p:nvSpPr>
        <p:spPr>
          <a:xfrm>
            <a:off x="3593592" y="1691640"/>
            <a:ext cx="219456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tate-2"/>
          <p:cNvSpPr/>
          <p:nvPr/>
        </p:nvSpPr>
        <p:spPr>
          <a:xfrm>
            <a:off x="3840480" y="14630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state-label-2"/>
          <p:cNvSpPr txBox="1"/>
          <p:nvPr/>
        </p:nvSpPr>
        <p:spPr>
          <a:xfrm>
            <a:off x="384048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กำลังพิมพ์</a:t>
            </a:r>
            <a:endParaRPr lang="en-US" sz="1400" dirty="0"/>
          </a:p>
        </p:txBody>
      </p:sp>
      <p:sp>
        <p:nvSpPr>
          <p:cNvPr id="15" name="state-arrow-2"/>
          <p:cNvSpPr/>
          <p:nvPr/>
        </p:nvSpPr>
        <p:spPr>
          <a:xfrm>
            <a:off x="5285232" y="1691640"/>
            <a:ext cx="219456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tate-3"/>
          <p:cNvSpPr/>
          <p:nvPr/>
        </p:nvSpPr>
        <p:spPr>
          <a:xfrm>
            <a:off x="5532120" y="14630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tate-label-3"/>
          <p:cNvSpPr txBox="1"/>
          <p:nvPr/>
        </p:nvSpPr>
        <p:spPr>
          <a:xfrm>
            <a:off x="553212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พร้อมรับ</a:t>
            </a:r>
            <a:endParaRPr lang="en-US" sz="1400" dirty="0"/>
          </a:p>
        </p:txBody>
      </p:sp>
      <p:sp>
        <p:nvSpPr>
          <p:cNvPr id="18" name="state-arrow-3"/>
          <p:cNvSpPr/>
          <p:nvPr/>
        </p:nvSpPr>
        <p:spPr>
          <a:xfrm>
            <a:off x="6976872" y="1691640"/>
            <a:ext cx="219456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tate-4"/>
          <p:cNvSpPr/>
          <p:nvPr/>
        </p:nvSpPr>
        <p:spPr>
          <a:xfrm>
            <a:off x="7223760" y="14630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state-label-4"/>
          <p:cNvSpPr txBox="1"/>
          <p:nvPr/>
        </p:nvSpPr>
        <p:spPr>
          <a:xfrm>
            <a:off x="722376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ส่งมอบแล้ว</a:t>
            </a:r>
            <a:endParaRPr lang="en-US" sz="1400" dirty="0"/>
          </a:p>
        </p:txBody>
      </p:sp>
      <p:sp>
        <p:nvSpPr>
          <p:cNvPr id="21" name="state-cancel"/>
          <p:cNvSpPr/>
          <p:nvPr/>
        </p:nvSpPr>
        <p:spPr>
          <a:xfrm>
            <a:off x="457200" y="2514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tate-cancel-label"/>
          <p:cNvSpPr txBox="1"/>
          <p:nvPr/>
        </p:nvSpPr>
        <p:spPr>
          <a:xfrm>
            <a:off x="45720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ยกเลิก (จากรอยืนยัน / รับงานแล้ว)</a:t>
            </a:r>
            <a:endParaRPr lang="en-US" sz="1300" dirty="0"/>
          </a:p>
        </p:txBody>
      </p:sp>
      <p:sp>
        <p:nvSpPr>
          <p:cNvPr id="23" name="state-rules"/>
          <p:cNvSpPr txBox="1"/>
          <p:nvPr/>
        </p:nvSpPr>
        <p:spPr>
          <a:xfrm>
            <a:off x="3840480" y="24688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เปลี่ยนผิดลำดับ → 409 Conflict ไม่บันทึกและไม่ส่ง event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หน้า Staff แสดงเฉพาะสถานะถัดไปที่ทำได้จริง (ถาม State โดยตรง)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ลูกค้ายกเลิกเองได้เฉพาะตอนรอร้านยืนยัน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Observer — งานตามหลังไม่ต้องแก้ service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event-card-0"/>
          <p:cNvSpPr/>
          <p:nvPr/>
        </p:nvSpPr>
        <p:spPr>
          <a:xfrm>
            <a:off x="457200" y="1143000"/>
            <a:ext cx="29260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event-name-0"/>
          <p:cNvSpPr txBox="1"/>
          <p:nvPr/>
        </p:nvSpPr>
        <p:spPr>
          <a:xfrm>
            <a:off x="594360" y="11430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OrderCreatedEvent</a:t>
            </a:r>
            <a:endParaRPr lang="en-US" sz="1400" dirty="0"/>
          </a:p>
        </p:txBody>
      </p:sp>
      <p:sp>
        <p:nvSpPr>
          <p:cNvPr id="9" name="event-arrow-0"/>
          <p:cNvSpPr/>
          <p:nvPr/>
        </p:nvSpPr>
        <p:spPr>
          <a:xfrm>
            <a:off x="3520440" y="1645920"/>
            <a:ext cx="41148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listener-card-0"/>
          <p:cNvSpPr/>
          <p:nvPr/>
        </p:nvSpPr>
        <p:spPr>
          <a:xfrm>
            <a:off x="4069080" y="1143000"/>
            <a:ext cx="46177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istener-list-0"/>
          <p:cNvSpPr txBox="1"/>
          <p:nvPr/>
        </p:nvSpPr>
        <p:spPr>
          <a:xfrm>
            <a:off x="4251960" y="12344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สร้าง payment UNPAID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แจ้งเตือนพนักงาน</a:t>
            </a:r>
            <a:endParaRPr lang="en-US" sz="1400" dirty="0"/>
          </a:p>
        </p:txBody>
      </p:sp>
      <p:sp>
        <p:nvSpPr>
          <p:cNvPr id="12" name="event-card-1"/>
          <p:cNvSpPr/>
          <p:nvPr/>
        </p:nvSpPr>
        <p:spPr>
          <a:xfrm>
            <a:off x="457200" y="2743200"/>
            <a:ext cx="29260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event-name-1"/>
          <p:cNvSpPr txBox="1"/>
          <p:nvPr/>
        </p:nvSpPr>
        <p:spPr>
          <a:xfrm>
            <a:off x="594360" y="2743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OrderStatusChangedEvent</a:t>
            </a:r>
            <a:endParaRPr lang="en-US" sz="1400" dirty="0"/>
          </a:p>
        </p:txBody>
      </p:sp>
      <p:sp>
        <p:nvSpPr>
          <p:cNvPr id="14" name="event-arrow-1"/>
          <p:cNvSpPr/>
          <p:nvPr/>
        </p:nvSpPr>
        <p:spPr>
          <a:xfrm>
            <a:off x="3520440" y="3246120"/>
            <a:ext cx="41148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listener-card-1"/>
          <p:cNvSpPr/>
          <p:nvPr/>
        </p:nvSpPr>
        <p:spPr>
          <a:xfrm>
            <a:off x="4069080" y="2743200"/>
            <a:ext cx="46177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stener-list-1"/>
          <p:cNvSpPr txBox="1"/>
          <p:nvPr/>
        </p:nvSpPr>
        <p:spPr>
          <a:xfrm>
            <a:off x="4251960" y="28346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บันทึกประวัติสถานะ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แจ้งเตือนลูกค้า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ยกเลิก → คืนเงิน (REFUNDED)</a:t>
            </a:r>
            <a:endParaRPr lang="en-US" sz="1400" dirty="0"/>
          </a:p>
        </p:txBody>
      </p:sp>
      <p:sp>
        <p:nvSpPr>
          <p:cNvPr id="17" name="observer-test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ทดสอบทั้ง flow จริงใน ObserverIntegrationTest (สร้าง → ยืนยัน → จ่าย → ยกเลิก)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Chain of Responsibility — ตรวจคำสั่งพิมพ์ทีละขั้น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handler-card-0"/>
          <p:cNvSpPr/>
          <p:nvPr/>
        </p:nvSpPr>
        <p:spPr>
          <a:xfrm>
            <a:off x="457200" y="128016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andler-num-0-circle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9" name="handler-num-0-label"/>
          <p:cNvSpPr txBox="1"/>
          <p:nvPr/>
        </p:nvSpPr>
        <p:spPr>
          <a:xfrm>
            <a:off x="10972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handler-label-0"/>
          <p:cNvSpPr txBox="1"/>
          <p:nvPr/>
        </p:nvSpPr>
        <p:spPr>
          <a:xfrm>
            <a:off x="54864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บริการเปิดอยู่ไหม</a:t>
            </a:r>
            <a:endParaRPr lang="en-US" sz="1300" dirty="0"/>
          </a:p>
        </p:txBody>
      </p:sp>
      <p:sp>
        <p:nvSpPr>
          <p:cNvPr id="11" name="handler-card-1"/>
          <p:cNvSpPr/>
          <p:nvPr/>
        </p:nvSpPr>
        <p:spPr>
          <a:xfrm>
            <a:off x="2560320" y="128016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handler-num-1-circle"/>
          <p:cNvSpPr/>
          <p:nvPr/>
        </p:nvSpPr>
        <p:spPr>
          <a:xfrm>
            <a:off x="3200400" y="141732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handler-num-1-label"/>
          <p:cNvSpPr txBox="1"/>
          <p:nvPr/>
        </p:nvSpPr>
        <p:spPr>
          <a:xfrm>
            <a:off x="3200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handler-label-1"/>
          <p:cNvSpPr txBox="1"/>
          <p:nvPr/>
        </p:nvSpPr>
        <p:spPr>
          <a:xfrm>
            <a:off x="265176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ชนิดไฟล์ PDF/JPG/PNG</a:t>
            </a:r>
            <a:endParaRPr lang="en-US" sz="1300" dirty="0"/>
          </a:p>
        </p:txBody>
      </p:sp>
      <p:sp>
        <p:nvSpPr>
          <p:cNvPr id="15" name="handler-card-2"/>
          <p:cNvSpPr/>
          <p:nvPr/>
        </p:nvSpPr>
        <p:spPr>
          <a:xfrm>
            <a:off x="4663440" y="128016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andler-num-2-circle"/>
          <p:cNvSpPr/>
          <p:nvPr/>
        </p:nvSpPr>
        <p:spPr>
          <a:xfrm>
            <a:off x="5303520" y="141732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handler-num-2-label"/>
          <p:cNvSpPr txBox="1"/>
          <p:nvPr/>
        </p:nvSpPr>
        <p:spPr>
          <a:xfrm>
            <a:off x="5303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handler-label-2"/>
          <p:cNvSpPr txBox="1"/>
          <p:nvPr/>
        </p:nvSpPr>
        <p:spPr>
          <a:xfrm>
            <a:off x="475488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จำนวนหน้า/ชุด &gt; 0</a:t>
            </a:r>
            <a:endParaRPr lang="en-US" sz="1300" dirty="0"/>
          </a:p>
        </p:txBody>
      </p:sp>
      <p:sp>
        <p:nvSpPr>
          <p:cNvPr id="19" name="handler-card-3"/>
          <p:cNvSpPr/>
          <p:nvPr/>
        </p:nvSpPr>
        <p:spPr>
          <a:xfrm>
            <a:off x="6766560" y="128016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handler-num-3-circle"/>
          <p:cNvSpPr/>
          <p:nvPr/>
        </p:nvSpPr>
        <p:spPr>
          <a:xfrm>
            <a:off x="7406640" y="141732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handler-num-3-label"/>
          <p:cNvSpPr txBox="1"/>
          <p:nvPr/>
        </p:nvSpPr>
        <p:spPr>
          <a:xfrm>
            <a:off x="7406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handler-label-3"/>
          <p:cNvSpPr txBox="1"/>
          <p:nvPr/>
        </p:nvSpPr>
        <p:spPr>
          <a:xfrm>
            <a:off x="685800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โปรโมชันยังใช้ได้</a:t>
            </a:r>
            <a:endParaRPr lang="en-US" sz="1300" dirty="0"/>
          </a:p>
        </p:txBody>
      </p:sp>
      <p:sp>
        <p:nvSpPr>
          <p:cNvPr id="23" name="chain-notes"/>
          <p:cNvSpPr txBox="1"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ขั้นไหนไม่ผ่านจะหยุดทันทีและตอบ 400 พร้อมเหตุผล — ยังไม่บันทึกอะไรลงฐานข้อมูล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เพิ่มกฎใหม่ = เขียน handler ใหม่แล้วต่อเข้า chain ใน OrderValidationChainConfig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Security และ REST API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ec-card-0"/>
          <p:cNvSpPr/>
          <p:nvPr/>
        </p:nvSpPr>
        <p:spPr>
          <a:xfrm>
            <a:off x="457200" y="10972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ec-big-0"/>
          <p:cNvSpPr txBox="1"/>
          <p:nvPr/>
        </p:nvSpPr>
        <p:spPr>
          <a:xfrm>
            <a:off x="685800" y="1188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30+</a:t>
            </a:r>
            <a:endParaRPr lang="en-US" sz="3600" dirty="0"/>
          </a:p>
        </p:txBody>
      </p:sp>
      <p:sp>
        <p:nvSpPr>
          <p:cNvPr id="9" name="sec-small-0"/>
          <p:cNvSpPr txBox="1"/>
          <p:nvPr/>
        </p:nvSpPr>
        <p:spPr>
          <a:xfrm>
            <a:off x="6858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 endpoints บน Swagger UI</a:t>
            </a:r>
            <a:endParaRPr lang="en-US" sz="1200" dirty="0"/>
          </a:p>
        </p:txBody>
      </p:sp>
      <p:sp>
        <p:nvSpPr>
          <p:cNvPr id="10" name="sec-card-1"/>
          <p:cNvSpPr/>
          <p:nvPr/>
        </p:nvSpPr>
        <p:spPr>
          <a:xfrm>
            <a:off x="3246120" y="10972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ec-big-1"/>
          <p:cNvSpPr txBox="1"/>
          <p:nvPr/>
        </p:nvSpPr>
        <p:spPr>
          <a:xfrm>
            <a:off x="3474720" y="1188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sec-small-1"/>
          <p:cNvSpPr txBox="1"/>
          <p:nvPr/>
        </p:nvSpPr>
        <p:spPr>
          <a:xfrm>
            <a:off x="34747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role: CUSTOMER / STAFF / ADMIN</a:t>
            </a:r>
            <a:endParaRPr lang="en-US" sz="1200" dirty="0"/>
          </a:p>
        </p:txBody>
      </p:sp>
      <p:sp>
        <p:nvSpPr>
          <p:cNvPr id="13" name="sec-card-2"/>
          <p:cNvSpPr/>
          <p:nvPr/>
        </p:nvSpPr>
        <p:spPr>
          <a:xfrm>
            <a:off x="6035040" y="10972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ec-big-2"/>
          <p:cNvSpPr txBox="1"/>
          <p:nvPr/>
        </p:nvSpPr>
        <p:spPr>
          <a:xfrm>
            <a:off x="6263640" y="1188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403</a:t>
            </a:r>
            <a:endParaRPr lang="en-US" sz="3600" dirty="0"/>
          </a:p>
        </p:txBody>
      </p:sp>
      <p:sp>
        <p:nvSpPr>
          <p:cNvPr id="15" name="sec-small-2"/>
          <p:cNvSpPr txBox="1"/>
          <p:nvPr/>
        </p:nvSpPr>
        <p:spPr>
          <a:xfrm>
            <a:off x="62636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ดู order / payment ของคนอื่นไม่ได้</a:t>
            </a:r>
            <a:endParaRPr lang="en-US" sz="1200" dirty="0"/>
          </a:p>
        </p:txBody>
      </p:sp>
      <p:sp>
        <p:nvSpPr>
          <p:cNvPr id="16" name="sec-notes"/>
          <p:cNvSpPr txBox="1"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กฎสิทธิ์รวมไว้ที่ SecurityConfig ไฟล์เดียว + เช็กเจ้าของข้อมูลใน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รหัสผ่านเข้ารหัส BCrypt · หน้าเว็บมี CSRF · API ใช้ HTTP Basic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ทุกตัวตอบเป็น JSON รูปแบบเดียว และหน้าเว็บมีหน้า error ภาษาไทย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 — 234 test ผ่านทั้งหมด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st-total"/>
          <p:cNvSpPr txBox="1"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5"/>
                </a:solidFill>
              </a:rPr>
              <a:t>234</a:t>
            </a:r>
            <a:endParaRPr lang="en-US" sz="6600" dirty="0"/>
          </a:p>
        </p:txBody>
      </p:sp>
      <p:sp>
        <p:nvSpPr>
          <p:cNvPr id="8" name="test-total-label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ผ่าน 100% · 0 failure</a:t>
            </a:r>
            <a:endParaRPr lang="en-US" sz="1400" dirty="0"/>
          </a:p>
        </p:txBody>
      </p:sp>
      <p:sp>
        <p:nvSpPr>
          <p:cNvPr id="9" name="test-tools"/>
          <p:cNvSpPr txBox="1"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JUnit 5 · Mockito · WebMvcTest · DataJpaTest · SpringBootTest + H2</a:t>
            </a:r>
            <a:endParaRPr lang="en-US" sz="1200" dirty="0"/>
          </a:p>
        </p:txBody>
      </p:sp>
      <p:graphicFrame>
        <p:nvGraphicFramePr>
          <p:cNvPr id="10" name="test-chart" descr=""/>
          <p:cNvGraphicFramePr/>
          <p:nvPr/>
        </p:nvGraphicFramePr>
        <p:xfrm>
          <a:off x="3474720" y="105156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DevOps — จาก commit สู่เว็บจริง</a:t>
            </a:r>
            <a:endParaRPr lang="en-US" sz="2800" dirty="0"/>
          </a:p>
        </p:txBody>
      </p:sp>
      <p:sp>
        <p:nvSpPr>
          <p:cNvPr id="3" name="ink-dot-0"/>
          <p:cNvSpPr/>
          <p:nvPr/>
        </p:nvSpPr>
        <p:spPr>
          <a:xfrm>
            <a:off x="7818120" y="5212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k-dot-1"/>
          <p:cNvSpPr/>
          <p:nvPr/>
        </p:nvSpPr>
        <p:spPr>
          <a:xfrm>
            <a:off x="8037576" y="5212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k-dot-2"/>
          <p:cNvSpPr/>
          <p:nvPr/>
        </p:nvSpPr>
        <p:spPr>
          <a:xfrm>
            <a:off x="8257032" y="521208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nk-dot-3"/>
          <p:cNvSpPr/>
          <p:nvPr/>
        </p:nvSpPr>
        <p:spPr>
          <a:xfrm>
            <a:off x="8476488" y="52120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deployment-diagram" descr="Deploym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006340"/>
          </a:xfrm>
          <a:prstGeom prst="rect">
            <a:avLst/>
          </a:prstGeom>
        </p:spPr>
      </p:pic>
      <p:sp>
        <p:nvSpPr>
          <p:cNvPr id="8" name="devops-card-0"/>
          <p:cNvSpPr/>
          <p:nvPr/>
        </p:nvSpPr>
        <p:spPr>
          <a:xfrm>
            <a:off x="45720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evops-text-0"/>
          <p:cNvSpPr txBox="1"/>
          <p:nvPr/>
        </p:nvSpPr>
        <p:spPr>
          <a:xfrm>
            <a:off x="594360" y="32918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 Flow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branch ต่อคน → develop → main ผ่าน Pull Request</a:t>
            </a:r>
            <a:endParaRPr lang="en-US" sz="1400" dirty="0"/>
          </a:p>
        </p:txBody>
      </p:sp>
      <p:sp>
        <p:nvSpPr>
          <p:cNvPr id="10" name="devops-card-1"/>
          <p:cNvSpPr/>
          <p:nvPr/>
        </p:nvSpPr>
        <p:spPr>
          <a:xfrm>
            <a:off x="256032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evops-text-1"/>
          <p:cNvSpPr txBox="1"/>
          <p:nvPr/>
        </p:nvSpPr>
        <p:spPr>
          <a:xfrm>
            <a:off x="2697480" y="32918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GitHub Actions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 + test ทุก push / PR</a:t>
            </a:r>
            <a:endParaRPr lang="en-US" sz="1400" dirty="0"/>
          </a:p>
        </p:txBody>
      </p:sp>
      <p:sp>
        <p:nvSpPr>
          <p:cNvPr id="12" name="devops-card-2"/>
          <p:cNvSpPr/>
          <p:nvPr/>
        </p:nvSpPr>
        <p:spPr>
          <a:xfrm>
            <a:off x="466344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evops-text-2"/>
          <p:cNvSpPr txBox="1"/>
          <p:nvPr/>
        </p:nvSpPr>
        <p:spPr>
          <a:xfrm>
            <a:off x="4800600" y="32918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multi-stage build → JRE 17</a:t>
            </a:r>
            <a:endParaRPr lang="en-US" sz="1400" dirty="0"/>
          </a:p>
        </p:txBody>
      </p:sp>
      <p:sp>
        <p:nvSpPr>
          <p:cNvPr id="14" name="devops-card-3"/>
          <p:cNvSpPr/>
          <p:nvPr/>
        </p:nvSpPr>
        <p:spPr>
          <a:xfrm>
            <a:off x="6766560" y="324612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evops-text-3"/>
          <p:cNvSpPr txBox="1"/>
          <p:nvPr/>
        </p:nvSpPr>
        <p:spPr>
          <a:xfrm>
            <a:off x="6903720" y="32918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Render + Neon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เว็บและฐานข้อมูลบน cloud (Singapore)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k-dot-0"/>
          <p:cNvSpPr/>
          <p:nvPr/>
        </p:nvSpPr>
        <p:spPr>
          <a:xfrm>
            <a:off x="548640" y="105156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ink-dot-1"/>
          <p:cNvSpPr/>
          <p:nvPr/>
        </p:nvSpPr>
        <p:spPr>
          <a:xfrm>
            <a:off x="841248" y="105156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ink-dot-2"/>
          <p:cNvSpPr/>
          <p:nvPr/>
        </p:nvSpPr>
        <p:spPr>
          <a:xfrm>
            <a:off x="1133856" y="105156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ink-dot-3"/>
          <p:cNvSpPr/>
          <p:nvPr/>
        </p:nvSpPr>
        <p:spPr>
          <a:xfrm>
            <a:off x="1426464" y="1051560"/>
            <a:ext cx="201168" cy="2011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Demo &amp; Q/A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https://printflow-ogm4.onrender.com · Swagger: /swagger-ui.html</a:t>
            </a:r>
            <a:endParaRPr lang="en-US" sz="1800" dirty="0"/>
          </a:p>
        </p:txBody>
      </p:sp>
      <p:sp>
        <p:nvSpPr>
          <p:cNvPr id="8" name="demo-flow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0"/>
                </a:solidFill>
              </a:rPr>
              <a:t>ลำดับเดโม: ลูกค้าสั่งพิมพ์ → Staff ยืนยันและบันทึกชำระเงิน → ลูกค้าเห็นแจ้งเตือน → Admin ดูรายงาน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ntFlow Ink">
  <a:themeElements>
    <a:clrScheme name="PrintFlow Ink">
      <a:dk1>
        <a:srgbClr val="1B2433"/>
      </a:dk1>
      <a:lt1>
        <a:srgbClr val="FFFFFF"/>
      </a:lt1>
      <a:dk2>
        <a:srgbClr val="1F3A5F"/>
      </a:dk2>
      <a:lt2>
        <a:srgbClr val="EEF3F8"/>
      </a:lt2>
      <a:accent1>
        <a:srgbClr val="1F3A5F"/>
      </a:accent1>
      <a:accent2>
        <a:srgbClr val="00A3C4"/>
      </a:accent2>
      <a:accent3>
        <a:srgbClr val="D6336C"/>
      </a:accent3>
      <a:accent4>
        <a:srgbClr val="F2B705"/>
      </a:accent4>
      <a:accent5>
        <a:srgbClr val="2E7D5B"/>
      </a:accent5>
      <a:accent6>
        <a:srgbClr val="6B7785"/>
      </a:accent6>
      <a:hlink>
        <a:srgbClr val="00A3C4"/>
      </a:hlink>
      <a:folHlink>
        <a:srgbClr val="6B7785"/>
      </a:folHlink>
    </a:clrScheme>
    <a:fontScheme name="PrintFlow Ink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PrintFlow — ระบบจัดการร้านรับพิมพ์</dc:title>
  <dc:subject>PptxGenJS Presentation</dc:subject>
  <dc:creator>PrintFlow Team (CP353002)</dc:creator>
  <cp:lastModifiedBy>PrintFlow Team (CP353002)</cp:lastModifiedBy>
  <cp:revision>1</cp:revision>
  <dcterms:created xsi:type="dcterms:W3CDTF">2026-10-09T00:41:17Z</dcterms:created>
  <dcterms:modified xsi:type="dcterms:W3CDTF">2026-10-09T00:41:17Z</dcterms:modified>
</cp:coreProperties>
</file>