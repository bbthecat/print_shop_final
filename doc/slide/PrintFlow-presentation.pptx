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เปิด" id="{4bcad4c1-4bf9-5e47-8642-fec519960a3b}">
          <p14:sldIdLst>
            <p14:sldId id="256"/>
          </p14:sldIdLst>
        </p14:section>
        <p14:section name="บทนำ" id="{b68b15d3-2789-c79c-36f7-aea7df1bcef6}">
          <p14:sldIdLst>
            <p14:sldId id="257"/>
            <p14:sldId id="258"/>
            <p14:sldId id="259"/>
          </p14:sldIdLst>
        </p14:section>
        <p14:section name="ภาพรวมระบบ" id="{4b806369-642c-ca40-a4da-cb9ce10c0008}">
          <p14:sldIdLst>
            <p14:sldId id="260"/>
          </p14:sldIdLst>
        </p14:section>
        <p14:section name="หน้าเว็บจริง" id="{6bf9e605-2ea2-97a2-454e-60fa331ac64c}">
          <p14:sldIdLst>
            <p14:sldId id="261"/>
            <p14:sldId id="262"/>
            <p14:sldId id="263"/>
          </p14:sldIdLst>
        </p14:section>
        <p14:section name="สถาปัตยกรรม" id="{5de4b54a-3475-7f5e-d022-03b414bb4064}">
          <p14:sldIdLst>
            <p14:sldId id="264"/>
            <p14:sldId id="265"/>
          </p14:sldIdLst>
        </p14:section>
        <p14:section name="Design Patterns" id="{b9954a83-6fc0-1bad-3a15-a77791ab2b8f}">
          <p14:sldIdLst>
            <p14:sldId id="266"/>
            <p14:sldId id="267"/>
            <p14:sldId id="268"/>
            <p14:sldId id="269"/>
            <p14:sldId id="270"/>
          </p14:sldIdLst>
        </p14:section>
        <p14:section name="คุณภาพ" id="{80bcb37b-403e-3d6a-260b-06db33b4ed10}">
          <p14:sldIdLst>
            <p14:sldId id="271"/>
            <p14:sldId id="272"/>
            <p14:sldId id="273"/>
          </p14:sldIdLst>
        </p14:section>
        <p14:section name="สรุป" id="{32e7fea3-377f-7411-0d9b-f8ef705b4b3e}">
          <p14:sldIdLst>
            <p14:sldId id="274"/>
            <p14:sldId id="275"/>
          </p14:sldIdLst>
        </p14:section>
        <p14:section name="ปิด" id="{112c7c83-d342-a628-3684-1a58c042dd55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181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6181D"/>
                </a:solidFill>
                <a:latin typeface="+mn-lt"/>
              </a:rPr>
              <a:t>จำนวน test แยกตามชั้น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จำนวน test</c:v>
                </c:pt>
              </c:strCache>
            </c:strRef>
          </c:tx>
          <c:spPr>
            <a:solidFill>
              <a:srgbClr val="009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Integration</c:v>
                  </c:pt>
                  <c:pt idx="1">
                    <c:v>Repository</c:v>
                  </c:pt>
                  <c:pt idx="2">
                    <c:v>Security</c:v>
                  </c:pt>
                  <c:pt idx="3">
                    <c:v>Service และ Pattern</c:v>
                  </c:pt>
                  <c:pt idx="4">
                    <c:v>Controller และหน้าเว็บ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10</c:v>
                </c:pt>
                <c:pt idx="2">
                  <c:v>21</c:v>
                </c:pt>
                <c:pt idx="3">
                  <c:v>104</c:v>
                </c:pt>
                <c:pt idx="4">
                  <c:v>118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1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แนะนำทีมและหัวข้อ: PrintFlow เป็นระบบจัดการร้านรับพิมพ์ Spring Boot แบบ Layered Architecture มีทั้ง REST API และหน้าเว็บ Thymeleaf ใบสั่งงานทางขวาคือตัวอย่างการคิดราคาเดียวกับหน้าแรกของเว็บ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แต่ละหัวข้ออธิบายละเอียดในสไลด์ Design Patterns และ doc/design-patterns.md, doc/solid-analysis.md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ตรวจ use case ทั้ง 14 ตัวได้ใน doc/use-case-description.md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Controller เรียกได้แค่ Service ไม่เรียก Repository ตรง ใช้ DTO แยก Entity ออกจาก API ทุก dependency ฉีดผ่าน constructor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สร้างด้วย Flyway เท่านั้น ไม่ใช้ ddl-auto แก้ข้อมูลผ่าน migration ใหม่ เช่น V8 ไม่แก้ไฟล์เก่า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 free plan อาจใช้เวลาตื่น 30-60 วินาที เปิดเว็บทิ้งไว้ก่อนเริ่มนำเสนอ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K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548640" y="1143000"/>
            <a:ext cx="47548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548640" y="2240280"/>
            <a:ext cx="4572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BC6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PER">
    <p:bg>
      <p:bgPr>
        <a:solidFill>
          <a:srgbClr val="F4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PrintFlow · CP353002 Sec 04</a:t>
            </a:r>
            <a:endParaRPr lang="en-US" sz="900" dirty="0"/>
          </a:p>
        </p:txBody>
      </p:sp>
      <p:sp>
        <p:nvSpPr>
          <p:cNvPr id="7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548640" y="11430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bg1"/>
                </a:solidFill>
              </a:rPr>
              <a:t>PrintFlow</a:t>
            </a:r>
            <a:endParaRPr lang="en-US" sz="5000" dirty="0"/>
          </a:p>
        </p:txBody>
      </p:sp>
      <p:sp>
        <p:nvSpPr>
          <p:cNvPr id="3" name="Text 4"/>
          <p:cNvSpPr/>
          <p:nvPr>
            <p:ph idx="105" type="body" hasCustomPrompt="1"/>
          </p:nvPr>
        </p:nvSpPr>
        <p:spPr>
          <a:xfrm>
            <a:off x="548640" y="22402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BC6"/>
                </a:solidFill>
              </a:rPr>
              <a:t>ระบบจัดการร้านรับพิมพ์เอกสารออนไลน์</a:t>
            </a:r>
            <a:endParaRPr lang="en-US" sz="17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9A9D97"/>
                </a:solidFill>
              </a:rPr>
              <a:t>Online Print Shop Management System</a:t>
            </a:r>
            <a:endParaRPr lang="en-US" sz="1700" dirty="0"/>
          </a:p>
        </p:txBody>
      </p:sp>
      <p:sp>
        <p:nvSpPr>
          <p:cNvPr id="4" name="text-1"/>
          <p:cNvSpPr txBox="1"/>
          <p:nvPr/>
        </p:nvSpPr>
        <p:spPr>
          <a:xfrm>
            <a:off x="54864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9D97"/>
                </a:solidFill>
              </a:rPr>
              <a:t>CP353002 Principles of Software Design and Development · Section 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9D97"/>
                </a:solidFill>
              </a:rPr>
              <a:t>ณัฐชา (P1)  ปฏิภาณ (P2)  รัชชานนท์ (P3)  อาณัฐ (P4)</a:t>
            </a:r>
            <a:endParaRPr lang="en-US" sz="1100" dirty="0"/>
          </a:p>
        </p:txBody>
      </p:sp>
      <p:sp>
        <p:nvSpPr>
          <p:cNvPr id="5" name="printer-slot"/>
          <p:cNvSpPr/>
          <p:nvPr/>
        </p:nvSpPr>
        <p:spPr>
          <a:xfrm>
            <a:off x="5623560" y="640080"/>
            <a:ext cx="3108960" cy="292608"/>
          </a:xfrm>
          <a:prstGeom prst="rect">
            <a:avLst/>
          </a:prstGeom>
          <a:solidFill>
            <a:srgbClr val="2A2D33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6" name="slip-2"/>
          <p:cNvSpPr/>
          <p:nvPr/>
        </p:nvSpPr>
        <p:spPr>
          <a:xfrm>
            <a:off x="5806440" y="868680"/>
            <a:ext cx="274320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-3"/>
          <p:cNvSpPr txBox="1"/>
          <p:nvPr/>
        </p:nvSpPr>
        <p:spPr>
          <a:xfrm>
            <a:off x="6035040" y="10972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ใบสั่งงาน</a:t>
            </a:r>
            <a:endParaRPr lang="en-US" sz="1500" dirty="0"/>
          </a:p>
        </p:txBody>
      </p:sp>
      <p:sp>
        <p:nvSpPr>
          <p:cNvPr id="8" name="text-4"/>
          <p:cNvSpPr txBox="1"/>
          <p:nvPr/>
        </p:nvSpPr>
        <p:spPr>
          <a:xfrm>
            <a:off x="6035040" y="14173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ตัวอย่างการคิดราคา</a:t>
            </a:r>
            <a:endParaRPr lang="en-US" sz="900" dirty="0"/>
          </a:p>
        </p:txBody>
      </p:sp>
      <p:sp>
        <p:nvSpPr>
          <p:cNvPr id="9" name="text-5"/>
          <p:cNvSpPr txBox="1"/>
          <p:nvPr/>
        </p:nvSpPr>
        <p:spPr>
          <a:xfrm>
            <a:off x="6035040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เอกสารสี A4 · 40 หน้า × 2</a:t>
            </a:r>
            <a:endParaRPr lang="en-US" sz="1000" dirty="0"/>
          </a:p>
        </p:txBody>
      </p:sp>
      <p:sp>
        <p:nvSpPr>
          <p:cNvPr id="10" name="text-6"/>
          <p:cNvSpPr txBox="1"/>
          <p:nvPr/>
        </p:nvSpPr>
        <p:spPr>
          <a:xfrm>
            <a:off x="7589520" y="1828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400.00</a:t>
            </a:r>
            <a:endParaRPr lang="en-US" sz="1000" dirty="0"/>
          </a:p>
        </p:txBody>
      </p:sp>
      <p:sp>
        <p:nvSpPr>
          <p:cNvPr id="11" name="leader-7"/>
          <p:cNvSpPr/>
          <p:nvPr/>
        </p:nvSpPr>
        <p:spPr>
          <a:xfrm>
            <a:off x="6035040" y="2130552"/>
            <a:ext cx="2286000" cy="0"/>
          </a:xfrm>
          <a:prstGeom prst="line">
            <a:avLst/>
          </a:prstGeom>
          <a:noFill/>
          <a:ln w="6350">
            <a:solidFill>
              <a:srgbClr val="DCDDD8"/>
            </a:solidFill>
            <a:prstDash val="sysDot"/>
          </a:ln>
        </p:spPr>
      </p:sp>
      <p:sp>
        <p:nvSpPr>
          <p:cNvPr id="12" name="text-8"/>
          <p:cNvSpPr txBox="1"/>
          <p:nvPr/>
        </p:nvSpPr>
        <p:spPr>
          <a:xfrm>
            <a:off x="603504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เย็บมุม × 2</a:t>
            </a:r>
            <a:endParaRPr lang="en-US" sz="1000" dirty="0"/>
          </a:p>
        </p:txBody>
      </p:sp>
      <p:sp>
        <p:nvSpPr>
          <p:cNvPr id="13" name="text-9"/>
          <p:cNvSpPr txBox="1"/>
          <p:nvPr/>
        </p:nvSpPr>
        <p:spPr>
          <a:xfrm>
            <a:off x="758952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4.00</a:t>
            </a:r>
            <a:endParaRPr lang="en-US" sz="1000" dirty="0"/>
          </a:p>
        </p:txBody>
      </p:sp>
      <p:sp>
        <p:nvSpPr>
          <p:cNvPr id="14" name="leader-10"/>
          <p:cNvSpPr/>
          <p:nvPr/>
        </p:nvSpPr>
        <p:spPr>
          <a:xfrm>
            <a:off x="6035040" y="2496312"/>
            <a:ext cx="2286000" cy="0"/>
          </a:xfrm>
          <a:prstGeom prst="line">
            <a:avLst/>
          </a:prstGeom>
          <a:noFill/>
          <a:ln w="6350">
            <a:solidFill>
              <a:srgbClr val="DCDDD8"/>
            </a:solidFill>
            <a:prstDash val="sysDot"/>
          </a:ln>
        </p:spPr>
      </p:sp>
      <p:sp>
        <p:nvSpPr>
          <p:cNvPr id="15" name="text-11"/>
          <p:cNvSpPr txBox="1"/>
          <p:nvPr/>
        </p:nvSpPr>
        <p:spPr>
          <a:xfrm>
            <a:off x="603504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ส่วนลด 10%</a:t>
            </a:r>
            <a:endParaRPr lang="en-US" sz="1000" dirty="0"/>
          </a:p>
        </p:txBody>
      </p:sp>
      <p:sp>
        <p:nvSpPr>
          <p:cNvPr id="16" name="text-12"/>
          <p:cNvSpPr txBox="1"/>
          <p:nvPr/>
        </p:nvSpPr>
        <p:spPr>
          <a:xfrm>
            <a:off x="7589520" y="2560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−40.40</a:t>
            </a:r>
            <a:endParaRPr lang="en-US" sz="1000" dirty="0"/>
          </a:p>
        </p:txBody>
      </p:sp>
      <p:sp>
        <p:nvSpPr>
          <p:cNvPr id="17" name="leader-13"/>
          <p:cNvSpPr/>
          <p:nvPr/>
        </p:nvSpPr>
        <p:spPr>
          <a:xfrm>
            <a:off x="6035040" y="2862072"/>
            <a:ext cx="2286000" cy="0"/>
          </a:xfrm>
          <a:prstGeom prst="line">
            <a:avLst/>
          </a:prstGeom>
          <a:noFill/>
          <a:ln w="6350">
            <a:solidFill>
              <a:srgbClr val="DCDDD8"/>
            </a:solidFill>
            <a:prstDash val="sysDot"/>
          </a:ln>
        </p:spPr>
      </p:sp>
      <p:sp>
        <p:nvSpPr>
          <p:cNvPr id="18" name="slip-rule"/>
          <p:cNvSpPr/>
          <p:nvPr/>
        </p:nvSpPr>
        <p:spPr>
          <a:xfrm>
            <a:off x="6035040" y="3017520"/>
            <a:ext cx="2286000" cy="0"/>
          </a:xfrm>
          <a:prstGeom prst="line">
            <a:avLst/>
          </a:prstGeom>
          <a:noFill/>
          <a:ln w="12700">
            <a:solidFill>
              <a:srgbClr val="16181D"/>
            </a:solidFill>
            <a:prstDash val="solid"/>
          </a:ln>
        </p:spPr>
      </p:sp>
      <p:sp>
        <p:nvSpPr>
          <p:cNvPr id="19" name="text-14"/>
          <p:cNvSpPr txBox="1"/>
          <p:nvPr/>
        </p:nvSpPr>
        <p:spPr>
          <a:xfrm>
            <a:off x="6035040" y="3154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ยอดสุทธิ</a:t>
            </a:r>
            <a:endParaRPr lang="en-US" sz="1100" dirty="0"/>
          </a:p>
        </p:txBody>
      </p:sp>
      <p:sp>
        <p:nvSpPr>
          <p:cNvPr id="20" name="text-15"/>
          <p:cNvSpPr txBox="1"/>
          <p:nvPr/>
        </p:nvSpPr>
        <p:spPr>
          <a:xfrm>
            <a:off x="676656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363.60</a:t>
            </a:r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บาท</a:t>
            </a:r>
            <a:endParaRPr lang="en-US" sz="1300" dirty="0"/>
          </a:p>
        </p:txBody>
      </p:sp>
      <p:sp>
        <p:nvSpPr>
          <p:cNvPr id="21" name="colorbar-16"/>
          <p:cNvSpPr/>
          <p:nvPr/>
        </p:nvSpPr>
        <p:spPr>
          <a:xfrm>
            <a:off x="6035040" y="3886200"/>
            <a:ext cx="285750" cy="128016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22" name="colorbar-17"/>
          <p:cNvSpPr/>
          <p:nvPr/>
        </p:nvSpPr>
        <p:spPr>
          <a:xfrm>
            <a:off x="6320790" y="3886200"/>
            <a:ext cx="285750" cy="128016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23" name="colorbar-18"/>
          <p:cNvSpPr/>
          <p:nvPr/>
        </p:nvSpPr>
        <p:spPr>
          <a:xfrm>
            <a:off x="6606540" y="3886200"/>
            <a:ext cx="285750" cy="128016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24" name="colorbar-19"/>
          <p:cNvSpPr/>
          <p:nvPr/>
        </p:nvSpPr>
        <p:spPr>
          <a:xfrm>
            <a:off x="6892290" y="3886200"/>
            <a:ext cx="285750" cy="128016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25" name="colorbar-20"/>
          <p:cNvSpPr/>
          <p:nvPr/>
        </p:nvSpPr>
        <p:spPr>
          <a:xfrm>
            <a:off x="7178040" y="3886200"/>
            <a:ext cx="285750" cy="128016"/>
          </a:xfrm>
          <a:prstGeom prst="rect">
            <a:avLst/>
          </a:prstGeom>
          <a:solidFill>
            <a:srgbClr val="7FC9E8"/>
          </a:solidFill>
          <a:ln w="12700">
            <a:solidFill>
              <a:srgbClr val="7FC9E8"/>
            </a:solidFill>
            <a:prstDash val="solid"/>
          </a:ln>
        </p:spPr>
      </p:sp>
      <p:sp>
        <p:nvSpPr>
          <p:cNvPr id="26" name="colorbar-21"/>
          <p:cNvSpPr/>
          <p:nvPr/>
        </p:nvSpPr>
        <p:spPr>
          <a:xfrm>
            <a:off x="7463790" y="3886200"/>
            <a:ext cx="285750" cy="128016"/>
          </a:xfrm>
          <a:prstGeom prst="rect">
            <a:avLst/>
          </a:prstGeom>
          <a:solidFill>
            <a:srgbClr val="EB92B7"/>
          </a:solidFill>
          <a:ln w="12700">
            <a:solidFill>
              <a:srgbClr val="EB92B7"/>
            </a:solidFill>
            <a:prstDash val="solid"/>
          </a:ln>
        </p:spPr>
      </p:sp>
      <p:sp>
        <p:nvSpPr>
          <p:cNvPr id="27" name="colorbar-22"/>
          <p:cNvSpPr/>
          <p:nvPr/>
        </p:nvSpPr>
        <p:spPr>
          <a:xfrm>
            <a:off x="7749540" y="3886200"/>
            <a:ext cx="285750" cy="128016"/>
          </a:xfrm>
          <a:prstGeom prst="rect">
            <a:avLst/>
          </a:prstGeom>
          <a:solidFill>
            <a:srgbClr val="F9E080"/>
          </a:solidFill>
          <a:ln w="12700">
            <a:solidFill>
              <a:srgbClr val="F9E080"/>
            </a:solidFill>
            <a:prstDash val="solid"/>
          </a:ln>
        </p:spPr>
      </p:sp>
      <p:sp>
        <p:nvSpPr>
          <p:cNvPr id="28" name="colorbar-23"/>
          <p:cNvSpPr/>
          <p:nvPr/>
        </p:nvSpPr>
        <p:spPr>
          <a:xfrm>
            <a:off x="8035290" y="3886200"/>
            <a:ext cx="285750" cy="128016"/>
          </a:xfrm>
          <a:prstGeom prst="rect">
            <a:avLst/>
          </a:prstGeom>
          <a:solidFill>
            <a:srgbClr val="8B8C8E"/>
          </a:solidFill>
          <a:ln w="12700">
            <a:solidFill>
              <a:srgbClr val="8B8C8E"/>
            </a:solidFill>
            <a:prstDash val="solid"/>
          </a:ln>
        </p:spPr>
      </p:sp>
      <p:sp>
        <p:nvSpPr>
          <p:cNvPr id="29" name="crop-24"/>
          <p:cNvSpPr/>
          <p:nvPr/>
        </p:nvSpPr>
        <p:spPr>
          <a:xfrm>
            <a:off x="5605272" y="868680"/>
            <a:ext cx="146304" cy="0"/>
          </a:xfrm>
          <a:prstGeom prst="line">
            <a:avLst/>
          </a:prstGeom>
          <a:noFill/>
          <a:ln w="9525">
            <a:solidFill>
              <a:srgbClr val="8B8C8E"/>
            </a:solidFill>
            <a:prstDash val="solid"/>
          </a:ln>
        </p:spPr>
      </p:sp>
      <p:sp>
        <p:nvSpPr>
          <p:cNvPr id="30" name="crop-25"/>
          <p:cNvSpPr/>
          <p:nvPr/>
        </p:nvSpPr>
        <p:spPr>
          <a:xfrm>
            <a:off x="5806440" y="667512"/>
            <a:ext cx="0" cy="146304"/>
          </a:xfrm>
          <a:prstGeom prst="line">
            <a:avLst/>
          </a:prstGeom>
          <a:noFill/>
          <a:ln w="9525">
            <a:solidFill>
              <a:srgbClr val="8B8C8E"/>
            </a:solidFill>
            <a:prstDash val="solid"/>
          </a:ln>
        </p:spPr>
      </p:sp>
      <p:sp>
        <p:nvSpPr>
          <p:cNvPr id="31" name="crop-26"/>
          <p:cNvSpPr/>
          <p:nvPr/>
        </p:nvSpPr>
        <p:spPr>
          <a:xfrm>
            <a:off x="8604504" y="868680"/>
            <a:ext cx="146304" cy="0"/>
          </a:xfrm>
          <a:prstGeom prst="line">
            <a:avLst/>
          </a:prstGeom>
          <a:noFill/>
          <a:ln w="9525">
            <a:solidFill>
              <a:srgbClr val="8B8C8E"/>
            </a:solidFill>
            <a:prstDash val="solid"/>
          </a:ln>
        </p:spPr>
      </p:sp>
      <p:sp>
        <p:nvSpPr>
          <p:cNvPr id="32" name="crop-27"/>
          <p:cNvSpPr/>
          <p:nvPr/>
        </p:nvSpPr>
        <p:spPr>
          <a:xfrm>
            <a:off x="8549640" y="667512"/>
            <a:ext cx="0" cy="146304"/>
          </a:xfrm>
          <a:prstGeom prst="line">
            <a:avLst/>
          </a:prstGeom>
          <a:noFill/>
          <a:ln w="9525">
            <a:solidFill>
              <a:srgbClr val="8B8C8E"/>
            </a:solidFill>
            <a:prstDash val="solid"/>
          </a:ln>
        </p:spPr>
      </p:sp>
      <p:sp>
        <p:nvSpPr>
          <p:cNvPr id="33" name="crop-28"/>
          <p:cNvSpPr/>
          <p:nvPr/>
        </p:nvSpPr>
        <p:spPr>
          <a:xfrm>
            <a:off x="5605272" y="4297680"/>
            <a:ext cx="146304" cy="0"/>
          </a:xfrm>
          <a:prstGeom prst="line">
            <a:avLst/>
          </a:prstGeom>
          <a:noFill/>
          <a:ln w="9525">
            <a:solidFill>
              <a:srgbClr val="8B8C8E"/>
            </a:solidFill>
            <a:prstDash val="solid"/>
          </a:ln>
        </p:spPr>
      </p:sp>
      <p:sp>
        <p:nvSpPr>
          <p:cNvPr id="34" name="crop-29"/>
          <p:cNvSpPr/>
          <p:nvPr/>
        </p:nvSpPr>
        <p:spPr>
          <a:xfrm>
            <a:off x="5806440" y="4352544"/>
            <a:ext cx="0" cy="146304"/>
          </a:xfrm>
          <a:prstGeom prst="line">
            <a:avLst/>
          </a:prstGeom>
          <a:noFill/>
          <a:ln w="9525">
            <a:solidFill>
              <a:srgbClr val="8B8C8E"/>
            </a:solidFill>
            <a:prstDash val="solid"/>
          </a:ln>
        </p:spPr>
      </p:sp>
      <p:sp>
        <p:nvSpPr>
          <p:cNvPr id="35" name="crop-30"/>
          <p:cNvSpPr/>
          <p:nvPr/>
        </p:nvSpPr>
        <p:spPr>
          <a:xfrm>
            <a:off x="8604504" y="4297680"/>
            <a:ext cx="146304" cy="0"/>
          </a:xfrm>
          <a:prstGeom prst="line">
            <a:avLst/>
          </a:prstGeom>
          <a:noFill/>
          <a:ln w="9525">
            <a:solidFill>
              <a:srgbClr val="8B8C8E"/>
            </a:solidFill>
            <a:prstDash val="solid"/>
          </a:ln>
        </p:spPr>
      </p:sp>
      <p:sp>
        <p:nvSpPr>
          <p:cNvPr id="36" name="crop-31"/>
          <p:cNvSpPr/>
          <p:nvPr/>
        </p:nvSpPr>
        <p:spPr>
          <a:xfrm>
            <a:off x="8549640" y="4352544"/>
            <a:ext cx="0" cy="146304"/>
          </a:xfrm>
          <a:prstGeom prst="line">
            <a:avLst/>
          </a:prstGeom>
          <a:noFill/>
          <a:ln w="9525">
            <a:solidFill>
              <a:srgbClr val="8B8C8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ที่มาและความสำคัญ</a:t>
            </a:r>
            <a:endParaRPr lang="en-US" sz="2600" dirty="0"/>
          </a:p>
        </p:txBody>
      </p:sp>
      <p:sp>
        <p:nvSpPr>
          <p:cNvPr id="3" name="sheet-32"/>
          <p:cNvSpPr/>
          <p:nvPr/>
        </p:nvSpPr>
        <p:spPr>
          <a:xfrm>
            <a:off x="457200" y="1143000"/>
            <a:ext cx="2606040" cy="16916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4" name="tab-33"/>
          <p:cNvSpPr/>
          <p:nvPr/>
        </p:nvSpPr>
        <p:spPr>
          <a:xfrm>
            <a:off x="457200" y="1143000"/>
            <a:ext cx="64008" cy="169164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34"/>
          <p:cNvSpPr txBox="1"/>
          <p:nvPr/>
        </p:nvSpPr>
        <p:spPr>
          <a:xfrm>
            <a:off x="7315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คิดราคาด้วยมือ</a:t>
            </a:r>
            <a:endParaRPr lang="en-US" sz="1600" dirty="0"/>
          </a:p>
        </p:txBody>
      </p:sp>
      <p:sp>
        <p:nvSpPr>
          <p:cNvPr id="6" name="text-35"/>
          <p:cNvSpPr txBox="1"/>
          <p:nvPr/>
        </p:nvSpPr>
        <p:spPr>
          <a:xfrm>
            <a:off x="731520" y="173736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D44"/>
                </a:solidFill>
              </a:rPr>
              <a:t>ขาวดำ สี ภาพถ่าย งานเก็บเล่ม และโค้ดส่วนลด คิดผิดง่าย ลูกค้าไม่รู้ราคาจนกว่าจะถึงร้าน</a:t>
            </a:r>
            <a:endParaRPr lang="en-US" sz="1200" dirty="0"/>
          </a:p>
        </p:txBody>
      </p:sp>
      <p:sp>
        <p:nvSpPr>
          <p:cNvPr id="7" name="sheet-36"/>
          <p:cNvSpPr/>
          <p:nvPr/>
        </p:nvSpPr>
        <p:spPr>
          <a:xfrm>
            <a:off x="3246120" y="1143000"/>
            <a:ext cx="2606040" cy="16916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8" name="tab-37"/>
          <p:cNvSpPr/>
          <p:nvPr/>
        </p:nvSpPr>
        <p:spPr>
          <a:xfrm>
            <a:off x="3246120" y="1143000"/>
            <a:ext cx="64008" cy="169164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9" name="text-38"/>
          <p:cNvSpPr txBox="1"/>
          <p:nvPr/>
        </p:nvSpPr>
        <p:spPr>
          <a:xfrm>
            <a:off x="35204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ลูกค้าโทรถามสถานะ</a:t>
            </a:r>
            <a:endParaRPr lang="en-US" sz="1600" dirty="0"/>
          </a:p>
        </p:txBody>
      </p:sp>
      <p:sp>
        <p:nvSpPr>
          <p:cNvPr id="10" name="text-39"/>
          <p:cNvSpPr txBox="1"/>
          <p:nvPr/>
        </p:nvSpPr>
        <p:spPr>
          <a:xfrm>
            <a:off x="3520440" y="173736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D44"/>
                </a:solidFill>
              </a:rPr>
              <a:t>ไม่มีทางรู้ว่างานพิมพ์ถึงไหน ต้องโทรหรือมายืนรอหน้าร้าน</a:t>
            </a:r>
            <a:endParaRPr lang="en-US" sz="1200" dirty="0"/>
          </a:p>
        </p:txBody>
      </p:sp>
      <p:sp>
        <p:nvSpPr>
          <p:cNvPr id="11" name="sheet-40"/>
          <p:cNvSpPr/>
          <p:nvPr/>
        </p:nvSpPr>
        <p:spPr>
          <a:xfrm>
            <a:off x="6035040" y="1143000"/>
            <a:ext cx="2606040" cy="16916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2" name="tab-41"/>
          <p:cNvSpPr/>
          <p:nvPr/>
        </p:nvSpPr>
        <p:spPr>
          <a:xfrm>
            <a:off x="6035040" y="1143000"/>
            <a:ext cx="64008" cy="169164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3" name="text-42"/>
          <p:cNvSpPr txBox="1"/>
          <p:nvPr/>
        </p:nvSpPr>
        <p:spPr>
          <a:xfrm>
            <a:off x="630936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ไม่มีตัวเลขสรุป</a:t>
            </a:r>
            <a:endParaRPr lang="en-US" sz="1600" dirty="0"/>
          </a:p>
        </p:txBody>
      </p:sp>
      <p:sp>
        <p:nvSpPr>
          <p:cNvPr id="14" name="text-43"/>
          <p:cNvSpPr txBox="1"/>
          <p:nvPr/>
        </p:nvSpPr>
        <p:spPr>
          <a:xfrm>
            <a:off x="6309360" y="173736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D44"/>
                </a:solidFill>
              </a:rPr>
              <a:t>เจ้าของร้านไม่รู้ยอดขายและบริการไหนขายดี</a:t>
            </a:r>
            <a:endParaRPr lang="en-US" sz="1200" dirty="0"/>
          </a:p>
        </p:txBody>
      </p:sp>
      <p:sp>
        <p:nvSpPr>
          <p:cNvPr id="15" name="answer"/>
          <p:cNvSpPr/>
          <p:nvPr/>
        </p:nvSpPr>
        <p:spPr>
          <a:xfrm>
            <a:off x="457200" y="3154680"/>
            <a:ext cx="8229600" cy="1188720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16" name="text-44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PrintFlow แก้ทั้ง 3 เรื่อง</a:t>
            </a:r>
            <a:endParaRPr lang="en-US" sz="1500" dirty="0"/>
          </a:p>
        </p:txBody>
      </p:sp>
      <p:sp>
        <p:nvSpPr>
          <p:cNvPr id="17" name="text-45"/>
          <p:cNvSpPr txBox="1"/>
          <p:nvPr/>
        </p:nvSpPr>
        <p:spPr>
          <a:xfrm>
            <a:off x="731520" y="3703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BC6"/>
                </a:solidFill>
              </a:rPr>
              <a:t>ระบบนับหน้าและคิดราคาให้ตอนสั่ง · แจ้งเตือนทุกครั้งที่งานเปลี่ยนสถานะ · รายงานยอดขายสำหรับ Admin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วัตถุประสงค์</a:t>
            </a:r>
            <a:endParaRPr lang="en-US" sz="2600" dirty="0"/>
          </a:p>
        </p:txBody>
      </p:sp>
      <p:sp>
        <p:nvSpPr>
          <p:cNvPr id="3" name="sheet-46"/>
          <p:cNvSpPr/>
          <p:nvPr/>
        </p:nvSpPr>
        <p:spPr>
          <a:xfrm>
            <a:off x="457200" y="1097280"/>
            <a:ext cx="8229600" cy="566928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4" name="obj-num-47"/>
          <p:cNvSpPr/>
          <p:nvPr/>
        </p:nvSpPr>
        <p:spPr>
          <a:xfrm>
            <a:off x="457200" y="1097280"/>
            <a:ext cx="566928" cy="566928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48"/>
          <p:cNvSpPr txBox="1"/>
          <p:nvPr/>
        </p:nvSpPr>
        <p:spPr>
          <a:xfrm>
            <a:off x="457200" y="1097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-49"/>
          <p:cNvSpPr txBox="1"/>
          <p:nvPr/>
        </p:nvSpPr>
        <p:spPr>
          <a:xfrm>
            <a:off x="1234440" y="10972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ให้ลูกค้าสั่งพิมพ์ออนไลน์ และรู้ราคาก่อนส่งงาน</a:t>
            </a:r>
            <a:endParaRPr lang="en-US" sz="1500" dirty="0"/>
          </a:p>
        </p:txBody>
      </p:sp>
      <p:sp>
        <p:nvSpPr>
          <p:cNvPr id="7" name="sheet-50"/>
          <p:cNvSpPr/>
          <p:nvPr/>
        </p:nvSpPr>
        <p:spPr>
          <a:xfrm>
            <a:off x="457200" y="1783080"/>
            <a:ext cx="8229600" cy="566928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8" name="obj-num-51"/>
          <p:cNvSpPr/>
          <p:nvPr/>
        </p:nvSpPr>
        <p:spPr>
          <a:xfrm>
            <a:off x="457200" y="1783080"/>
            <a:ext cx="566928" cy="566928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9" name="text-52"/>
          <p:cNvSpPr txBox="1"/>
          <p:nvPr/>
        </p:nvSpPr>
        <p:spPr>
          <a:xfrm>
            <a:off x="45720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-53"/>
          <p:cNvSpPr txBox="1"/>
          <p:nvPr/>
        </p:nvSpPr>
        <p:spPr>
          <a:xfrm>
            <a:off x="1234440" y="17830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ให้ลูกค้าติดตามสถานะงาน และได้รับแจ้งเตือน</a:t>
            </a:r>
            <a:endParaRPr lang="en-US" sz="1500" dirty="0"/>
          </a:p>
        </p:txBody>
      </p:sp>
      <p:sp>
        <p:nvSpPr>
          <p:cNvPr id="11" name="sheet-54"/>
          <p:cNvSpPr/>
          <p:nvPr/>
        </p:nvSpPr>
        <p:spPr>
          <a:xfrm>
            <a:off x="457200" y="2468880"/>
            <a:ext cx="8229600" cy="566928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2" name="obj-num-55"/>
          <p:cNvSpPr/>
          <p:nvPr/>
        </p:nvSpPr>
        <p:spPr>
          <a:xfrm>
            <a:off x="457200" y="2468880"/>
            <a:ext cx="566928" cy="566928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3" name="text-56"/>
          <p:cNvSpPr txBox="1"/>
          <p:nvPr/>
        </p:nvSpPr>
        <p:spPr>
          <a:xfrm>
            <a:off x="45720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81D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-57"/>
          <p:cNvSpPr txBox="1"/>
          <p:nvPr/>
        </p:nvSpPr>
        <p:spPr>
          <a:xfrm>
            <a:off x="1234440" y="24688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ให้พนักงานและผู้ดูแลจัดการงาน การชำระเงิน บริการ โปรโมชัน และดูรายงาน</a:t>
            </a:r>
            <a:endParaRPr lang="en-US" sz="1500" dirty="0"/>
          </a:p>
        </p:txBody>
      </p:sp>
      <p:sp>
        <p:nvSpPr>
          <p:cNvPr id="15" name="sheet-58"/>
          <p:cNvSpPr/>
          <p:nvPr/>
        </p:nvSpPr>
        <p:spPr>
          <a:xfrm>
            <a:off x="457200" y="3154680"/>
            <a:ext cx="8229600" cy="566928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6" name="obj-num-59"/>
          <p:cNvSpPr/>
          <p:nvPr/>
        </p:nvSpPr>
        <p:spPr>
          <a:xfrm>
            <a:off x="457200" y="3154680"/>
            <a:ext cx="566928" cy="566928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17" name="text-60"/>
          <p:cNvSpPr txBox="1"/>
          <p:nvPr/>
        </p:nvSpPr>
        <p:spPr>
          <a:xfrm>
            <a:off x="457200" y="3154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-61"/>
          <p:cNvSpPr txBox="1"/>
          <p:nvPr/>
        </p:nvSpPr>
        <p:spPr>
          <a:xfrm>
            <a:off x="1234440" y="31546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ประยุกต์ใช้ Layered Architecture, SOLID และ GoF Behavioral Pattern</a:t>
            </a:r>
            <a:endParaRPr lang="en-US" sz="1500" dirty="0"/>
          </a:p>
        </p:txBody>
      </p:sp>
      <p:sp>
        <p:nvSpPr>
          <p:cNvPr id="19" name="sheet-62"/>
          <p:cNvSpPr/>
          <p:nvPr/>
        </p:nvSpPr>
        <p:spPr>
          <a:xfrm>
            <a:off x="457200" y="3840480"/>
            <a:ext cx="8229600" cy="566928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20" name="obj-num-63"/>
          <p:cNvSpPr/>
          <p:nvPr/>
        </p:nvSpPr>
        <p:spPr>
          <a:xfrm>
            <a:off x="457200" y="3840480"/>
            <a:ext cx="566928" cy="566928"/>
          </a:xfrm>
          <a:prstGeom prst="rect">
            <a:avLst/>
          </a:prstGeom>
          <a:solidFill>
            <a:srgbClr val="8B8C8E"/>
          </a:solidFill>
          <a:ln w="12700">
            <a:solidFill>
              <a:srgbClr val="8B8C8E"/>
            </a:solidFill>
            <a:prstDash val="solid"/>
          </a:ln>
        </p:spPr>
      </p:sp>
      <p:sp>
        <p:nvSpPr>
          <p:cNvPr id="21" name="text-64"/>
          <p:cNvSpPr txBox="1"/>
          <p:nvPr/>
        </p:nvSpPr>
        <p:spPr>
          <a:xfrm>
            <a:off x="45720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text-65"/>
          <p:cNvSpPr txBox="1"/>
          <p:nvPr/>
        </p:nvSpPr>
        <p:spPr>
          <a:xfrm>
            <a:off x="1234440" y="3840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ทดสอบอัตโนมัติและ deploy ขึ้น cloud ด้วย CI/CD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ทฤษฎีที่เกี่ยวข้อง แยกตามผู้รับผิดชอบ</a:t>
            </a:r>
            <a:endParaRPr lang="en-US" sz="2600" dirty="0"/>
          </a:p>
        </p:txBody>
      </p:sp>
      <p:sp>
        <p:nvSpPr>
          <p:cNvPr id="3" name="sheet-66"/>
          <p:cNvSpPr/>
          <p:nvPr/>
        </p:nvSpPr>
        <p:spPr>
          <a:xfrm>
            <a:off x="457200" y="1097280"/>
            <a:ext cx="1956816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4" name="theory-top-67"/>
          <p:cNvSpPr/>
          <p:nvPr/>
        </p:nvSpPr>
        <p:spPr>
          <a:xfrm>
            <a:off x="457200" y="1097280"/>
            <a:ext cx="1956816" cy="73152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68"/>
          <p:cNvSpPr txBox="1"/>
          <p:nvPr/>
        </p:nvSpPr>
        <p:spPr>
          <a:xfrm>
            <a:off x="640080" y="12984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 ณัฐชา</a:t>
            </a:r>
            <a:endParaRPr lang="en-US" sz="1600" dirty="0"/>
          </a:p>
        </p:txBody>
      </p:sp>
      <p:sp>
        <p:nvSpPr>
          <p:cNvPr id="6" name="text-69"/>
          <p:cNvSpPr txBox="1"/>
          <p:nvPr/>
        </p:nvSpPr>
        <p:spPr>
          <a:xfrm>
            <a:off x="640080" y="1664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Auth · User · Admin · Report</a:t>
            </a:r>
            <a:endParaRPr lang="en-US" sz="900" dirty="0"/>
          </a:p>
        </p:txBody>
      </p:sp>
      <p:sp>
        <p:nvSpPr>
          <p:cNvPr id="7" name="text-70"/>
          <p:cNvSpPr txBox="1"/>
          <p:nvPr/>
        </p:nvSpPr>
        <p:spPr>
          <a:xfrm>
            <a:off x="640080" y="2057400"/>
            <a:ext cx="1664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Layered Architecture และ Dependency Injection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Spring Security: role-based access, BCrypt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Global Exception Handling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CI/CD: GitHub Actions, Docker, Render</a:t>
            </a:r>
            <a:endParaRPr lang="en-US" sz="1100" dirty="0"/>
          </a:p>
        </p:txBody>
      </p:sp>
      <p:sp>
        <p:nvSpPr>
          <p:cNvPr id="8" name="sheet-71"/>
          <p:cNvSpPr/>
          <p:nvPr/>
        </p:nvSpPr>
        <p:spPr>
          <a:xfrm>
            <a:off x="2551176" y="1097280"/>
            <a:ext cx="1956816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9" name="theory-top-72"/>
          <p:cNvSpPr/>
          <p:nvPr/>
        </p:nvSpPr>
        <p:spPr>
          <a:xfrm>
            <a:off x="2551176" y="1097280"/>
            <a:ext cx="1956816" cy="73152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0" name="text-73"/>
          <p:cNvSpPr txBox="1"/>
          <p:nvPr/>
        </p:nvSpPr>
        <p:spPr>
          <a:xfrm>
            <a:off x="2734056" y="12984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P2 ปฏิภาณ</a:t>
            </a:r>
            <a:endParaRPr lang="en-US" sz="1600" dirty="0"/>
          </a:p>
        </p:txBody>
      </p:sp>
      <p:sp>
        <p:nvSpPr>
          <p:cNvPr id="11" name="text-74"/>
          <p:cNvSpPr txBox="1"/>
          <p:nvPr/>
        </p:nvSpPr>
        <p:spPr>
          <a:xfrm>
            <a:off x="2734056" y="1664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Service · Addon · Promotion</a:t>
            </a:r>
            <a:endParaRPr lang="en-US" sz="900" dirty="0"/>
          </a:p>
        </p:txBody>
      </p:sp>
      <p:sp>
        <p:nvSpPr>
          <p:cNvPr id="12" name="text-75"/>
          <p:cNvSpPr txBox="1"/>
          <p:nvPr/>
        </p:nvSpPr>
        <p:spPr>
          <a:xfrm>
            <a:off x="2734056" y="2057400"/>
            <a:ext cx="1664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Strategy Pattern: สูตรราคา 3 แบบ ส่วนลด 2 แบบ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Open/Closed Principle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ออกแบบฐานข้อมูล: ER Diagram, Data Dictionary</a:t>
            </a:r>
            <a:endParaRPr lang="en-US" sz="1100" dirty="0"/>
          </a:p>
        </p:txBody>
      </p:sp>
      <p:sp>
        <p:nvSpPr>
          <p:cNvPr id="13" name="sheet-76"/>
          <p:cNvSpPr/>
          <p:nvPr/>
        </p:nvSpPr>
        <p:spPr>
          <a:xfrm>
            <a:off x="4645152" y="1097280"/>
            <a:ext cx="1956816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4" name="theory-top-77"/>
          <p:cNvSpPr/>
          <p:nvPr/>
        </p:nvSpPr>
        <p:spPr>
          <a:xfrm>
            <a:off x="4645152" y="1097280"/>
            <a:ext cx="1956816" cy="73152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5" name="text-78"/>
          <p:cNvSpPr txBox="1"/>
          <p:nvPr/>
        </p:nvSpPr>
        <p:spPr>
          <a:xfrm>
            <a:off x="4828032" y="12984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P3 รัชชานนท์</a:t>
            </a:r>
            <a:endParaRPr lang="en-US" sz="1600" dirty="0"/>
          </a:p>
        </p:txBody>
      </p:sp>
      <p:sp>
        <p:nvSpPr>
          <p:cNvPr id="16" name="text-79"/>
          <p:cNvSpPr txBox="1"/>
          <p:nvPr/>
        </p:nvSpPr>
        <p:spPr>
          <a:xfrm>
            <a:off x="4828032" y="1664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Order · Item · File</a:t>
            </a:r>
            <a:endParaRPr lang="en-US" sz="900" dirty="0"/>
          </a:p>
        </p:txBody>
      </p:sp>
      <p:sp>
        <p:nvSpPr>
          <p:cNvPr id="17" name="text-80"/>
          <p:cNvSpPr txBox="1"/>
          <p:nvPr/>
        </p:nvSpPr>
        <p:spPr>
          <a:xfrm>
            <a:off x="4828032" y="2057400"/>
            <a:ext cx="1664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Chain of Responsibility: ตรวจคำสั่งพิมพ์ 5 ขั้น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Single Responsibility Principle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Class Diagram, Activity Diagram</a:t>
            </a:r>
            <a:endParaRPr lang="en-US" sz="1100" dirty="0"/>
          </a:p>
        </p:txBody>
      </p:sp>
      <p:sp>
        <p:nvSpPr>
          <p:cNvPr id="18" name="sheet-81"/>
          <p:cNvSpPr/>
          <p:nvPr/>
        </p:nvSpPr>
        <p:spPr>
          <a:xfrm>
            <a:off x="6739128" y="1097280"/>
            <a:ext cx="1956816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9" name="theory-top-82"/>
          <p:cNvSpPr/>
          <p:nvPr/>
        </p:nvSpPr>
        <p:spPr>
          <a:xfrm>
            <a:off x="6739128" y="1097280"/>
            <a:ext cx="1956816" cy="73152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20" name="text-83"/>
          <p:cNvSpPr txBox="1"/>
          <p:nvPr/>
        </p:nvSpPr>
        <p:spPr>
          <a:xfrm>
            <a:off x="6922008" y="12984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P4 อาณัฐ</a:t>
            </a:r>
            <a:endParaRPr lang="en-US" sz="1600" dirty="0"/>
          </a:p>
        </p:txBody>
      </p:sp>
      <p:sp>
        <p:nvSpPr>
          <p:cNvPr id="21" name="text-84"/>
          <p:cNvSpPr txBox="1"/>
          <p:nvPr/>
        </p:nvSpPr>
        <p:spPr>
          <a:xfrm>
            <a:off x="6922008" y="1664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Status · Payment · Notification</a:t>
            </a:r>
            <a:endParaRPr lang="en-US" sz="900" dirty="0"/>
          </a:p>
        </p:txBody>
      </p:sp>
      <p:sp>
        <p:nvSpPr>
          <p:cNvPr id="22" name="text-85"/>
          <p:cNvSpPr txBox="1"/>
          <p:nvPr/>
        </p:nvSpPr>
        <p:spPr>
          <a:xfrm>
            <a:off x="6922008" y="2057400"/>
            <a:ext cx="1664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State Pattern: 6 สถานะของงานพิมพ์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Observer Pattern: event 2 ตัว listener 5 ตัว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State Diagram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ผู้ใช้ 3 บทบาท 14 Use Case</a:t>
            </a:r>
            <a:endParaRPr lang="en-US" sz="2600" dirty="0"/>
          </a:p>
        </p:txBody>
      </p:sp>
      <p:sp>
        <p:nvSpPr>
          <p:cNvPr id="3" name="sheet-86"/>
          <p:cNvSpPr/>
          <p:nvPr/>
        </p:nvSpPr>
        <p:spPr>
          <a:xfrm>
            <a:off x="457200" y="1097280"/>
            <a:ext cx="260604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4" name="role-top-87"/>
          <p:cNvSpPr/>
          <p:nvPr/>
        </p:nvSpPr>
        <p:spPr>
          <a:xfrm>
            <a:off x="457200" y="1097280"/>
            <a:ext cx="2606040" cy="73152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88"/>
          <p:cNvSpPr txBox="1"/>
          <p:nvPr/>
        </p:nvSpPr>
        <p:spPr>
          <a:xfrm>
            <a:off x="73152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ลูกค้า</a:t>
            </a:r>
            <a:endParaRPr lang="en-US" sz="2000" dirty="0"/>
          </a:p>
        </p:txBody>
      </p:sp>
      <p:sp>
        <p:nvSpPr>
          <p:cNvPr id="6" name="text-89"/>
          <p:cNvSpPr txBox="1"/>
          <p:nvPr/>
        </p:nvSpPr>
        <p:spPr>
          <a:xfrm>
            <a:off x="73152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Customer · UC-01 ถึง 06</a:t>
            </a:r>
            <a:endParaRPr lang="en-US" sz="1000" dirty="0"/>
          </a:p>
        </p:txBody>
      </p:sp>
      <p:sp>
        <p:nvSpPr>
          <p:cNvPr id="7" name="text-90"/>
          <p:cNvSpPr txBox="1"/>
          <p:nvPr/>
        </p:nvSpPr>
        <p:spPr>
          <a:xfrm>
            <a:off x="731520" y="224028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สมัครสมาชิก แก้โปรไฟล์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สั่งพิมพ์ ระบบนับหน้าให้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ติดตามสถานะ ยกเลิกตอนรอยืนยัน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รับแจ้งเตือน</a:t>
            </a:r>
            <a:endParaRPr lang="en-US" sz="1200" dirty="0"/>
          </a:p>
        </p:txBody>
      </p:sp>
      <p:sp>
        <p:nvSpPr>
          <p:cNvPr id="8" name="sheet-91"/>
          <p:cNvSpPr/>
          <p:nvPr/>
        </p:nvSpPr>
        <p:spPr>
          <a:xfrm>
            <a:off x="3246120" y="1097280"/>
            <a:ext cx="260604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9" name="role-top-92"/>
          <p:cNvSpPr/>
          <p:nvPr/>
        </p:nvSpPr>
        <p:spPr>
          <a:xfrm>
            <a:off x="3246120" y="1097280"/>
            <a:ext cx="2606040" cy="73152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0" name="text-93"/>
          <p:cNvSpPr txBox="1"/>
          <p:nvPr/>
        </p:nvSpPr>
        <p:spPr>
          <a:xfrm>
            <a:off x="35204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พนักงาน</a:t>
            </a:r>
            <a:endParaRPr lang="en-US" sz="2000" dirty="0"/>
          </a:p>
        </p:txBody>
      </p:sp>
      <p:sp>
        <p:nvSpPr>
          <p:cNvPr id="11" name="text-94"/>
          <p:cNvSpPr txBox="1"/>
          <p:nvPr/>
        </p:nvSpPr>
        <p:spPr>
          <a:xfrm>
            <a:off x="352044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Staff · UC-07 ถึง 10</a:t>
            </a:r>
            <a:endParaRPr lang="en-US" sz="1000" dirty="0"/>
          </a:p>
        </p:txBody>
      </p:sp>
      <p:sp>
        <p:nvSpPr>
          <p:cNvPr id="12" name="text-95"/>
          <p:cNvSpPr txBox="1"/>
          <p:nvPr/>
        </p:nvSpPr>
        <p:spPr>
          <a:xfrm>
            <a:off x="3520440" y="224028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ภาพรวมงานวันนี้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ยืนยันและเปลี่ยนสถานะงาน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เลื่อนสถานะหลายงานพร้อมกัน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บันทึกการชำระเงิน</a:t>
            </a:r>
            <a:endParaRPr lang="en-US" sz="1200" dirty="0"/>
          </a:p>
        </p:txBody>
      </p:sp>
      <p:sp>
        <p:nvSpPr>
          <p:cNvPr id="13" name="sheet-96"/>
          <p:cNvSpPr/>
          <p:nvPr/>
        </p:nvSpPr>
        <p:spPr>
          <a:xfrm>
            <a:off x="6035040" y="1097280"/>
            <a:ext cx="260604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4" name="role-top-97"/>
          <p:cNvSpPr/>
          <p:nvPr/>
        </p:nvSpPr>
        <p:spPr>
          <a:xfrm>
            <a:off x="6035040" y="1097280"/>
            <a:ext cx="2606040" cy="73152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5" name="text-98"/>
          <p:cNvSpPr txBox="1"/>
          <p:nvPr/>
        </p:nvSpPr>
        <p:spPr>
          <a:xfrm>
            <a:off x="630936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ผู้ดูแล</a:t>
            </a:r>
            <a:endParaRPr lang="en-US" sz="2000" dirty="0"/>
          </a:p>
        </p:txBody>
      </p:sp>
      <p:sp>
        <p:nvSpPr>
          <p:cNvPr id="16" name="text-99"/>
          <p:cNvSpPr txBox="1"/>
          <p:nvPr/>
        </p:nvSpPr>
        <p:spPr>
          <a:xfrm>
            <a:off x="630936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Admin · UC-11 ถึง 14</a:t>
            </a:r>
            <a:endParaRPr lang="en-US" sz="1000" dirty="0"/>
          </a:p>
        </p:txBody>
      </p:sp>
      <p:sp>
        <p:nvSpPr>
          <p:cNvPr id="17" name="text-100"/>
          <p:cNvSpPr txBox="1"/>
          <p:nvPr/>
        </p:nvSpPr>
        <p:spPr>
          <a:xfrm>
            <a:off x="6309360" y="224028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จัดการบริการและงานเก็บเล่ม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จัดการโปรโมชัน จำกัดสิทธิ์ต่อคน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จัดการบัญชีผู้ใช้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รายงานยอดขาย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ลูกค้า: สั่งงานแล้วรู้ราคาทันที</a:t>
            </a:r>
            <a:endParaRPr lang="en-US" sz="2600" dirty="0"/>
          </a:p>
        </p:txBody>
      </p:sp>
      <p:sp>
        <p:nvSpPr>
          <p:cNvPr id="3" name="shot-frame-101"/>
          <p:cNvSpPr/>
          <p:nvPr/>
        </p:nvSpPr>
        <p:spPr>
          <a:xfrm>
            <a:off x="466344" y="1060704"/>
            <a:ext cx="5193792" cy="3147035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pic>
        <p:nvPicPr>
          <p:cNvPr id="4" name="shot-102" descr="หน้าสั่งพิมพ์งา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5120640" cy="3073883"/>
          </a:xfrm>
          <a:prstGeom prst="rect">
            <a:avLst/>
          </a:prstGeom>
        </p:spPr>
      </p:pic>
      <p:sp>
        <p:nvSpPr>
          <p:cNvPr id="5" name="crop-103"/>
          <p:cNvSpPr/>
          <p:nvPr/>
        </p:nvSpPr>
        <p:spPr>
          <a:xfrm>
            <a:off x="265176" y="1060704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crop-104"/>
          <p:cNvSpPr/>
          <p:nvPr/>
        </p:nvSpPr>
        <p:spPr>
          <a:xfrm>
            <a:off x="466344" y="85953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crop-105"/>
          <p:cNvSpPr/>
          <p:nvPr/>
        </p:nvSpPr>
        <p:spPr>
          <a:xfrm>
            <a:off x="5715000" y="1060704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8" name="crop-106"/>
          <p:cNvSpPr/>
          <p:nvPr/>
        </p:nvSpPr>
        <p:spPr>
          <a:xfrm>
            <a:off x="5660136" y="85953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9" name="crop-107"/>
          <p:cNvSpPr/>
          <p:nvPr/>
        </p:nvSpPr>
        <p:spPr>
          <a:xfrm>
            <a:off x="265176" y="4207739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0" name="crop-108"/>
          <p:cNvSpPr/>
          <p:nvPr/>
        </p:nvSpPr>
        <p:spPr>
          <a:xfrm>
            <a:off x="466344" y="4262603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crop-109"/>
          <p:cNvSpPr/>
          <p:nvPr/>
        </p:nvSpPr>
        <p:spPr>
          <a:xfrm>
            <a:off x="5715000" y="4207739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2" name="crop-110"/>
          <p:cNvSpPr/>
          <p:nvPr/>
        </p:nvSpPr>
        <p:spPr>
          <a:xfrm>
            <a:off x="5660136" y="4262603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3" name="tab-111"/>
          <p:cNvSpPr/>
          <p:nvPr/>
        </p:nvSpPr>
        <p:spPr>
          <a:xfrm>
            <a:off x="6035040" y="1097280"/>
            <a:ext cx="64008" cy="86868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14" name="text-112"/>
          <p:cNvSpPr txBox="1"/>
          <p:nvPr/>
        </p:nvSpPr>
        <p:spPr>
          <a:xfrm>
            <a:off x="6263640" y="1143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เลือกไฟล์ แล้วนับหน้าให้</a:t>
            </a:r>
            <a:endParaRPr lang="en-US" sz="1300" dirty="0"/>
          </a:p>
        </p:txBody>
      </p:sp>
      <p:sp>
        <p:nvSpPr>
          <p:cNvPr id="15" name="text-113"/>
          <p:cNvSpPr txBox="1"/>
          <p:nvPr/>
        </p:nvSpPr>
        <p:spPr>
          <a:xfrm>
            <a:off x="626364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D44"/>
                </a:solidFill>
              </a:rPr>
              <a:t>อ่าน PDF ในเบราว์เซอร์ ไม่ต้องอัปโหลดไฟล์</a:t>
            </a:r>
            <a:endParaRPr lang="en-US" sz="1100" dirty="0"/>
          </a:p>
        </p:txBody>
      </p:sp>
      <p:sp>
        <p:nvSpPr>
          <p:cNvPr id="16" name="tab-114"/>
          <p:cNvSpPr/>
          <p:nvPr/>
        </p:nvSpPr>
        <p:spPr>
          <a:xfrm>
            <a:off x="6035040" y="2148840"/>
            <a:ext cx="64008" cy="86868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7" name="text-115"/>
          <p:cNvSpPr txBox="1"/>
          <p:nvPr/>
        </p:nvSpPr>
        <p:spPr>
          <a:xfrm>
            <a:off x="6263640" y="2194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ใบสรุปราคาข้างฟอร์ม</a:t>
            </a:r>
            <a:endParaRPr lang="en-US" sz="1300" dirty="0"/>
          </a:p>
        </p:txBody>
      </p:sp>
      <p:sp>
        <p:nvSpPr>
          <p:cNvPr id="18" name="text-116"/>
          <p:cNvSpPr txBox="1"/>
          <p:nvPr/>
        </p:nvSpPr>
        <p:spPr>
          <a:xfrm>
            <a:off x="6263640" y="25328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D44"/>
                </a:solidFill>
              </a:rPr>
              <a:t>เปลี่ยนจำนวน งานเก็บเล่ม หรือโค้ด ราคาเปลี่ยนตาม</a:t>
            </a:r>
            <a:endParaRPr lang="en-US" sz="1100" dirty="0"/>
          </a:p>
        </p:txBody>
      </p:sp>
      <p:sp>
        <p:nvSpPr>
          <p:cNvPr id="19" name="tab-117"/>
          <p:cNvSpPr/>
          <p:nvPr/>
        </p:nvSpPr>
        <p:spPr>
          <a:xfrm>
            <a:off x="6035040" y="3200400"/>
            <a:ext cx="64008" cy="86868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20" name="text-118"/>
          <p:cNvSpPr txBox="1"/>
          <p:nvPr/>
        </p:nvSpPr>
        <p:spPr>
          <a:xfrm>
            <a:off x="626364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ตรวจก่อนบันทึก</a:t>
            </a:r>
            <a:endParaRPr lang="en-US" sz="1300" dirty="0"/>
          </a:p>
        </p:txBody>
      </p:sp>
      <p:sp>
        <p:nvSpPr>
          <p:cNvPr id="21" name="text-119"/>
          <p:cNvSpPr txBox="1"/>
          <p:nvPr/>
        </p:nvSpPr>
        <p:spPr>
          <a:xfrm>
            <a:off x="6263640" y="35844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D44"/>
                </a:solidFill>
              </a:rPr>
              <a:t>ไฟล์ จำนวน โค้ดส่วนลด ผิดตรงไหนบอกทันที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ลูกค้า: ดูได้ว่างานถึงไหน</a:t>
            </a:r>
            <a:endParaRPr lang="en-US" sz="2600" dirty="0"/>
          </a:p>
        </p:txBody>
      </p:sp>
      <p:sp>
        <p:nvSpPr>
          <p:cNvPr id="3" name="shot-frame-120"/>
          <p:cNvSpPr/>
          <p:nvPr/>
        </p:nvSpPr>
        <p:spPr>
          <a:xfrm>
            <a:off x="466344" y="1060704"/>
            <a:ext cx="8211312" cy="2754098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pic>
        <p:nvPicPr>
          <p:cNvPr id="4" name="shot-121" descr="หน้าติดตามสถาน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680946"/>
          </a:xfrm>
          <a:prstGeom prst="rect">
            <a:avLst/>
          </a:prstGeom>
        </p:spPr>
      </p:pic>
      <p:sp>
        <p:nvSpPr>
          <p:cNvPr id="5" name="crop-122"/>
          <p:cNvSpPr/>
          <p:nvPr/>
        </p:nvSpPr>
        <p:spPr>
          <a:xfrm>
            <a:off x="265176" y="1060704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crop-123"/>
          <p:cNvSpPr/>
          <p:nvPr/>
        </p:nvSpPr>
        <p:spPr>
          <a:xfrm>
            <a:off x="466344" y="85953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crop-124"/>
          <p:cNvSpPr/>
          <p:nvPr/>
        </p:nvSpPr>
        <p:spPr>
          <a:xfrm>
            <a:off x="8732520" y="1060704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8" name="crop-125"/>
          <p:cNvSpPr/>
          <p:nvPr/>
        </p:nvSpPr>
        <p:spPr>
          <a:xfrm>
            <a:off x="8677656" y="85953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9" name="crop-126"/>
          <p:cNvSpPr/>
          <p:nvPr/>
        </p:nvSpPr>
        <p:spPr>
          <a:xfrm>
            <a:off x="265176" y="3814802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0" name="crop-127"/>
          <p:cNvSpPr/>
          <p:nvPr/>
        </p:nvSpPr>
        <p:spPr>
          <a:xfrm>
            <a:off x="466344" y="386966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crop-128"/>
          <p:cNvSpPr/>
          <p:nvPr/>
        </p:nvSpPr>
        <p:spPr>
          <a:xfrm>
            <a:off x="8732520" y="3814802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2" name="crop-129"/>
          <p:cNvSpPr/>
          <p:nvPr/>
        </p:nvSpPr>
        <p:spPr>
          <a:xfrm>
            <a:off x="8677656" y="386966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3" name="legend-130"/>
          <p:cNvSpPr/>
          <p:nvPr/>
        </p:nvSpPr>
        <p:spPr>
          <a:xfrm>
            <a:off x="502920" y="3977640"/>
            <a:ext cx="201168" cy="201168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4" name="text-131"/>
          <p:cNvSpPr txBox="1"/>
          <p:nvPr/>
        </p:nvSpPr>
        <p:spPr>
          <a:xfrm>
            <a:off x="795528" y="3950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รอยืนยัน</a:t>
            </a:r>
            <a:endParaRPr lang="en-US" sz="1100" dirty="0"/>
          </a:p>
        </p:txBody>
      </p:sp>
      <p:sp>
        <p:nvSpPr>
          <p:cNvPr id="15" name="legend-132"/>
          <p:cNvSpPr/>
          <p:nvPr/>
        </p:nvSpPr>
        <p:spPr>
          <a:xfrm>
            <a:off x="2148840" y="3977640"/>
            <a:ext cx="201168" cy="201168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16" name="text-133"/>
          <p:cNvSpPr txBox="1"/>
          <p:nvPr/>
        </p:nvSpPr>
        <p:spPr>
          <a:xfrm>
            <a:off x="2441448" y="3950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ร้านรับงานแล้ว</a:t>
            </a:r>
            <a:endParaRPr lang="en-US" sz="1100" dirty="0"/>
          </a:p>
        </p:txBody>
      </p:sp>
      <p:sp>
        <p:nvSpPr>
          <p:cNvPr id="17" name="legend-134"/>
          <p:cNvSpPr/>
          <p:nvPr/>
        </p:nvSpPr>
        <p:spPr>
          <a:xfrm>
            <a:off x="3794760" y="3977640"/>
            <a:ext cx="201168" cy="201168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8" name="text-135"/>
          <p:cNvSpPr txBox="1"/>
          <p:nvPr/>
        </p:nvSpPr>
        <p:spPr>
          <a:xfrm>
            <a:off x="4087368" y="3950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กำลังพิมพ์</a:t>
            </a:r>
            <a:endParaRPr lang="en-US" sz="1100" dirty="0"/>
          </a:p>
        </p:txBody>
      </p:sp>
      <p:sp>
        <p:nvSpPr>
          <p:cNvPr id="19" name="legend-136"/>
          <p:cNvSpPr/>
          <p:nvPr/>
        </p:nvSpPr>
        <p:spPr>
          <a:xfrm>
            <a:off x="5440680" y="3977640"/>
            <a:ext cx="201168" cy="201168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20" name="text-137"/>
          <p:cNvSpPr txBox="1"/>
          <p:nvPr/>
        </p:nvSpPr>
        <p:spPr>
          <a:xfrm>
            <a:off x="5733288" y="3950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พร้อมรับงาน</a:t>
            </a:r>
            <a:endParaRPr lang="en-US" sz="1100" dirty="0"/>
          </a:p>
        </p:txBody>
      </p:sp>
      <p:sp>
        <p:nvSpPr>
          <p:cNvPr id="21" name="legend-138"/>
          <p:cNvSpPr/>
          <p:nvPr/>
        </p:nvSpPr>
        <p:spPr>
          <a:xfrm>
            <a:off x="7086600" y="3977640"/>
            <a:ext cx="201168" cy="201168"/>
          </a:xfrm>
          <a:prstGeom prst="rect">
            <a:avLst/>
          </a:prstGeom>
          <a:solidFill>
            <a:srgbClr val="8B8C8E"/>
          </a:solidFill>
          <a:ln w="12700">
            <a:solidFill>
              <a:srgbClr val="8B8C8E"/>
            </a:solidFill>
            <a:prstDash val="solid"/>
          </a:ln>
        </p:spPr>
      </p:sp>
      <p:sp>
        <p:nvSpPr>
          <p:cNvPr id="22" name="text-139"/>
          <p:cNvSpPr txBox="1"/>
          <p:nvPr/>
        </p:nvSpPr>
        <p:spPr>
          <a:xfrm>
            <a:off x="7379208" y="3950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ส่งมอบแล้ว</a:t>
            </a:r>
            <a:endParaRPr lang="en-US" sz="1100" dirty="0"/>
          </a:p>
        </p:txBody>
      </p:sp>
      <p:sp>
        <p:nvSpPr>
          <p:cNvPr id="23" name="text-140"/>
          <p:cNvSpPr txBox="1"/>
          <p:nvPr/>
        </p:nvSpPr>
        <p:spPr>
          <a:xfrm>
            <a:off x="502920" y="42976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สีสถานะเดียวกันทั้งเว็บ ลูกค้าและพนักงานเห็นตรงกัน และได้แจ้งเตือนทุกครั้งที่งานขยับ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พนักงาน: คิวงานและใบงาน</a:t>
            </a:r>
            <a:endParaRPr lang="en-US" sz="2600" dirty="0"/>
          </a:p>
        </p:txBody>
      </p:sp>
      <p:sp>
        <p:nvSpPr>
          <p:cNvPr id="3" name="shot-frame-141"/>
          <p:cNvSpPr/>
          <p:nvPr/>
        </p:nvSpPr>
        <p:spPr>
          <a:xfrm>
            <a:off x="466344" y="1060704"/>
            <a:ext cx="5193792" cy="3003096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pic>
        <p:nvPicPr>
          <p:cNvPr id="4" name="shot-142" descr="หน้ารายละเอียดงานของพนักงา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5120640" cy="2929944"/>
          </a:xfrm>
          <a:prstGeom prst="rect">
            <a:avLst/>
          </a:prstGeom>
        </p:spPr>
      </p:pic>
      <p:sp>
        <p:nvSpPr>
          <p:cNvPr id="5" name="crop-143"/>
          <p:cNvSpPr/>
          <p:nvPr/>
        </p:nvSpPr>
        <p:spPr>
          <a:xfrm>
            <a:off x="265176" y="1060704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crop-144"/>
          <p:cNvSpPr/>
          <p:nvPr/>
        </p:nvSpPr>
        <p:spPr>
          <a:xfrm>
            <a:off x="466344" y="85953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crop-145"/>
          <p:cNvSpPr/>
          <p:nvPr/>
        </p:nvSpPr>
        <p:spPr>
          <a:xfrm>
            <a:off x="5715000" y="1060704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8" name="crop-146"/>
          <p:cNvSpPr/>
          <p:nvPr/>
        </p:nvSpPr>
        <p:spPr>
          <a:xfrm>
            <a:off x="5660136" y="85953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9" name="crop-147"/>
          <p:cNvSpPr/>
          <p:nvPr/>
        </p:nvSpPr>
        <p:spPr>
          <a:xfrm>
            <a:off x="265176" y="4063800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0" name="crop-148"/>
          <p:cNvSpPr/>
          <p:nvPr/>
        </p:nvSpPr>
        <p:spPr>
          <a:xfrm>
            <a:off x="466344" y="4118664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crop-149"/>
          <p:cNvSpPr/>
          <p:nvPr/>
        </p:nvSpPr>
        <p:spPr>
          <a:xfrm>
            <a:off x="5715000" y="4063800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2" name="crop-150"/>
          <p:cNvSpPr/>
          <p:nvPr/>
        </p:nvSpPr>
        <p:spPr>
          <a:xfrm>
            <a:off x="5660136" y="4118664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3" name="shot-frame-151"/>
          <p:cNvSpPr/>
          <p:nvPr/>
        </p:nvSpPr>
        <p:spPr>
          <a:xfrm>
            <a:off x="5998464" y="1060704"/>
            <a:ext cx="2724912" cy="960184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pic>
        <p:nvPicPr>
          <p:cNvPr id="14" name="shot-152" descr="หน้าคิวงานของพนักงาน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97280"/>
            <a:ext cx="2651760" cy="887032"/>
          </a:xfrm>
          <a:prstGeom prst="rect">
            <a:avLst/>
          </a:prstGeom>
        </p:spPr>
      </p:pic>
      <p:sp>
        <p:nvSpPr>
          <p:cNvPr id="15" name="crop-153"/>
          <p:cNvSpPr/>
          <p:nvPr/>
        </p:nvSpPr>
        <p:spPr>
          <a:xfrm>
            <a:off x="5797296" y="1060704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6" name="crop-154"/>
          <p:cNvSpPr/>
          <p:nvPr/>
        </p:nvSpPr>
        <p:spPr>
          <a:xfrm>
            <a:off x="5998464" y="85953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7" name="crop-155"/>
          <p:cNvSpPr/>
          <p:nvPr/>
        </p:nvSpPr>
        <p:spPr>
          <a:xfrm>
            <a:off x="8778240" y="1060704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8" name="crop-156"/>
          <p:cNvSpPr/>
          <p:nvPr/>
        </p:nvSpPr>
        <p:spPr>
          <a:xfrm>
            <a:off x="8723376" y="859536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9" name="crop-157"/>
          <p:cNvSpPr/>
          <p:nvPr/>
        </p:nvSpPr>
        <p:spPr>
          <a:xfrm>
            <a:off x="5797296" y="2020888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20" name="crop-158"/>
          <p:cNvSpPr/>
          <p:nvPr/>
        </p:nvSpPr>
        <p:spPr>
          <a:xfrm>
            <a:off x="5998464" y="2075752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21" name="crop-159"/>
          <p:cNvSpPr/>
          <p:nvPr/>
        </p:nvSpPr>
        <p:spPr>
          <a:xfrm>
            <a:off x="8778240" y="2020888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22" name="crop-160"/>
          <p:cNvSpPr/>
          <p:nvPr/>
        </p:nvSpPr>
        <p:spPr>
          <a:xfrm>
            <a:off x="8723376" y="2075752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23" name="tab-161"/>
          <p:cNvSpPr/>
          <p:nvPr/>
        </p:nvSpPr>
        <p:spPr>
          <a:xfrm>
            <a:off x="6035040" y="2194560"/>
            <a:ext cx="64008" cy="68580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24" name="text-162"/>
          <p:cNvSpPr txBox="1"/>
          <p:nvPr/>
        </p:nvSpPr>
        <p:spPr>
          <a:xfrm>
            <a:off x="626364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เลื่อนหลายงานพร้อมกัน</a:t>
            </a:r>
            <a:endParaRPr lang="en-US" sz="1200" dirty="0"/>
          </a:p>
        </p:txBody>
      </p:sp>
      <p:sp>
        <p:nvSpPr>
          <p:cNvPr id="25" name="text-163"/>
          <p:cNvSpPr txBox="1"/>
          <p:nvPr/>
        </p:nvSpPr>
        <p:spPr>
          <a:xfrm>
            <a:off x="6263640" y="2487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เลือกงานในคิว แล้วกดเลื่อนไปสถานะถัดไปทีเดียว</a:t>
            </a:r>
            <a:endParaRPr lang="en-US" sz="1000" dirty="0"/>
          </a:p>
        </p:txBody>
      </p:sp>
      <p:sp>
        <p:nvSpPr>
          <p:cNvPr id="26" name="tab-164"/>
          <p:cNvSpPr/>
          <p:nvPr/>
        </p:nvSpPr>
        <p:spPr>
          <a:xfrm>
            <a:off x="6035040" y="3017520"/>
            <a:ext cx="64008" cy="68580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27" name="text-165"/>
          <p:cNvSpPr txBox="1"/>
          <p:nvPr/>
        </p:nvSpPr>
        <p:spPr>
          <a:xfrm>
            <a:off x="6263640" y="3017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เลือกได้เฉพาะขั้นถัดไป</a:t>
            </a:r>
            <a:endParaRPr lang="en-US" sz="1200" dirty="0"/>
          </a:p>
        </p:txBody>
      </p:sp>
      <p:sp>
        <p:nvSpPr>
          <p:cNvPr id="28" name="text-166"/>
          <p:cNvSpPr txBox="1"/>
          <p:nvPr/>
        </p:nvSpPr>
        <p:spPr>
          <a:xfrm>
            <a:off x="6263640" y="33101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เมนูสถานะถาม State ว่าไปต่อที่ไหนได้</a:t>
            </a:r>
            <a:endParaRPr lang="en-US" sz="1000" dirty="0"/>
          </a:p>
        </p:txBody>
      </p:sp>
      <p:sp>
        <p:nvSpPr>
          <p:cNvPr id="29" name="tab-167"/>
          <p:cNvSpPr/>
          <p:nvPr/>
        </p:nvSpPr>
        <p:spPr>
          <a:xfrm>
            <a:off x="6035040" y="3840480"/>
            <a:ext cx="64008" cy="68580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30" name="text-168"/>
          <p:cNvSpPr txBox="1"/>
          <p:nvPr/>
        </p:nvSpPr>
        <p:spPr>
          <a:xfrm>
            <a:off x="6263640" y="3840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ประวัติบันทึกให้เอง</a:t>
            </a:r>
            <a:endParaRPr lang="en-US" sz="1200" dirty="0"/>
          </a:p>
        </p:txBody>
      </p:sp>
      <p:sp>
        <p:nvSpPr>
          <p:cNvPr id="31" name="text-169"/>
          <p:cNvSpPr txBox="1"/>
          <p:nvPr/>
        </p:nvSpPr>
        <p:spPr>
          <a:xfrm>
            <a:off x="6263640" y="41330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ใครเปลี่ยน เปลี่ยนเมื่อไหร่ เก็บไว้ทุกครั้ง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Layered Architecture 4 ชั้น</a:t>
            </a:r>
            <a:endParaRPr lang="en-US" sz="2600" dirty="0"/>
          </a:p>
        </p:txBody>
      </p:sp>
      <p:sp>
        <p:nvSpPr>
          <p:cNvPr id="3" name="sheet-170"/>
          <p:cNvSpPr/>
          <p:nvPr/>
        </p:nvSpPr>
        <p:spPr>
          <a:xfrm>
            <a:off x="457200" y="1051560"/>
            <a:ext cx="5120640" cy="36118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pic>
        <p:nvPicPr>
          <p:cNvPr id="4" name="component-diagram" descr="Component diagram ของ Print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4937760" cy="3443012"/>
          </a:xfrm>
          <a:prstGeom prst="rect">
            <a:avLst/>
          </a:prstGeom>
        </p:spPr>
      </p:pic>
      <p:sp>
        <p:nvSpPr>
          <p:cNvPr id="5" name="sheet-171"/>
          <p:cNvSpPr/>
          <p:nvPr/>
        </p:nvSpPr>
        <p:spPr>
          <a:xfrm>
            <a:off x="5806440" y="1051560"/>
            <a:ext cx="2880360" cy="7772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6" name="tab-172"/>
          <p:cNvSpPr/>
          <p:nvPr/>
        </p:nvSpPr>
        <p:spPr>
          <a:xfrm>
            <a:off x="5806440" y="1051560"/>
            <a:ext cx="64008" cy="77724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7" name="text-173"/>
          <p:cNvSpPr txBox="1"/>
          <p:nvPr/>
        </p:nvSpPr>
        <p:spPr>
          <a:xfrm>
            <a:off x="6035040" y="10515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Presentation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REST API /api/v1/** และหน้าเว็บ Thymeleaf</a:t>
            </a:r>
            <a:endParaRPr lang="en-US" sz="1300" dirty="0"/>
          </a:p>
        </p:txBody>
      </p:sp>
      <p:sp>
        <p:nvSpPr>
          <p:cNvPr id="8" name="sheet-174"/>
          <p:cNvSpPr/>
          <p:nvPr/>
        </p:nvSpPr>
        <p:spPr>
          <a:xfrm>
            <a:off x="5806440" y="1965960"/>
            <a:ext cx="2880360" cy="7772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9" name="tab-175"/>
          <p:cNvSpPr/>
          <p:nvPr/>
        </p:nvSpPr>
        <p:spPr>
          <a:xfrm>
            <a:off x="5806440" y="1965960"/>
            <a:ext cx="64008" cy="77724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0" name="text-176"/>
          <p:cNvSpPr txBox="1"/>
          <p:nvPr/>
        </p:nvSpPr>
        <p:spPr>
          <a:xfrm>
            <a:off x="6035040" y="19659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Service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interface + impl, Strategy, State, Observer, Chain</a:t>
            </a:r>
            <a:endParaRPr lang="en-US" sz="1300" dirty="0"/>
          </a:p>
        </p:txBody>
      </p:sp>
      <p:sp>
        <p:nvSpPr>
          <p:cNvPr id="11" name="sheet-177"/>
          <p:cNvSpPr/>
          <p:nvPr/>
        </p:nvSpPr>
        <p:spPr>
          <a:xfrm>
            <a:off x="5806440" y="2880360"/>
            <a:ext cx="2880360" cy="7772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2" name="tab-178"/>
          <p:cNvSpPr/>
          <p:nvPr/>
        </p:nvSpPr>
        <p:spPr>
          <a:xfrm>
            <a:off x="5806440" y="2880360"/>
            <a:ext cx="64008" cy="77724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3" name="text-179"/>
          <p:cNvSpPr txBox="1"/>
          <p:nvPr/>
        </p:nvSpPr>
        <p:spPr>
          <a:xfrm>
            <a:off x="6035040" y="28803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Repository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Spring Data JPA</a:t>
            </a:r>
            <a:endParaRPr lang="en-US" sz="1300" dirty="0"/>
          </a:p>
        </p:txBody>
      </p:sp>
      <p:sp>
        <p:nvSpPr>
          <p:cNvPr id="14" name="sheet-180"/>
          <p:cNvSpPr/>
          <p:nvPr/>
        </p:nvSpPr>
        <p:spPr>
          <a:xfrm>
            <a:off x="5806440" y="3794760"/>
            <a:ext cx="2880360" cy="7772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5" name="tab-181"/>
          <p:cNvSpPr/>
          <p:nvPr/>
        </p:nvSpPr>
        <p:spPr>
          <a:xfrm>
            <a:off x="5806440" y="3794760"/>
            <a:ext cx="64008" cy="777240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16" name="text-182"/>
          <p:cNvSpPr txBox="1"/>
          <p:nvPr/>
        </p:nvSpPr>
        <p:spPr>
          <a:xfrm>
            <a:off x="6035040" y="37947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Database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PostgreSQL (Neon) + Flyway V1–V8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ฐานข้อมูล 13 ตาราง</a:t>
            </a:r>
            <a:endParaRPr lang="en-US" sz="2600" dirty="0"/>
          </a:p>
        </p:txBody>
      </p:sp>
      <p:sp>
        <p:nvSpPr>
          <p:cNvPr id="3" name="sheet-183"/>
          <p:cNvSpPr/>
          <p:nvPr/>
        </p:nvSpPr>
        <p:spPr>
          <a:xfrm>
            <a:off x="457200" y="1051560"/>
            <a:ext cx="6035040" cy="36118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pic>
        <p:nvPicPr>
          <p:cNvPr id="4" name="er-diagram" descr="ER diagram 13 ตารา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7369"/>
            <a:ext cx="5852160" cy="3080263"/>
          </a:xfrm>
          <a:prstGeom prst="rect">
            <a:avLst/>
          </a:prstGeom>
        </p:spPr>
      </p:pic>
      <p:sp>
        <p:nvSpPr>
          <p:cNvPr id="5" name="tab-184"/>
          <p:cNvSpPr/>
          <p:nvPr/>
        </p:nvSpPr>
        <p:spPr>
          <a:xfrm>
            <a:off x="6766560" y="1051560"/>
            <a:ext cx="64008" cy="105156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6" name="text-185"/>
          <p:cNvSpPr txBox="1"/>
          <p:nvPr/>
        </p:nvSpPr>
        <p:spPr>
          <a:xfrm>
            <a:off x="6995160" y="1051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13</a:t>
            </a:r>
            <a:endParaRPr lang="en-US" sz="3800" dirty="0"/>
          </a:p>
        </p:txBody>
      </p:sp>
      <p:sp>
        <p:nvSpPr>
          <p:cNvPr id="7" name="text-186"/>
          <p:cNvSpPr txBox="1"/>
          <p:nvPr/>
        </p:nvSpPr>
        <p:spPr>
          <a:xfrm>
            <a:off x="6995160" y="1737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ตาราง</a:t>
            </a:r>
            <a:endParaRPr lang="en-US" sz="1100" dirty="0"/>
          </a:p>
        </p:txBody>
      </p:sp>
      <p:sp>
        <p:nvSpPr>
          <p:cNvPr id="8" name="tab-187"/>
          <p:cNvSpPr/>
          <p:nvPr/>
        </p:nvSpPr>
        <p:spPr>
          <a:xfrm>
            <a:off x="6766560" y="2267712"/>
            <a:ext cx="64008" cy="105156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9" name="text-188"/>
          <p:cNvSpPr txBox="1"/>
          <p:nvPr/>
        </p:nvSpPr>
        <p:spPr>
          <a:xfrm>
            <a:off x="6995160" y="226771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8</a:t>
            </a:r>
            <a:endParaRPr lang="en-US" sz="3800" dirty="0"/>
          </a:p>
        </p:txBody>
      </p:sp>
      <p:sp>
        <p:nvSpPr>
          <p:cNvPr id="10" name="text-189"/>
          <p:cNvSpPr txBox="1"/>
          <p:nvPr/>
        </p:nvSpPr>
        <p:spPr>
          <a:xfrm>
            <a:off x="6995160" y="29535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Flyway migration</a:t>
            </a:r>
            <a:endParaRPr lang="en-US" sz="1100" dirty="0"/>
          </a:p>
        </p:txBody>
      </p:sp>
      <p:sp>
        <p:nvSpPr>
          <p:cNvPr id="11" name="tab-190"/>
          <p:cNvSpPr/>
          <p:nvPr/>
        </p:nvSpPr>
        <p:spPr>
          <a:xfrm>
            <a:off x="6766560" y="3483864"/>
            <a:ext cx="64008" cy="105156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2" name="text-191"/>
          <p:cNvSpPr txBox="1"/>
          <p:nvPr/>
        </p:nvSpPr>
        <p:spPr>
          <a:xfrm>
            <a:off x="6995160" y="348386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1:1  1:N  M:N</a:t>
            </a:r>
            <a:endParaRPr lang="en-US" sz="2000" dirty="0"/>
          </a:p>
        </p:txBody>
      </p:sp>
      <p:sp>
        <p:nvSpPr>
          <p:cNvPr id="13" name="text-192"/>
          <p:cNvSpPr txBox="1"/>
          <p:nvPr/>
        </p:nvSpPr>
        <p:spPr>
          <a:xfrm>
            <a:off x="6995160" y="416966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มีความสัมพันธ์ครบทุกแบบ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GoF Behavioral Patterns 4 ตัว</a:t>
            </a:r>
            <a:endParaRPr lang="en-US" sz="2600" dirty="0"/>
          </a:p>
        </p:txBody>
      </p:sp>
      <p:sp>
        <p:nvSpPr>
          <p:cNvPr id="3" name="sheet-193"/>
          <p:cNvSpPr/>
          <p:nvPr/>
        </p:nvSpPr>
        <p:spPr>
          <a:xfrm>
            <a:off x="457200" y="1097280"/>
            <a:ext cx="4023360" cy="15544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4" name="tab-194"/>
          <p:cNvSpPr/>
          <p:nvPr/>
        </p:nvSpPr>
        <p:spPr>
          <a:xfrm>
            <a:off x="457200" y="1097280"/>
            <a:ext cx="64008" cy="155448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195"/>
          <p:cNvSpPr txBox="1"/>
          <p:nvPr/>
        </p:nvSpPr>
        <p:spPr>
          <a:xfrm>
            <a:off x="77724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Strategy</a:t>
            </a:r>
            <a:endParaRPr lang="en-US" sz="1900" dirty="0"/>
          </a:p>
        </p:txBody>
      </p:sp>
      <p:sp>
        <p:nvSpPr>
          <p:cNvPr id="6" name="text-196"/>
          <p:cNvSpPr txBox="1"/>
          <p:nvPr/>
        </p:nvSpPr>
        <p:spPr>
          <a:xfrm>
            <a:off x="77724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D44"/>
                </a:solidFill>
              </a:rPr>
              <a:t>สูตรราคา 3 แบบ และส่วนลด 2 แบบ</a:t>
            </a:r>
            <a:endParaRPr lang="en-US" sz="1200" dirty="0"/>
          </a:p>
        </p:txBody>
      </p:sp>
      <p:sp>
        <p:nvSpPr>
          <p:cNvPr id="7" name="text-197"/>
          <p:cNvSpPr txBox="1"/>
          <p:nvPr/>
        </p:nvSpPr>
        <p:spPr>
          <a:xfrm>
            <a:off x="77724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ผู้รับผิดชอบ P2</a:t>
            </a:r>
            <a:endParaRPr lang="en-US" sz="1000" dirty="0"/>
          </a:p>
        </p:txBody>
      </p:sp>
      <p:sp>
        <p:nvSpPr>
          <p:cNvPr id="8" name="sheet-198"/>
          <p:cNvSpPr/>
          <p:nvPr/>
        </p:nvSpPr>
        <p:spPr>
          <a:xfrm>
            <a:off x="4663440" y="1097280"/>
            <a:ext cx="4023360" cy="15544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9" name="tab-199"/>
          <p:cNvSpPr/>
          <p:nvPr/>
        </p:nvSpPr>
        <p:spPr>
          <a:xfrm>
            <a:off x="4663440" y="1097280"/>
            <a:ext cx="64008" cy="155448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0" name="text-200"/>
          <p:cNvSpPr txBox="1"/>
          <p:nvPr/>
        </p:nvSpPr>
        <p:spPr>
          <a:xfrm>
            <a:off x="498348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State</a:t>
            </a:r>
            <a:endParaRPr lang="en-US" sz="1900" dirty="0"/>
          </a:p>
        </p:txBody>
      </p:sp>
      <p:sp>
        <p:nvSpPr>
          <p:cNvPr id="11" name="text-201"/>
          <p:cNvSpPr txBox="1"/>
          <p:nvPr/>
        </p:nvSpPr>
        <p:spPr>
          <a:xfrm>
            <a:off x="498348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D44"/>
                </a:solidFill>
              </a:rPr>
              <a:t>6 สถานะ แต่ละสถานะรู้ว่าไปต่อที่ไหนได้</a:t>
            </a:r>
            <a:endParaRPr lang="en-US" sz="1200" dirty="0"/>
          </a:p>
        </p:txBody>
      </p:sp>
      <p:sp>
        <p:nvSpPr>
          <p:cNvPr id="12" name="text-202"/>
          <p:cNvSpPr txBox="1"/>
          <p:nvPr/>
        </p:nvSpPr>
        <p:spPr>
          <a:xfrm>
            <a:off x="498348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ผู้รับผิดชอบ P4</a:t>
            </a:r>
            <a:endParaRPr lang="en-US" sz="1000" dirty="0"/>
          </a:p>
        </p:txBody>
      </p:sp>
      <p:sp>
        <p:nvSpPr>
          <p:cNvPr id="13" name="sheet-203"/>
          <p:cNvSpPr/>
          <p:nvPr/>
        </p:nvSpPr>
        <p:spPr>
          <a:xfrm>
            <a:off x="457200" y="2834640"/>
            <a:ext cx="4023360" cy="15544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4" name="tab-204"/>
          <p:cNvSpPr/>
          <p:nvPr/>
        </p:nvSpPr>
        <p:spPr>
          <a:xfrm>
            <a:off x="457200" y="2834640"/>
            <a:ext cx="64008" cy="155448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5" name="text-205"/>
          <p:cNvSpPr txBox="1"/>
          <p:nvPr/>
        </p:nvSpPr>
        <p:spPr>
          <a:xfrm>
            <a:off x="777240" y="3063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Observer</a:t>
            </a:r>
            <a:endParaRPr lang="en-US" sz="1900" dirty="0"/>
          </a:p>
        </p:txBody>
      </p:sp>
      <p:sp>
        <p:nvSpPr>
          <p:cNvPr id="16" name="text-206"/>
          <p:cNvSpPr txBox="1"/>
          <p:nvPr/>
        </p:nvSpPr>
        <p:spPr>
          <a:xfrm>
            <a:off x="77724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D44"/>
                </a:solidFill>
              </a:rPr>
              <a:t>event 2 ตัว ส่งต่อให้ listener 5 ตัว</a:t>
            </a:r>
            <a:endParaRPr lang="en-US" sz="1200" dirty="0"/>
          </a:p>
        </p:txBody>
      </p:sp>
      <p:sp>
        <p:nvSpPr>
          <p:cNvPr id="17" name="text-207"/>
          <p:cNvSpPr txBox="1"/>
          <p:nvPr/>
        </p:nvSpPr>
        <p:spPr>
          <a:xfrm>
            <a:off x="777240" y="3931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ผู้รับผิดชอบ P4</a:t>
            </a:r>
            <a:endParaRPr lang="en-US" sz="1000" dirty="0"/>
          </a:p>
        </p:txBody>
      </p:sp>
      <p:sp>
        <p:nvSpPr>
          <p:cNvPr id="18" name="sheet-208"/>
          <p:cNvSpPr/>
          <p:nvPr/>
        </p:nvSpPr>
        <p:spPr>
          <a:xfrm>
            <a:off x="4663440" y="2834640"/>
            <a:ext cx="4023360" cy="15544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9" name="tab-209"/>
          <p:cNvSpPr/>
          <p:nvPr/>
        </p:nvSpPr>
        <p:spPr>
          <a:xfrm>
            <a:off x="4663440" y="2834640"/>
            <a:ext cx="64008" cy="1554480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20" name="text-210"/>
          <p:cNvSpPr txBox="1"/>
          <p:nvPr/>
        </p:nvSpPr>
        <p:spPr>
          <a:xfrm>
            <a:off x="4983480" y="3063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Chain of Responsibility</a:t>
            </a:r>
            <a:endParaRPr lang="en-US" sz="1900" dirty="0"/>
          </a:p>
        </p:txBody>
      </p:sp>
      <p:sp>
        <p:nvSpPr>
          <p:cNvPr id="21" name="text-211"/>
          <p:cNvSpPr txBox="1"/>
          <p:nvPr/>
        </p:nvSpPr>
        <p:spPr>
          <a:xfrm>
            <a:off x="498348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D44"/>
                </a:solidFill>
              </a:rPr>
              <a:t>ตรวจคำสั่งพิมพ์ 5 ขั้นก่อนบันทึก</a:t>
            </a:r>
            <a:endParaRPr lang="en-US" sz="1200" dirty="0"/>
          </a:p>
        </p:txBody>
      </p:sp>
      <p:sp>
        <p:nvSpPr>
          <p:cNvPr id="22" name="text-212"/>
          <p:cNvSpPr txBox="1"/>
          <p:nvPr/>
        </p:nvSpPr>
        <p:spPr>
          <a:xfrm>
            <a:off x="4983480" y="3931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ผู้รับผิดชอบ P3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Strategy: คิดราคาโดยไม่มี if-else</a:t>
            </a:r>
            <a:endParaRPr lang="en-US" sz="2600" dirty="0"/>
          </a:p>
        </p:txBody>
      </p:sp>
      <p:graphicFrame>
        <p:nvGraphicFramePr>
          <p:cNvPr id="13" name="pricin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48463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5661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ประเภทงาน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สูตร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ขาวดำ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ราคา × หน้า × ชุด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สี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ราคา × หน้า × ชุด (เกิน 50 หน้า ลด 10%)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ภาพถ่าย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ราคา × จำนวนแผ่น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งานเก็บเล่ม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ราคา × จำนวนชุด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ส่วนลด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</a:rPr>
                        <a:t>เปอร์เซ็นต์ หรือ ลดเป็นบาท</a:t>
                      </a:r>
                      <a:endParaRPr lang="en-US" sz="12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eet-213"/>
          <p:cNvSpPr/>
          <p:nvPr/>
        </p:nvSpPr>
        <p:spPr>
          <a:xfrm>
            <a:off x="5715000" y="1097280"/>
            <a:ext cx="2926080" cy="32918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5" name="crop-214"/>
          <p:cNvSpPr/>
          <p:nvPr/>
        </p:nvSpPr>
        <p:spPr>
          <a:xfrm>
            <a:off x="5513832" y="1097280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crop-215"/>
          <p:cNvSpPr/>
          <p:nvPr/>
        </p:nvSpPr>
        <p:spPr>
          <a:xfrm>
            <a:off x="5715000" y="896112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crop-216"/>
          <p:cNvSpPr/>
          <p:nvPr/>
        </p:nvSpPr>
        <p:spPr>
          <a:xfrm>
            <a:off x="8695944" y="1097280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8" name="crop-217"/>
          <p:cNvSpPr/>
          <p:nvPr/>
        </p:nvSpPr>
        <p:spPr>
          <a:xfrm>
            <a:off x="8641080" y="896112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9" name="crop-218"/>
          <p:cNvSpPr/>
          <p:nvPr/>
        </p:nvSpPr>
        <p:spPr>
          <a:xfrm>
            <a:off x="5513832" y="4389120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0" name="crop-219"/>
          <p:cNvSpPr/>
          <p:nvPr/>
        </p:nvSpPr>
        <p:spPr>
          <a:xfrm>
            <a:off x="5715000" y="4443984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crop-220"/>
          <p:cNvSpPr/>
          <p:nvPr/>
        </p:nvSpPr>
        <p:spPr>
          <a:xfrm>
            <a:off x="8695944" y="4389120"/>
            <a:ext cx="146304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2" name="crop-221"/>
          <p:cNvSpPr/>
          <p:nvPr/>
        </p:nvSpPr>
        <p:spPr>
          <a:xfrm>
            <a:off x="8641080" y="4443984"/>
            <a:ext cx="0" cy="146304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3" name="text-222"/>
          <p:cNvSpPr txBox="1"/>
          <p:nvPr/>
        </p:nvSpPr>
        <p:spPr>
          <a:xfrm>
            <a:off x="5943600" y="1280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ตัวอย่างจริง</a:t>
            </a:r>
            <a:endParaRPr lang="en-US" sz="1400" dirty="0"/>
          </a:p>
        </p:txBody>
      </p:sp>
      <p:sp>
        <p:nvSpPr>
          <p:cNvPr id="14" name="text-223"/>
          <p:cNvSpPr txBox="1"/>
          <p:nvPr/>
        </p:nvSpPr>
        <p:spPr>
          <a:xfrm>
            <a:off x="5943600" y="1645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D44"/>
                </a:solidFill>
              </a:rPr>
              <a:t>เอกสารสี 40 หน้า × 2 ชุด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3D44"/>
                </a:solidFill>
              </a:rPr>
              <a:t>+ เย็บมุม 2 ชุด, โค้ด SAVE10</a:t>
            </a:r>
            <a:endParaRPr lang="en-US" sz="1100" dirty="0"/>
          </a:p>
        </p:txBody>
      </p:sp>
      <p:sp>
        <p:nvSpPr>
          <p:cNvPr id="15" name="text-224"/>
          <p:cNvSpPr txBox="1"/>
          <p:nvPr/>
        </p:nvSpPr>
        <p:spPr>
          <a:xfrm>
            <a:off x="594360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5.00 × 40 × 2</a:t>
            </a:r>
            <a:endParaRPr lang="en-US" sz="1100" dirty="0"/>
          </a:p>
        </p:txBody>
      </p:sp>
      <p:sp>
        <p:nvSpPr>
          <p:cNvPr id="16" name="text-225"/>
          <p:cNvSpPr txBox="1"/>
          <p:nvPr/>
        </p:nvSpPr>
        <p:spPr>
          <a:xfrm>
            <a:off x="7406640" y="2331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400.00</a:t>
            </a:r>
            <a:endParaRPr lang="en-US" sz="1100" dirty="0"/>
          </a:p>
        </p:txBody>
      </p:sp>
      <p:sp>
        <p:nvSpPr>
          <p:cNvPr id="17" name="text-226"/>
          <p:cNvSpPr txBox="1"/>
          <p:nvPr/>
        </p:nvSpPr>
        <p:spPr>
          <a:xfrm>
            <a:off x="5943600" y="26609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2.00 × 2</a:t>
            </a:r>
            <a:endParaRPr lang="en-US" sz="1100" dirty="0"/>
          </a:p>
        </p:txBody>
      </p:sp>
      <p:sp>
        <p:nvSpPr>
          <p:cNvPr id="18" name="text-227"/>
          <p:cNvSpPr txBox="1"/>
          <p:nvPr/>
        </p:nvSpPr>
        <p:spPr>
          <a:xfrm>
            <a:off x="7406640" y="26609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4.00</a:t>
            </a:r>
            <a:endParaRPr lang="en-US" sz="1100" dirty="0"/>
          </a:p>
        </p:txBody>
      </p:sp>
      <p:sp>
        <p:nvSpPr>
          <p:cNvPr id="19" name="text-228"/>
          <p:cNvSpPr txBox="1"/>
          <p:nvPr/>
        </p:nvSpPr>
        <p:spPr>
          <a:xfrm>
            <a:off x="5943600" y="2990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ลด 10%</a:t>
            </a:r>
            <a:endParaRPr lang="en-US" sz="1100" dirty="0"/>
          </a:p>
        </p:txBody>
      </p:sp>
      <p:sp>
        <p:nvSpPr>
          <p:cNvPr id="20" name="text-229"/>
          <p:cNvSpPr txBox="1"/>
          <p:nvPr/>
        </p:nvSpPr>
        <p:spPr>
          <a:xfrm>
            <a:off x="7406640" y="2990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−40.40</a:t>
            </a:r>
            <a:endParaRPr lang="en-US" sz="1100" dirty="0"/>
          </a:p>
        </p:txBody>
      </p:sp>
      <p:sp>
        <p:nvSpPr>
          <p:cNvPr id="21" name="strategy-rule"/>
          <p:cNvSpPr/>
          <p:nvPr/>
        </p:nvSpPr>
        <p:spPr>
          <a:xfrm>
            <a:off x="5943600" y="3383280"/>
            <a:ext cx="2468880" cy="0"/>
          </a:xfrm>
          <a:prstGeom prst="line">
            <a:avLst/>
          </a:prstGeom>
          <a:noFill/>
          <a:ln w="12700">
            <a:solidFill>
              <a:srgbClr val="16181D"/>
            </a:solidFill>
            <a:prstDash val="solid"/>
          </a:ln>
        </p:spPr>
      </p:sp>
      <p:sp>
        <p:nvSpPr>
          <p:cNvPr id="22" name="text-230"/>
          <p:cNvSpPr txBox="1"/>
          <p:nvPr/>
        </p:nvSpPr>
        <p:spPr>
          <a:xfrm>
            <a:off x="594360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363.60</a:t>
            </a:r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 บาท</a:t>
            </a:r>
            <a:endParaRPr lang="en-US" sz="1300" dirty="0"/>
          </a:p>
        </p:txBody>
      </p:sp>
      <p:sp>
        <p:nvSpPr>
          <p:cNvPr id="23" name="text-231"/>
          <p:cNvSpPr txBox="1"/>
          <p:nvPr/>
        </p:nvSpPr>
        <p:spPr>
          <a:xfrm>
            <a:off x="45720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เพิ่มประเภทใหม่ = เพิ่มคลาสใหม่ ไม่แก้ของเดิม (OCP)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State: กฎเปลี่ยนสถานะอยู่ในคลาสของแต่ละสถานะ</a:t>
            </a:r>
            <a:endParaRPr lang="en-US" sz="2600" dirty="0"/>
          </a:p>
        </p:txBody>
      </p:sp>
      <p:sp>
        <p:nvSpPr>
          <p:cNvPr id="3" name="state-232"/>
          <p:cNvSpPr/>
          <p:nvPr/>
        </p:nvSpPr>
        <p:spPr>
          <a:xfrm>
            <a:off x="457200" y="1325880"/>
            <a:ext cx="1371600" cy="64008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4" name="text-233"/>
          <p:cNvSpPr txBox="1"/>
          <p:nvPr/>
        </p:nvSpPr>
        <p:spPr>
          <a:xfrm>
            <a:off x="457200" y="13258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81D"/>
                </a:solidFill>
              </a:rPr>
              <a:t>รอยืนยัน</a:t>
            </a:r>
            <a:endParaRPr lang="en-US" sz="1200" dirty="0"/>
          </a:p>
        </p:txBody>
      </p:sp>
      <p:sp>
        <p:nvSpPr>
          <p:cNvPr id="5" name="state-arrow-234"/>
          <p:cNvSpPr/>
          <p:nvPr/>
        </p:nvSpPr>
        <p:spPr>
          <a:xfrm>
            <a:off x="1874520" y="1645920"/>
            <a:ext cx="219456" cy="0"/>
          </a:xfrm>
          <a:prstGeom prst="line">
            <a:avLst/>
          </a:prstGeom>
          <a:noFill/>
          <a:ln w="15875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6" name="state-235"/>
          <p:cNvSpPr/>
          <p:nvPr/>
        </p:nvSpPr>
        <p:spPr>
          <a:xfrm>
            <a:off x="2139696" y="1325880"/>
            <a:ext cx="1371600" cy="64008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7" name="text-236"/>
          <p:cNvSpPr txBox="1"/>
          <p:nvPr/>
        </p:nvSpPr>
        <p:spPr>
          <a:xfrm>
            <a:off x="2139696" y="13258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ร้านรับงานแล้ว</a:t>
            </a:r>
            <a:endParaRPr lang="en-US" sz="1200" dirty="0"/>
          </a:p>
        </p:txBody>
      </p:sp>
      <p:sp>
        <p:nvSpPr>
          <p:cNvPr id="8" name="state-arrow-237"/>
          <p:cNvSpPr/>
          <p:nvPr/>
        </p:nvSpPr>
        <p:spPr>
          <a:xfrm>
            <a:off x="3557016" y="1645920"/>
            <a:ext cx="219456" cy="0"/>
          </a:xfrm>
          <a:prstGeom prst="line">
            <a:avLst/>
          </a:prstGeom>
          <a:noFill/>
          <a:ln w="15875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9" name="state-238"/>
          <p:cNvSpPr/>
          <p:nvPr/>
        </p:nvSpPr>
        <p:spPr>
          <a:xfrm>
            <a:off x="3822192" y="1325880"/>
            <a:ext cx="1371600" cy="64008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0" name="text-239"/>
          <p:cNvSpPr txBox="1"/>
          <p:nvPr/>
        </p:nvSpPr>
        <p:spPr>
          <a:xfrm>
            <a:off x="3822192" y="13258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กำลังพิมพ์</a:t>
            </a:r>
            <a:endParaRPr lang="en-US" sz="1200" dirty="0"/>
          </a:p>
        </p:txBody>
      </p:sp>
      <p:sp>
        <p:nvSpPr>
          <p:cNvPr id="11" name="state-arrow-240"/>
          <p:cNvSpPr/>
          <p:nvPr/>
        </p:nvSpPr>
        <p:spPr>
          <a:xfrm>
            <a:off x="5239512" y="1645920"/>
            <a:ext cx="219456" cy="0"/>
          </a:xfrm>
          <a:prstGeom prst="line">
            <a:avLst/>
          </a:prstGeom>
          <a:noFill/>
          <a:ln w="15875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12" name="state-241"/>
          <p:cNvSpPr/>
          <p:nvPr/>
        </p:nvSpPr>
        <p:spPr>
          <a:xfrm>
            <a:off x="5504688" y="1325880"/>
            <a:ext cx="1371600" cy="640080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13" name="text-242"/>
          <p:cNvSpPr txBox="1"/>
          <p:nvPr/>
        </p:nvSpPr>
        <p:spPr>
          <a:xfrm>
            <a:off x="5504688" y="13258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พร้อมรับงาน</a:t>
            </a:r>
            <a:endParaRPr lang="en-US" sz="1200" dirty="0"/>
          </a:p>
        </p:txBody>
      </p:sp>
      <p:sp>
        <p:nvSpPr>
          <p:cNvPr id="14" name="state-arrow-243"/>
          <p:cNvSpPr/>
          <p:nvPr/>
        </p:nvSpPr>
        <p:spPr>
          <a:xfrm>
            <a:off x="6922008" y="1645920"/>
            <a:ext cx="219456" cy="0"/>
          </a:xfrm>
          <a:prstGeom prst="line">
            <a:avLst/>
          </a:prstGeom>
          <a:noFill/>
          <a:ln w="15875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15" name="state-244"/>
          <p:cNvSpPr/>
          <p:nvPr/>
        </p:nvSpPr>
        <p:spPr>
          <a:xfrm>
            <a:off x="7187184" y="1325880"/>
            <a:ext cx="1371600" cy="640080"/>
          </a:xfrm>
          <a:prstGeom prst="rect">
            <a:avLst/>
          </a:prstGeom>
          <a:solidFill>
            <a:srgbClr val="8B8C8E"/>
          </a:solidFill>
          <a:ln w="12700">
            <a:solidFill>
              <a:srgbClr val="8B8C8E"/>
            </a:solidFill>
            <a:prstDash val="solid"/>
          </a:ln>
        </p:spPr>
      </p:sp>
      <p:sp>
        <p:nvSpPr>
          <p:cNvPr id="16" name="text-245"/>
          <p:cNvSpPr txBox="1"/>
          <p:nvPr/>
        </p:nvSpPr>
        <p:spPr>
          <a:xfrm>
            <a:off x="7187184" y="13258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ส่งมอบแล้ว</a:t>
            </a:r>
            <a:endParaRPr lang="en-US" sz="1200" dirty="0"/>
          </a:p>
        </p:txBody>
      </p:sp>
      <p:sp>
        <p:nvSpPr>
          <p:cNvPr id="17" name="cancel-1"/>
          <p:cNvSpPr/>
          <p:nvPr/>
        </p:nvSpPr>
        <p:spPr>
          <a:xfrm>
            <a:off x="1143000" y="1965960"/>
            <a:ext cx="0" cy="457200"/>
          </a:xfrm>
          <a:prstGeom prst="line">
            <a:avLst/>
          </a:prstGeom>
          <a:noFill/>
          <a:ln w="12700">
            <a:solidFill>
              <a:srgbClr val="D6246E"/>
            </a:solidFill>
            <a:prstDash val="dash"/>
          </a:ln>
        </p:spPr>
      </p:sp>
      <p:sp>
        <p:nvSpPr>
          <p:cNvPr id="18" name="cancel-2"/>
          <p:cNvSpPr/>
          <p:nvPr/>
        </p:nvSpPr>
        <p:spPr>
          <a:xfrm>
            <a:off x="2825496" y="1965960"/>
            <a:ext cx="0" cy="457200"/>
          </a:xfrm>
          <a:prstGeom prst="line">
            <a:avLst/>
          </a:prstGeom>
          <a:noFill/>
          <a:ln w="12700">
            <a:solidFill>
              <a:srgbClr val="D6246E"/>
            </a:solidFill>
            <a:prstDash val="dash"/>
          </a:ln>
        </p:spPr>
      </p:sp>
      <p:sp>
        <p:nvSpPr>
          <p:cNvPr id="19" name="cancel-3"/>
          <p:cNvSpPr/>
          <p:nvPr/>
        </p:nvSpPr>
        <p:spPr>
          <a:xfrm>
            <a:off x="1143000" y="2423160"/>
            <a:ext cx="1682496" cy="0"/>
          </a:xfrm>
          <a:prstGeom prst="line">
            <a:avLst/>
          </a:prstGeom>
          <a:noFill/>
          <a:ln w="12700">
            <a:solidFill>
              <a:srgbClr val="D6246E"/>
            </a:solidFill>
            <a:prstDash val="dash"/>
          </a:ln>
        </p:spPr>
      </p:sp>
      <p:sp>
        <p:nvSpPr>
          <p:cNvPr id="20" name="state-cancel"/>
          <p:cNvSpPr/>
          <p:nvPr/>
        </p:nvSpPr>
        <p:spPr>
          <a:xfrm>
            <a:off x="1298448" y="2578608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21" name="text-246"/>
          <p:cNvSpPr txBox="1"/>
          <p:nvPr/>
        </p:nvSpPr>
        <p:spPr>
          <a:xfrm>
            <a:off x="1298448" y="25786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ยกเลิก</a:t>
            </a:r>
            <a:endParaRPr lang="en-US" sz="1200" dirty="0"/>
          </a:p>
        </p:txBody>
      </p:sp>
      <p:sp>
        <p:nvSpPr>
          <p:cNvPr id="22" name="cancel-4"/>
          <p:cNvSpPr/>
          <p:nvPr/>
        </p:nvSpPr>
        <p:spPr>
          <a:xfrm>
            <a:off x="1984248" y="2423160"/>
            <a:ext cx="0" cy="155448"/>
          </a:xfrm>
          <a:prstGeom prst="line">
            <a:avLst/>
          </a:prstGeom>
          <a:noFill/>
          <a:ln w="12700">
            <a:solidFill>
              <a:srgbClr val="D6246E"/>
            </a:solidFill>
            <a:prstDash val="dash"/>
            <a:tailEnd type="triangle"/>
          </a:ln>
        </p:spPr>
      </p:sp>
      <p:sp>
        <p:nvSpPr>
          <p:cNvPr id="23" name="sheet-247"/>
          <p:cNvSpPr/>
          <p:nvPr/>
        </p:nvSpPr>
        <p:spPr>
          <a:xfrm>
            <a:off x="3840480" y="2331720"/>
            <a:ext cx="484632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24" name="text-248"/>
          <p:cNvSpPr txBox="1"/>
          <p:nvPr/>
        </p:nvSpPr>
        <p:spPr>
          <a:xfrm>
            <a:off x="4069080" y="2514600"/>
            <a:ext cx="4434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เปลี่ยนผิดลำดับ ตอบ 409 Conflict ไม่บันทึกและไม่ส่ง event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หน้าพนักงานถาม State โดยตรงว่าไปต่อสถานะไหนได้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ลูกค้ายกเลิกเองได้เฉพาะตอนรอร้านยืนยัน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ยกเลิกหลังจ่ายเงินแล้ว ระบบคืนเงินให้อัตโนมัติ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Observer: งานตามหลังไม่ต้องแก้ service</a:t>
            </a:r>
            <a:endParaRPr lang="en-US" sz="2600" dirty="0"/>
          </a:p>
        </p:txBody>
      </p:sp>
      <p:sp>
        <p:nvSpPr>
          <p:cNvPr id="3" name="event-249"/>
          <p:cNvSpPr/>
          <p:nvPr/>
        </p:nvSpPr>
        <p:spPr>
          <a:xfrm>
            <a:off x="457200" y="1097280"/>
            <a:ext cx="3017520" cy="1325880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4" name="tab-250"/>
          <p:cNvSpPr/>
          <p:nvPr/>
        </p:nvSpPr>
        <p:spPr>
          <a:xfrm>
            <a:off x="457200" y="1097280"/>
            <a:ext cx="64008" cy="132588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251"/>
          <p:cNvSpPr txBox="1"/>
          <p:nvPr/>
        </p:nvSpPr>
        <p:spPr>
          <a:xfrm>
            <a:off x="731520" y="1097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D97"/>
                </a:solidFill>
              </a:rPr>
              <a:t>สร้าง order ใหม่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OrderCreatedEvent</a:t>
            </a:r>
            <a:endParaRPr lang="en-US" sz="1300" dirty="0"/>
          </a:p>
        </p:txBody>
      </p:sp>
      <p:sp>
        <p:nvSpPr>
          <p:cNvPr id="6" name="event-arrow-252"/>
          <p:cNvSpPr/>
          <p:nvPr/>
        </p:nvSpPr>
        <p:spPr>
          <a:xfrm>
            <a:off x="3566160" y="1755648"/>
            <a:ext cx="411480" cy="0"/>
          </a:xfrm>
          <a:prstGeom prst="line">
            <a:avLst/>
          </a:prstGeom>
          <a:noFill/>
          <a:ln w="19050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7" name="sheet-253"/>
          <p:cNvSpPr/>
          <p:nvPr/>
        </p:nvSpPr>
        <p:spPr>
          <a:xfrm>
            <a:off x="4069080" y="1097280"/>
            <a:ext cx="4617720" cy="13258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8" name="text-254"/>
          <p:cNvSpPr txBox="1"/>
          <p:nvPr/>
        </p:nvSpPr>
        <p:spPr>
          <a:xfrm>
            <a:off x="4297680" y="118872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สร้าง payment สถานะ UNPAID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แจ้งเตือนพนักงานว่ามีงานใหม่</a:t>
            </a:r>
            <a:endParaRPr lang="en-US" sz="1200" dirty="0"/>
          </a:p>
        </p:txBody>
      </p:sp>
      <p:sp>
        <p:nvSpPr>
          <p:cNvPr id="9" name="event-255"/>
          <p:cNvSpPr/>
          <p:nvPr/>
        </p:nvSpPr>
        <p:spPr>
          <a:xfrm>
            <a:off x="457200" y="2606040"/>
            <a:ext cx="3017520" cy="1325880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10" name="tab-256"/>
          <p:cNvSpPr/>
          <p:nvPr/>
        </p:nvSpPr>
        <p:spPr>
          <a:xfrm>
            <a:off x="457200" y="2606040"/>
            <a:ext cx="64008" cy="132588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1" name="text-257"/>
          <p:cNvSpPr txBox="1"/>
          <p:nvPr/>
        </p:nvSpPr>
        <p:spPr>
          <a:xfrm>
            <a:off x="731520" y="260604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D97"/>
                </a:solidFill>
              </a:rPr>
              <a:t>เปลี่ยนสถานะ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OrderStatusChangedEvent</a:t>
            </a:r>
            <a:endParaRPr lang="en-US" sz="1300" dirty="0"/>
          </a:p>
        </p:txBody>
      </p:sp>
      <p:sp>
        <p:nvSpPr>
          <p:cNvPr id="12" name="event-arrow-258"/>
          <p:cNvSpPr/>
          <p:nvPr/>
        </p:nvSpPr>
        <p:spPr>
          <a:xfrm>
            <a:off x="3566160" y="3264408"/>
            <a:ext cx="411480" cy="0"/>
          </a:xfrm>
          <a:prstGeom prst="line">
            <a:avLst/>
          </a:prstGeom>
          <a:noFill/>
          <a:ln w="19050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13" name="sheet-259"/>
          <p:cNvSpPr/>
          <p:nvPr/>
        </p:nvSpPr>
        <p:spPr>
          <a:xfrm>
            <a:off x="4069080" y="2606040"/>
            <a:ext cx="4617720" cy="13258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4" name="text-260"/>
          <p:cNvSpPr txBox="1"/>
          <p:nvPr/>
        </p:nvSpPr>
        <p:spPr>
          <a:xfrm>
            <a:off x="4297680" y="269748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บันทึกประวัติสถานะ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แจ้งเตือนลูกค้า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ยกเลิกหลังจ่ายแล้ว คืนเงิน (REFUNDED)</a:t>
            </a:r>
            <a:endParaRPr lang="en-US" sz="1200" dirty="0"/>
          </a:p>
        </p:txBody>
      </p:sp>
      <p:sp>
        <p:nvSpPr>
          <p:cNvPr id="15" name="text-26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ทดสอบทั้ง flow จริงใน ObserverIntegrationTest: สร้าง ยืนยัน จ่าย แล้วยกเลิก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Chain of Responsibility: ตรวจคำสั่งพิมพ์ 5 ขั้น</a:t>
            </a:r>
            <a:endParaRPr lang="en-US" sz="2600" dirty="0"/>
          </a:p>
        </p:txBody>
      </p:sp>
      <p:sp>
        <p:nvSpPr>
          <p:cNvPr id="3" name="sheet-262"/>
          <p:cNvSpPr/>
          <p:nvPr/>
        </p:nvSpPr>
        <p:spPr>
          <a:xfrm>
            <a:off x="457200" y="1188720"/>
            <a:ext cx="1463040" cy="16916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4" name="handler-top-263"/>
          <p:cNvSpPr/>
          <p:nvPr/>
        </p:nvSpPr>
        <p:spPr>
          <a:xfrm>
            <a:off x="457200" y="1188720"/>
            <a:ext cx="1463040" cy="73152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264"/>
          <p:cNvSpPr txBox="1"/>
          <p:nvPr/>
        </p:nvSpPr>
        <p:spPr>
          <a:xfrm>
            <a:off x="640080" y="13716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-265"/>
          <p:cNvSpPr txBox="1"/>
          <p:nvPr/>
        </p:nvSpPr>
        <p:spPr>
          <a:xfrm>
            <a:off x="640080" y="19202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บริการเปิดให้บริการอยู่</a:t>
            </a:r>
            <a:endParaRPr lang="en-US" sz="1250" dirty="0"/>
          </a:p>
        </p:txBody>
      </p:sp>
      <p:sp>
        <p:nvSpPr>
          <p:cNvPr id="7" name="handler-arrow-266"/>
          <p:cNvSpPr/>
          <p:nvPr/>
        </p:nvSpPr>
        <p:spPr>
          <a:xfrm>
            <a:off x="1938528" y="2029968"/>
            <a:ext cx="182880" cy="0"/>
          </a:xfrm>
          <a:prstGeom prst="line">
            <a:avLst/>
          </a:prstGeom>
          <a:noFill/>
          <a:ln w="15875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8" name="sheet-267"/>
          <p:cNvSpPr/>
          <p:nvPr/>
        </p:nvSpPr>
        <p:spPr>
          <a:xfrm>
            <a:off x="2139696" y="1188720"/>
            <a:ext cx="1463040" cy="16916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9" name="handler-top-268"/>
          <p:cNvSpPr/>
          <p:nvPr/>
        </p:nvSpPr>
        <p:spPr>
          <a:xfrm>
            <a:off x="2139696" y="1188720"/>
            <a:ext cx="1463040" cy="73152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0" name="text-269"/>
          <p:cNvSpPr txBox="1"/>
          <p:nvPr/>
        </p:nvSpPr>
        <p:spPr>
          <a:xfrm>
            <a:off x="2322576" y="13716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</a:t>
            </a:r>
            <a:endParaRPr lang="en-US" sz="2800" dirty="0"/>
          </a:p>
        </p:txBody>
      </p:sp>
      <p:sp>
        <p:nvSpPr>
          <p:cNvPr id="11" name="text-270"/>
          <p:cNvSpPr txBox="1"/>
          <p:nvPr/>
        </p:nvSpPr>
        <p:spPr>
          <a:xfrm>
            <a:off x="2322576" y="19202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ไฟล์เป็น PDF JPG หรือ PNG</a:t>
            </a:r>
            <a:endParaRPr lang="en-US" sz="1250" dirty="0"/>
          </a:p>
        </p:txBody>
      </p:sp>
      <p:sp>
        <p:nvSpPr>
          <p:cNvPr id="12" name="handler-arrow-271"/>
          <p:cNvSpPr/>
          <p:nvPr/>
        </p:nvSpPr>
        <p:spPr>
          <a:xfrm>
            <a:off x="3621024" y="2029968"/>
            <a:ext cx="182880" cy="0"/>
          </a:xfrm>
          <a:prstGeom prst="line">
            <a:avLst/>
          </a:prstGeom>
          <a:noFill/>
          <a:ln w="15875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13" name="sheet-272"/>
          <p:cNvSpPr/>
          <p:nvPr/>
        </p:nvSpPr>
        <p:spPr>
          <a:xfrm>
            <a:off x="3822192" y="1188720"/>
            <a:ext cx="1463040" cy="16916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4" name="handler-top-273"/>
          <p:cNvSpPr/>
          <p:nvPr/>
        </p:nvSpPr>
        <p:spPr>
          <a:xfrm>
            <a:off x="3822192" y="1188720"/>
            <a:ext cx="1463040" cy="73152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5" name="text-274"/>
          <p:cNvSpPr txBox="1"/>
          <p:nvPr/>
        </p:nvSpPr>
        <p:spPr>
          <a:xfrm>
            <a:off x="4005072" y="13716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</a:t>
            </a:r>
            <a:endParaRPr lang="en-US" sz="2800" dirty="0"/>
          </a:p>
        </p:txBody>
      </p:sp>
      <p:sp>
        <p:nvSpPr>
          <p:cNvPr id="16" name="text-275"/>
          <p:cNvSpPr txBox="1"/>
          <p:nvPr/>
        </p:nvSpPr>
        <p:spPr>
          <a:xfrm>
            <a:off x="4005072" y="19202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จำนวนหน้าและชุดมากกว่า 0</a:t>
            </a:r>
            <a:endParaRPr lang="en-US" sz="1250" dirty="0"/>
          </a:p>
        </p:txBody>
      </p:sp>
      <p:sp>
        <p:nvSpPr>
          <p:cNvPr id="17" name="handler-arrow-276"/>
          <p:cNvSpPr/>
          <p:nvPr/>
        </p:nvSpPr>
        <p:spPr>
          <a:xfrm>
            <a:off x="5303520" y="2029968"/>
            <a:ext cx="182880" cy="0"/>
          </a:xfrm>
          <a:prstGeom prst="line">
            <a:avLst/>
          </a:prstGeom>
          <a:noFill/>
          <a:ln w="15875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18" name="sheet-277"/>
          <p:cNvSpPr/>
          <p:nvPr/>
        </p:nvSpPr>
        <p:spPr>
          <a:xfrm>
            <a:off x="5504688" y="1188720"/>
            <a:ext cx="1463040" cy="16916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9" name="handler-top-278"/>
          <p:cNvSpPr/>
          <p:nvPr/>
        </p:nvSpPr>
        <p:spPr>
          <a:xfrm>
            <a:off x="5504688" y="1188720"/>
            <a:ext cx="1463040" cy="73152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20" name="text-279"/>
          <p:cNvSpPr txBox="1"/>
          <p:nvPr/>
        </p:nvSpPr>
        <p:spPr>
          <a:xfrm>
            <a:off x="5687568" y="13716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</a:t>
            </a:r>
            <a:endParaRPr lang="en-US" sz="2800" dirty="0"/>
          </a:p>
        </p:txBody>
      </p:sp>
      <p:sp>
        <p:nvSpPr>
          <p:cNvPr id="21" name="text-280"/>
          <p:cNvSpPr txBox="1"/>
          <p:nvPr/>
        </p:nvSpPr>
        <p:spPr>
          <a:xfrm>
            <a:off x="5687568" y="19202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โค้ดส่วนลดยังไม่หมดอายุ</a:t>
            </a:r>
            <a:endParaRPr lang="en-US" sz="1250" dirty="0"/>
          </a:p>
        </p:txBody>
      </p:sp>
      <p:sp>
        <p:nvSpPr>
          <p:cNvPr id="22" name="handler-arrow-281"/>
          <p:cNvSpPr/>
          <p:nvPr/>
        </p:nvSpPr>
        <p:spPr>
          <a:xfrm>
            <a:off x="6986016" y="2029968"/>
            <a:ext cx="182880" cy="0"/>
          </a:xfrm>
          <a:prstGeom prst="line">
            <a:avLst/>
          </a:prstGeom>
          <a:noFill/>
          <a:ln w="15875">
            <a:solidFill>
              <a:srgbClr val="16181D"/>
            </a:solidFill>
            <a:prstDash val="solid"/>
            <a:tailEnd type="triangle"/>
          </a:ln>
        </p:spPr>
      </p:sp>
      <p:sp>
        <p:nvSpPr>
          <p:cNvPr id="23" name="sheet-282"/>
          <p:cNvSpPr/>
          <p:nvPr/>
        </p:nvSpPr>
        <p:spPr>
          <a:xfrm>
            <a:off x="7187184" y="1188720"/>
            <a:ext cx="1463040" cy="16916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24" name="handler-top-283"/>
          <p:cNvSpPr/>
          <p:nvPr/>
        </p:nvSpPr>
        <p:spPr>
          <a:xfrm>
            <a:off x="7187184" y="1188720"/>
            <a:ext cx="1463040" cy="73152"/>
          </a:xfrm>
          <a:prstGeom prst="rect">
            <a:avLst/>
          </a:prstGeom>
          <a:solidFill>
            <a:srgbClr val="8B8C8E"/>
          </a:solidFill>
          <a:ln w="12700">
            <a:solidFill>
              <a:srgbClr val="8B8C8E"/>
            </a:solidFill>
            <a:prstDash val="solid"/>
          </a:ln>
        </p:spPr>
      </p:sp>
      <p:sp>
        <p:nvSpPr>
          <p:cNvPr id="25" name="text-284"/>
          <p:cNvSpPr txBox="1"/>
          <p:nvPr/>
        </p:nvSpPr>
        <p:spPr>
          <a:xfrm>
            <a:off x="7370064" y="13716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5</a:t>
            </a:r>
            <a:endParaRPr lang="en-US" sz="2800" dirty="0"/>
          </a:p>
        </p:txBody>
      </p:sp>
      <p:sp>
        <p:nvSpPr>
          <p:cNvPr id="26" name="text-285"/>
          <p:cNvSpPr txBox="1"/>
          <p:nvPr/>
        </p:nvSpPr>
        <p:spPr>
          <a:xfrm>
            <a:off x="7370064" y="19202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ยังไม่เกินสิทธิ์ใช้โค้ดต่อคน</a:t>
            </a:r>
            <a:endParaRPr lang="en-US" sz="1250" dirty="0"/>
          </a:p>
        </p:txBody>
      </p:sp>
      <p:sp>
        <p:nvSpPr>
          <p:cNvPr id="27" name="text-286"/>
          <p:cNvSpPr txBox="1"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ขั้นไหนไม่ผ่าน หยุดทันทีและตอบ 400 พร้อมเหตุผล ยังไม่มีอะไรลงฐานข้อมูล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เพิ่มกฎใหม่ = เขียน handler ใหม่แล้วต่อเข้า chain ใน OrderValidationChainConfig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Security และ REST API</a:t>
            </a:r>
            <a:endParaRPr lang="en-US" sz="2600" dirty="0"/>
          </a:p>
        </p:txBody>
      </p:sp>
      <p:sp>
        <p:nvSpPr>
          <p:cNvPr id="3" name="sheet-287"/>
          <p:cNvSpPr/>
          <p:nvPr/>
        </p:nvSpPr>
        <p:spPr>
          <a:xfrm>
            <a:off x="457200" y="1097280"/>
            <a:ext cx="2606040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4" name="tab-288"/>
          <p:cNvSpPr/>
          <p:nvPr/>
        </p:nvSpPr>
        <p:spPr>
          <a:xfrm>
            <a:off x="457200" y="1097280"/>
            <a:ext cx="64008" cy="146304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289"/>
          <p:cNvSpPr txBox="1"/>
          <p:nvPr/>
        </p:nvSpPr>
        <p:spPr>
          <a:xfrm>
            <a:off x="731520" y="1188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43</a:t>
            </a:r>
            <a:endParaRPr lang="en-US" sz="4000" dirty="0"/>
          </a:p>
        </p:txBody>
      </p:sp>
      <p:sp>
        <p:nvSpPr>
          <p:cNvPr id="6" name="text-290"/>
          <p:cNvSpPr txBox="1"/>
          <p:nvPr/>
        </p:nvSpPr>
        <p:spPr>
          <a:xfrm>
            <a:off x="73152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D44"/>
                </a:solidFill>
              </a:rPr>
              <a:t>REST endpoint บน Swagger UI</a:t>
            </a:r>
            <a:endParaRPr lang="en-US" sz="1100" dirty="0"/>
          </a:p>
        </p:txBody>
      </p:sp>
      <p:sp>
        <p:nvSpPr>
          <p:cNvPr id="7" name="sheet-291"/>
          <p:cNvSpPr/>
          <p:nvPr/>
        </p:nvSpPr>
        <p:spPr>
          <a:xfrm>
            <a:off x="3246120" y="1097280"/>
            <a:ext cx="2606040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8" name="tab-292"/>
          <p:cNvSpPr/>
          <p:nvPr/>
        </p:nvSpPr>
        <p:spPr>
          <a:xfrm>
            <a:off x="3246120" y="1097280"/>
            <a:ext cx="64008" cy="146304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9" name="text-293"/>
          <p:cNvSpPr txBox="1"/>
          <p:nvPr/>
        </p:nvSpPr>
        <p:spPr>
          <a:xfrm>
            <a:off x="3520440" y="1188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</a:t>
            </a:r>
            <a:endParaRPr lang="en-US" sz="4000" dirty="0"/>
          </a:p>
        </p:txBody>
      </p:sp>
      <p:sp>
        <p:nvSpPr>
          <p:cNvPr id="10" name="text-294"/>
          <p:cNvSpPr txBox="1"/>
          <p:nvPr/>
        </p:nvSpPr>
        <p:spPr>
          <a:xfrm>
            <a:off x="352044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D44"/>
                </a:solidFill>
              </a:rPr>
              <a:t>role: CUSTOMER STAFF ADMIN</a:t>
            </a:r>
            <a:endParaRPr lang="en-US" sz="1100" dirty="0"/>
          </a:p>
        </p:txBody>
      </p:sp>
      <p:sp>
        <p:nvSpPr>
          <p:cNvPr id="11" name="sheet-295"/>
          <p:cNvSpPr/>
          <p:nvPr/>
        </p:nvSpPr>
        <p:spPr>
          <a:xfrm>
            <a:off x="6035040" y="1097280"/>
            <a:ext cx="2606040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2" name="tab-296"/>
          <p:cNvSpPr/>
          <p:nvPr/>
        </p:nvSpPr>
        <p:spPr>
          <a:xfrm>
            <a:off x="6035040" y="1097280"/>
            <a:ext cx="64008" cy="146304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3" name="text-297"/>
          <p:cNvSpPr txBox="1"/>
          <p:nvPr/>
        </p:nvSpPr>
        <p:spPr>
          <a:xfrm>
            <a:off x="6309360" y="1188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403</a:t>
            </a:r>
            <a:endParaRPr lang="en-US" sz="4000" dirty="0"/>
          </a:p>
        </p:txBody>
      </p:sp>
      <p:sp>
        <p:nvSpPr>
          <p:cNvPr id="14" name="text-298"/>
          <p:cNvSpPr txBox="1"/>
          <p:nvPr/>
        </p:nvSpPr>
        <p:spPr>
          <a:xfrm>
            <a:off x="630936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D44"/>
                </a:solidFill>
              </a:rPr>
              <a:t>ดู order หรือ payment ของคนอื่นไม่ได้</a:t>
            </a:r>
            <a:endParaRPr lang="en-US" sz="1100" dirty="0"/>
          </a:p>
        </p:txBody>
      </p:sp>
      <p:sp>
        <p:nvSpPr>
          <p:cNvPr id="15" name="text-299"/>
          <p:cNvSpPr txBox="1"/>
          <p:nvPr/>
        </p:nvSpPr>
        <p:spPr>
          <a:xfrm>
            <a:off x="457200" y="288036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กฎสิทธิ์รวมอยู่ที่ SecurityConfig ไฟล์เดียว และเช็กเจ้าของข้อมูลใน service อีกชั้น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รหัสผ่านเข้ารหัส BCrypt หน้าเว็บมี CSRF ส่วน API ใช้ HTTP Basic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Error ทุกตัวตอบเป็น JSON รูปแบบเดียว หน้าเว็บมีหน้า error ภาษาไทย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Testing: 257 test ผ่านทั้งหมด</a:t>
            </a:r>
            <a:endParaRPr lang="en-US" sz="2600" dirty="0"/>
          </a:p>
        </p:txBody>
      </p:sp>
      <p:sp>
        <p:nvSpPr>
          <p:cNvPr id="3" name="text-300"/>
          <p:cNvSpPr txBox="1"/>
          <p:nvPr/>
        </p:nvSpPr>
        <p:spPr>
          <a:xfrm>
            <a:off x="457200" y="105156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257</a:t>
            </a:r>
            <a:endParaRPr lang="en-US" sz="7200" dirty="0"/>
          </a:p>
        </p:txBody>
      </p:sp>
      <p:sp>
        <p:nvSpPr>
          <p:cNvPr id="4" name="test-bar"/>
          <p:cNvSpPr/>
          <p:nvPr/>
        </p:nvSpPr>
        <p:spPr>
          <a:xfrm>
            <a:off x="457200" y="2286000"/>
            <a:ext cx="2377440" cy="73152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5" name="text-301"/>
          <p:cNvSpPr txBox="1"/>
          <p:nvPr/>
        </p:nvSpPr>
        <p:spPr>
          <a:xfrm>
            <a:off x="4572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ผ่าน 100% ไม่มี failure</a:t>
            </a:r>
            <a:endParaRPr lang="en-US" sz="1400" dirty="0"/>
          </a:p>
        </p:txBody>
      </p:sp>
      <p:sp>
        <p:nvSpPr>
          <p:cNvPr id="6" name="text-302"/>
          <p:cNvSpPr txBox="1"/>
          <p:nvPr/>
        </p:nvSpPr>
        <p:spPr>
          <a:xfrm>
            <a:off x="457200" y="288036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JUnit 5, Mockito, WebMvcTest, DataJpaTest, SpringBootTest กับ H2 และรันทุก push ด้วย GitHub Actions</a:t>
            </a:r>
            <a:endParaRPr lang="en-US" sz="1100" dirty="0"/>
          </a:p>
        </p:txBody>
      </p:sp>
      <p:sp>
        <p:nvSpPr>
          <p:cNvPr id="7" name="sheet-303"/>
          <p:cNvSpPr/>
          <p:nvPr/>
        </p:nvSpPr>
        <p:spPr>
          <a:xfrm>
            <a:off x="3383280" y="1051560"/>
            <a:ext cx="5303520" cy="352044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graphicFrame>
        <p:nvGraphicFramePr>
          <p:cNvPr id="8" name="test-chart" descr=""/>
          <p:cNvGraphicFramePr/>
          <p:nvPr/>
        </p:nvGraphicFramePr>
        <p:xfrm>
          <a:off x="3520440" y="1143000"/>
          <a:ext cx="50292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DevOps: จาก commit สู่เว็บจริง</a:t>
            </a:r>
            <a:endParaRPr lang="en-US" sz="2600" dirty="0"/>
          </a:p>
        </p:txBody>
      </p:sp>
      <p:sp>
        <p:nvSpPr>
          <p:cNvPr id="3" name="sheet-304"/>
          <p:cNvSpPr/>
          <p:nvPr/>
        </p:nvSpPr>
        <p:spPr>
          <a:xfrm>
            <a:off x="457200" y="1051560"/>
            <a:ext cx="8229600" cy="219456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pic>
        <p:nvPicPr>
          <p:cNvPr id="4" name="deployment-diagram" descr="Deployment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249" y="1143000"/>
            <a:ext cx="8251502" cy="2011680"/>
          </a:xfrm>
          <a:prstGeom prst="rect">
            <a:avLst/>
          </a:prstGeom>
        </p:spPr>
      </p:pic>
      <p:sp>
        <p:nvSpPr>
          <p:cNvPr id="5" name="sheet-305"/>
          <p:cNvSpPr/>
          <p:nvPr/>
        </p:nvSpPr>
        <p:spPr>
          <a:xfrm>
            <a:off x="457200" y="3429000"/>
            <a:ext cx="192024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6" name="tab-306"/>
          <p:cNvSpPr/>
          <p:nvPr/>
        </p:nvSpPr>
        <p:spPr>
          <a:xfrm>
            <a:off x="457200" y="3429000"/>
            <a:ext cx="64008" cy="114300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7" name="text-307"/>
          <p:cNvSpPr txBox="1"/>
          <p:nvPr/>
        </p:nvSpPr>
        <p:spPr>
          <a:xfrm>
            <a:off x="685800" y="347472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Git Flow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branch ต่อคน → develop → main ผ่าน Pull Request</a:t>
            </a:r>
            <a:endParaRPr lang="en-US" sz="1300" dirty="0"/>
          </a:p>
        </p:txBody>
      </p:sp>
      <p:sp>
        <p:nvSpPr>
          <p:cNvPr id="8" name="sheet-308"/>
          <p:cNvSpPr/>
          <p:nvPr/>
        </p:nvSpPr>
        <p:spPr>
          <a:xfrm>
            <a:off x="2560320" y="3429000"/>
            <a:ext cx="192024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9" name="tab-309"/>
          <p:cNvSpPr/>
          <p:nvPr/>
        </p:nvSpPr>
        <p:spPr>
          <a:xfrm>
            <a:off x="2560320" y="3429000"/>
            <a:ext cx="64008" cy="114300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0" name="text-310"/>
          <p:cNvSpPr txBox="1"/>
          <p:nvPr/>
        </p:nvSpPr>
        <p:spPr>
          <a:xfrm>
            <a:off x="2788920" y="347472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GitHub Actions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build และ test ทุก push และ PR</a:t>
            </a:r>
            <a:endParaRPr lang="en-US" sz="1300" dirty="0"/>
          </a:p>
        </p:txBody>
      </p:sp>
      <p:sp>
        <p:nvSpPr>
          <p:cNvPr id="11" name="sheet-311"/>
          <p:cNvSpPr/>
          <p:nvPr/>
        </p:nvSpPr>
        <p:spPr>
          <a:xfrm>
            <a:off x="4663440" y="3429000"/>
            <a:ext cx="192024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2" name="tab-312"/>
          <p:cNvSpPr/>
          <p:nvPr/>
        </p:nvSpPr>
        <p:spPr>
          <a:xfrm>
            <a:off x="4663440" y="3429000"/>
            <a:ext cx="64008" cy="114300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3" name="text-313"/>
          <p:cNvSpPr txBox="1"/>
          <p:nvPr/>
        </p:nvSpPr>
        <p:spPr>
          <a:xfrm>
            <a:off x="4892040" y="347472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Docker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multi-stage build บน JRE 17</a:t>
            </a:r>
            <a:endParaRPr lang="en-US" sz="1300" dirty="0"/>
          </a:p>
        </p:txBody>
      </p:sp>
      <p:sp>
        <p:nvSpPr>
          <p:cNvPr id="14" name="sheet-314"/>
          <p:cNvSpPr/>
          <p:nvPr/>
        </p:nvSpPr>
        <p:spPr>
          <a:xfrm>
            <a:off x="6766560" y="3429000"/>
            <a:ext cx="192024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5" name="tab-315"/>
          <p:cNvSpPr/>
          <p:nvPr/>
        </p:nvSpPr>
        <p:spPr>
          <a:xfrm>
            <a:off x="6766560" y="3429000"/>
            <a:ext cx="64008" cy="1143000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16" name="text-316"/>
          <p:cNvSpPr txBox="1"/>
          <p:nvPr/>
        </p:nvSpPr>
        <p:spPr>
          <a:xfrm>
            <a:off x="6995160" y="347472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Render + Neon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3A3D44"/>
                </a:solidFill>
              </a:rPr>
              <a:t>เว็บและฐานข้อมูลบน cloud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ประโยชน์ที่คาดว่าจะได้รับ</a:t>
            </a:r>
            <a:endParaRPr lang="en-US" sz="2600" dirty="0"/>
          </a:p>
        </p:txBody>
      </p:sp>
      <p:sp>
        <p:nvSpPr>
          <p:cNvPr id="3" name="sheet-317"/>
          <p:cNvSpPr/>
          <p:nvPr/>
        </p:nvSpPr>
        <p:spPr>
          <a:xfrm>
            <a:off x="457200" y="1097280"/>
            <a:ext cx="2606040" cy="24688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4" name="tab-318"/>
          <p:cNvSpPr/>
          <p:nvPr/>
        </p:nvSpPr>
        <p:spPr>
          <a:xfrm>
            <a:off x="457200" y="1097280"/>
            <a:ext cx="64008" cy="246888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319"/>
          <p:cNvSpPr txBox="1"/>
          <p:nvPr/>
        </p:nvSpPr>
        <p:spPr>
          <a:xfrm>
            <a:off x="731520" y="1280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ลูกค้า</a:t>
            </a:r>
            <a:endParaRPr lang="en-US" sz="1800" dirty="0"/>
          </a:p>
        </p:txBody>
      </p:sp>
      <p:sp>
        <p:nvSpPr>
          <p:cNvPr id="6" name="text-320"/>
          <p:cNvSpPr txBox="1"/>
          <p:nvPr/>
        </p:nvSpPr>
        <p:spPr>
          <a:xfrm>
            <a:off x="731520" y="18288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รู้ราคาก่อนส่งงาน ไม่ต้องรอถามร้าน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รู้ว่างานถึงไหน ไม่ต้องมายืนรอ</a:t>
            </a:r>
            <a:endParaRPr lang="en-US" sz="1200" dirty="0"/>
          </a:p>
        </p:txBody>
      </p:sp>
      <p:sp>
        <p:nvSpPr>
          <p:cNvPr id="7" name="sheet-321"/>
          <p:cNvSpPr/>
          <p:nvPr/>
        </p:nvSpPr>
        <p:spPr>
          <a:xfrm>
            <a:off x="3246120" y="1097280"/>
            <a:ext cx="2606040" cy="24688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8" name="tab-322"/>
          <p:cNvSpPr/>
          <p:nvPr/>
        </p:nvSpPr>
        <p:spPr>
          <a:xfrm>
            <a:off x="3246120" y="1097280"/>
            <a:ext cx="64008" cy="246888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9" name="text-323"/>
          <p:cNvSpPr txBox="1"/>
          <p:nvPr/>
        </p:nvSpPr>
        <p:spPr>
          <a:xfrm>
            <a:off x="3520440" y="1280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ร้านพิมพ์</a:t>
            </a:r>
            <a:endParaRPr lang="en-US" sz="1800" dirty="0"/>
          </a:p>
        </p:txBody>
      </p:sp>
      <p:sp>
        <p:nvSpPr>
          <p:cNvPr id="10" name="text-324"/>
          <p:cNvSpPr txBox="1"/>
          <p:nvPr/>
        </p:nvSpPr>
        <p:spPr>
          <a:xfrm>
            <a:off x="3520440" y="18288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คิดราคาถูกทุกครั้ง ลดงานคิดด้วยมือ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เห็นคิวงานและการชำระเงินในที่เดียว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เจ้าของร้านเห็นยอดขายและบริการยอดนิยม</a:t>
            </a:r>
            <a:endParaRPr lang="en-US" sz="1200" dirty="0"/>
          </a:p>
        </p:txBody>
      </p:sp>
      <p:sp>
        <p:nvSpPr>
          <p:cNvPr id="11" name="sheet-325"/>
          <p:cNvSpPr/>
          <p:nvPr/>
        </p:nvSpPr>
        <p:spPr>
          <a:xfrm>
            <a:off x="6035040" y="1097280"/>
            <a:ext cx="2606040" cy="246888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2" name="tab-326"/>
          <p:cNvSpPr/>
          <p:nvPr/>
        </p:nvSpPr>
        <p:spPr>
          <a:xfrm>
            <a:off x="6035040" y="1097280"/>
            <a:ext cx="64008" cy="246888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3" name="text-327"/>
          <p:cNvSpPr txBox="1"/>
          <p:nvPr/>
        </p:nvSpPr>
        <p:spPr>
          <a:xfrm>
            <a:off x="6309360" y="1280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ทีมผู้พัฒนา</a:t>
            </a:r>
            <a:endParaRPr lang="en-US" sz="1800" dirty="0"/>
          </a:p>
        </p:txBody>
      </p:sp>
      <p:sp>
        <p:nvSpPr>
          <p:cNvPr id="14" name="text-328"/>
          <p:cNvSpPr txBox="1"/>
          <p:nvPr/>
        </p:nvSpPr>
        <p:spPr>
          <a:xfrm>
            <a:off x="6309360" y="18288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ได้ใช้ design pattern และ SOLID กับงานจริง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ได้ทำงานร่วมกันด้วย Git Flow และ Pull Request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ได้ทดสอบและ deploy แบบอัตโนมัติ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สรุปผล: ตรงตามวัตถุประสงค์ครบ 5 ข้อ</a:t>
            </a:r>
            <a:endParaRPr lang="en-US" sz="2600" dirty="0"/>
          </a:p>
        </p:txBody>
      </p:sp>
      <p:sp>
        <p:nvSpPr>
          <p:cNvPr id="3" name="sheet-329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4" name="res-tab-330"/>
          <p:cNvSpPr/>
          <p:nvPr/>
        </p:nvSpPr>
        <p:spPr>
          <a:xfrm>
            <a:off x="457200" y="1051560"/>
            <a:ext cx="64008" cy="457200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331"/>
          <p:cNvSpPr txBox="1"/>
          <p:nvPr/>
        </p:nvSpPr>
        <p:spPr>
          <a:xfrm>
            <a:off x="685800" y="1051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1. ให้ลูกค้าสั่งพิมพ์ออนไลน์ และรู้ราคาก่อนส่งงาน</a:t>
            </a:r>
            <a:endParaRPr lang="en-US" sz="1050" dirty="0"/>
          </a:p>
        </p:txBody>
      </p:sp>
      <p:sp>
        <p:nvSpPr>
          <p:cNvPr id="6" name="text-332"/>
          <p:cNvSpPr txBox="1"/>
          <p:nvPr/>
        </p:nvSpPr>
        <p:spPr>
          <a:xfrm>
            <a:off x="4983480" y="1051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หน้าสั่งพิมพ์นับหน้า PDF และคิดราคาให้ทันที</a:t>
            </a:r>
            <a:endParaRPr lang="en-US" sz="1050" dirty="0"/>
          </a:p>
        </p:txBody>
      </p:sp>
      <p:sp>
        <p:nvSpPr>
          <p:cNvPr id="7" name="res-ok-333"/>
          <p:cNvSpPr/>
          <p:nvPr/>
        </p:nvSpPr>
        <p:spPr>
          <a:xfrm>
            <a:off x="8302752" y="1161288"/>
            <a:ext cx="237744" cy="23774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8" name="text-334"/>
          <p:cNvSpPr txBox="1"/>
          <p:nvPr/>
        </p:nvSpPr>
        <p:spPr>
          <a:xfrm>
            <a:off x="8302752" y="1161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9" name="sheet-335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0" name="res-tab-336"/>
          <p:cNvSpPr/>
          <p:nvPr/>
        </p:nvSpPr>
        <p:spPr>
          <a:xfrm>
            <a:off x="457200" y="1600200"/>
            <a:ext cx="64008" cy="457200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11" name="text-337"/>
          <p:cNvSpPr txBox="1"/>
          <p:nvPr/>
        </p:nvSpPr>
        <p:spPr>
          <a:xfrm>
            <a:off x="685800" y="1600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2. ให้ลูกค้าติดตามสถานะงาน และได้รับแจ้งเตือน</a:t>
            </a:r>
            <a:endParaRPr lang="en-US" sz="1050" dirty="0"/>
          </a:p>
        </p:txBody>
      </p:sp>
      <p:sp>
        <p:nvSpPr>
          <p:cNvPr id="12" name="text-338"/>
          <p:cNvSpPr txBox="1"/>
          <p:nvPr/>
        </p:nvSpPr>
        <p:spPr>
          <a:xfrm>
            <a:off x="4983480" y="1600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หน้าติดตามสถานะ + แจ้งเตือนทุกครั้งที่งานขยับ</a:t>
            </a:r>
            <a:endParaRPr lang="en-US" sz="1050" dirty="0"/>
          </a:p>
        </p:txBody>
      </p:sp>
      <p:sp>
        <p:nvSpPr>
          <p:cNvPr id="13" name="res-ok-339"/>
          <p:cNvSpPr/>
          <p:nvPr/>
        </p:nvSpPr>
        <p:spPr>
          <a:xfrm>
            <a:off x="8302752" y="1709928"/>
            <a:ext cx="237744" cy="23774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text-340"/>
          <p:cNvSpPr txBox="1"/>
          <p:nvPr/>
        </p:nvSpPr>
        <p:spPr>
          <a:xfrm>
            <a:off x="8302752" y="1709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5" name="sheet-341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16" name="res-tab-342"/>
          <p:cNvSpPr/>
          <p:nvPr/>
        </p:nvSpPr>
        <p:spPr>
          <a:xfrm>
            <a:off x="457200" y="2148840"/>
            <a:ext cx="64008" cy="457200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17" name="text-343"/>
          <p:cNvSpPr txBox="1"/>
          <p:nvPr/>
        </p:nvSpPr>
        <p:spPr>
          <a:xfrm>
            <a:off x="685800" y="2148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3. ให้พนักงานและผู้ดูแลจัดการงาน การชำระเงิน บริการ โปรโมชัน และดูรายงาน</a:t>
            </a:r>
            <a:endParaRPr lang="en-US" sz="1050" dirty="0"/>
          </a:p>
        </p:txBody>
      </p:sp>
      <p:sp>
        <p:nvSpPr>
          <p:cNvPr id="18" name="text-344"/>
          <p:cNvSpPr txBox="1"/>
          <p:nvPr/>
        </p:nvSpPr>
        <p:spPr>
          <a:xfrm>
            <a:off x="498348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ครบ 14 use case ทั้ง 3 บทบาท</a:t>
            </a:r>
            <a:endParaRPr lang="en-US" sz="1050" dirty="0"/>
          </a:p>
        </p:txBody>
      </p:sp>
      <p:sp>
        <p:nvSpPr>
          <p:cNvPr id="19" name="res-ok-345"/>
          <p:cNvSpPr/>
          <p:nvPr/>
        </p:nvSpPr>
        <p:spPr>
          <a:xfrm>
            <a:off x="8302752" y="2258568"/>
            <a:ext cx="237744" cy="23774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0" name="text-346"/>
          <p:cNvSpPr txBox="1"/>
          <p:nvPr/>
        </p:nvSpPr>
        <p:spPr>
          <a:xfrm>
            <a:off x="8302752" y="2258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21" name="sheet-347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22" name="res-tab-348"/>
          <p:cNvSpPr/>
          <p:nvPr/>
        </p:nvSpPr>
        <p:spPr>
          <a:xfrm>
            <a:off x="457200" y="2697480"/>
            <a:ext cx="64008" cy="457200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23" name="text-349"/>
          <p:cNvSpPr txBox="1"/>
          <p:nvPr/>
        </p:nvSpPr>
        <p:spPr>
          <a:xfrm>
            <a:off x="685800" y="26974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4. ประยุกต์ใช้ Layered Architecture, SOLID และ GoF Behavioral Pattern</a:t>
            </a:r>
            <a:endParaRPr lang="en-US" sz="1050" dirty="0"/>
          </a:p>
        </p:txBody>
      </p:sp>
      <p:sp>
        <p:nvSpPr>
          <p:cNvPr id="24" name="text-350"/>
          <p:cNvSpPr txBox="1"/>
          <p:nvPr/>
        </p:nvSpPr>
        <p:spPr>
          <a:xfrm>
            <a:off x="4983480" y="2697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4 ชั้น + Strategy, State, Observer, Chain</a:t>
            </a:r>
            <a:endParaRPr lang="en-US" sz="1050" dirty="0"/>
          </a:p>
        </p:txBody>
      </p:sp>
      <p:sp>
        <p:nvSpPr>
          <p:cNvPr id="25" name="res-ok-351"/>
          <p:cNvSpPr/>
          <p:nvPr/>
        </p:nvSpPr>
        <p:spPr>
          <a:xfrm>
            <a:off x="8302752" y="2807208"/>
            <a:ext cx="237744" cy="23774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-352"/>
          <p:cNvSpPr txBox="1"/>
          <p:nvPr/>
        </p:nvSpPr>
        <p:spPr>
          <a:xfrm>
            <a:off x="8302752" y="2807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27" name="sheet-353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solidFill>
            <a:schemeClr val="bg1"/>
          </a:solidFill>
          <a:ln w="9525">
            <a:solidFill>
              <a:srgbClr val="DCDDD8"/>
            </a:solidFill>
            <a:prstDash val="solid"/>
          </a:ln>
        </p:spPr>
      </p:sp>
      <p:sp>
        <p:nvSpPr>
          <p:cNvPr id="28" name="res-tab-354"/>
          <p:cNvSpPr/>
          <p:nvPr/>
        </p:nvSpPr>
        <p:spPr>
          <a:xfrm>
            <a:off x="457200" y="3246120"/>
            <a:ext cx="64008" cy="457200"/>
          </a:xfrm>
          <a:prstGeom prst="rect">
            <a:avLst/>
          </a:prstGeom>
          <a:solidFill>
            <a:srgbClr val="8B8C8E"/>
          </a:solidFill>
          <a:ln w="12700">
            <a:solidFill>
              <a:srgbClr val="8B8C8E"/>
            </a:solidFill>
            <a:prstDash val="solid"/>
          </a:ln>
        </p:spPr>
      </p:sp>
      <p:sp>
        <p:nvSpPr>
          <p:cNvPr id="29" name="text-355"/>
          <p:cNvSpPr txBox="1"/>
          <p:nvPr/>
        </p:nvSpPr>
        <p:spPr>
          <a:xfrm>
            <a:off x="685800" y="3246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5. ทดสอบอัตโนมัติและ deploy ขึ้น cloud ด้วย CI/CD</a:t>
            </a:r>
            <a:endParaRPr lang="en-US" sz="1050" dirty="0"/>
          </a:p>
        </p:txBody>
      </p:sp>
      <p:sp>
        <p:nvSpPr>
          <p:cNvPr id="30" name="text-356"/>
          <p:cNvSpPr txBox="1"/>
          <p:nvPr/>
        </p:nvSpPr>
        <p:spPr>
          <a:xfrm>
            <a:off x="4983480" y="3246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257 test ผ่าน, GitHub Actions → Render</a:t>
            </a:r>
            <a:endParaRPr lang="en-US" sz="1050" dirty="0"/>
          </a:p>
        </p:txBody>
      </p:sp>
      <p:sp>
        <p:nvSpPr>
          <p:cNvPr id="31" name="res-ok-357"/>
          <p:cNvSpPr/>
          <p:nvPr/>
        </p:nvSpPr>
        <p:spPr>
          <a:xfrm>
            <a:off x="8302752" y="3355848"/>
            <a:ext cx="237744" cy="23774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2" name="text-358"/>
          <p:cNvSpPr txBox="1"/>
          <p:nvPr/>
        </p:nvSpPr>
        <p:spPr>
          <a:xfrm>
            <a:off x="8302752" y="3355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33" name="lesson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16181D"/>
          </a:solidFill>
          <a:ln w="12700">
            <a:solidFill>
              <a:srgbClr val="16181D"/>
            </a:solidFill>
            <a:prstDash val="solid"/>
          </a:ln>
        </p:spPr>
      </p:sp>
      <p:sp>
        <p:nvSpPr>
          <p:cNvPr id="34" name="text-359"/>
          <p:cNvSpPr txBox="1"/>
          <p:nvPr/>
        </p:nvSpPr>
        <p:spPr>
          <a:xfrm>
            <a:off x="731520" y="38404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00"/>
                </a:solidFill>
              </a:rPr>
              <a:t>สิ่งที่ได้เรียนรู้: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pattern ทำให้เพิ่มความสามารถได้โดยไม่แก้ของเดิม เช่น เพิ่มกฎจำกัดสิทธิ์โค้ดส่วนลดเป็น handler ตัวที่ 5 โดยไม่แตะ 4 ตัวเดิม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548640" y="11430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bg1"/>
                </a:solidFill>
              </a:rPr>
              <a:t>Demo และ Q&amp;A</a:t>
            </a:r>
            <a:endParaRPr lang="en-US" sz="5000" dirty="0"/>
          </a:p>
        </p:txBody>
      </p:sp>
      <p:sp>
        <p:nvSpPr>
          <p:cNvPr id="3" name="Text 4"/>
          <p:cNvSpPr/>
          <p:nvPr>
            <p:ph idx="105" type="body" hasCustomPrompt="1"/>
          </p:nvPr>
        </p:nvSpPr>
        <p:spPr>
          <a:xfrm>
            <a:off x="548640" y="22402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BC6"/>
                </a:solidFill>
              </a:rPr>
              <a:t>printflow-ogm4.onrender.com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C9CBC6"/>
                </a:solidFill>
              </a:rPr>
              <a:t>Swagger: /swagger-ui.html</a:t>
            </a:r>
            <a:endParaRPr lang="en-US" sz="1700" dirty="0"/>
          </a:p>
        </p:txBody>
      </p:sp>
      <p:sp>
        <p:nvSpPr>
          <p:cNvPr id="4" name="demo-tab-360"/>
          <p:cNvSpPr/>
          <p:nvPr/>
        </p:nvSpPr>
        <p:spPr>
          <a:xfrm>
            <a:off x="5669280" y="914400"/>
            <a:ext cx="64008" cy="658368"/>
          </a:xfrm>
          <a:prstGeom prst="rect">
            <a:avLst/>
          </a:prstGeom>
          <a:solidFill>
            <a:srgbClr val="0093D0"/>
          </a:solidFill>
          <a:ln w="12700">
            <a:solidFill>
              <a:srgbClr val="0093D0"/>
            </a:solidFill>
            <a:prstDash val="solid"/>
          </a:ln>
        </p:spPr>
      </p:sp>
      <p:sp>
        <p:nvSpPr>
          <p:cNvPr id="5" name="text-361"/>
          <p:cNvSpPr txBox="1"/>
          <p:nvPr/>
        </p:nvSpPr>
        <p:spPr>
          <a:xfrm>
            <a:off x="5897880" y="9144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D97"/>
                </a:solidFill>
              </a:rPr>
              <a:t>ขั้นที่ 1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ลูกค้าสั่งพิมพ์ ระบบคิดราคาให้</a:t>
            </a:r>
            <a:endParaRPr lang="en-US" sz="1300" dirty="0"/>
          </a:p>
        </p:txBody>
      </p:sp>
      <p:sp>
        <p:nvSpPr>
          <p:cNvPr id="6" name="demo-tab-362"/>
          <p:cNvSpPr/>
          <p:nvPr/>
        </p:nvSpPr>
        <p:spPr>
          <a:xfrm>
            <a:off x="5669280" y="1783080"/>
            <a:ext cx="64008" cy="658368"/>
          </a:xfrm>
          <a:prstGeom prst="rect">
            <a:avLst/>
          </a:prstGeom>
          <a:solidFill>
            <a:srgbClr val="D6246E"/>
          </a:solidFill>
          <a:ln w="12700">
            <a:solidFill>
              <a:srgbClr val="D6246E"/>
            </a:solidFill>
            <a:prstDash val="solid"/>
          </a:ln>
        </p:spPr>
      </p:sp>
      <p:sp>
        <p:nvSpPr>
          <p:cNvPr id="7" name="text-363"/>
          <p:cNvSpPr txBox="1"/>
          <p:nvPr/>
        </p:nvSpPr>
        <p:spPr>
          <a:xfrm>
            <a:off x="5897880" y="17830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D97"/>
                </a:solidFill>
              </a:rPr>
              <a:t>ขั้นที่ 2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พนักงานยืนยันงานและบันทึกชำระเงิน</a:t>
            </a:r>
            <a:endParaRPr lang="en-US" sz="1300" dirty="0"/>
          </a:p>
        </p:txBody>
      </p:sp>
      <p:sp>
        <p:nvSpPr>
          <p:cNvPr id="8" name="demo-tab-364"/>
          <p:cNvSpPr/>
          <p:nvPr/>
        </p:nvSpPr>
        <p:spPr>
          <a:xfrm>
            <a:off x="5669280" y="2651760"/>
            <a:ext cx="64008" cy="658368"/>
          </a:xfrm>
          <a:prstGeom prst="rect">
            <a:avLst/>
          </a:prstGeom>
          <a:solidFill>
            <a:srgbClr val="F2C200"/>
          </a:solidFill>
          <a:ln w="12700">
            <a:solidFill>
              <a:srgbClr val="F2C200"/>
            </a:solidFill>
            <a:prstDash val="solid"/>
          </a:ln>
        </p:spPr>
      </p:sp>
      <p:sp>
        <p:nvSpPr>
          <p:cNvPr id="9" name="text-365"/>
          <p:cNvSpPr txBox="1"/>
          <p:nvPr/>
        </p:nvSpPr>
        <p:spPr>
          <a:xfrm>
            <a:off x="5897880" y="265176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D97"/>
                </a:solidFill>
              </a:rPr>
              <a:t>ขั้นที่ 3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ลูกค้าเห็นแจ้งเตือนและสถานะใหม่</a:t>
            </a:r>
            <a:endParaRPr lang="en-US" sz="1300" dirty="0"/>
          </a:p>
        </p:txBody>
      </p:sp>
      <p:sp>
        <p:nvSpPr>
          <p:cNvPr id="10" name="demo-tab-366"/>
          <p:cNvSpPr/>
          <p:nvPr/>
        </p:nvSpPr>
        <p:spPr>
          <a:xfrm>
            <a:off x="5669280" y="3520440"/>
            <a:ext cx="6400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-367"/>
          <p:cNvSpPr txBox="1"/>
          <p:nvPr/>
        </p:nvSpPr>
        <p:spPr>
          <a:xfrm>
            <a:off x="5897880" y="35204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D97"/>
                </a:solidFill>
              </a:rPr>
              <a:t>ขั้นที่ 4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Admin ดูรายงานยอดขาย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intFlow Paper">
  <a:themeElements>
    <a:clrScheme name="PrintFlow Paper">
      <a:dk1>
        <a:srgbClr val="16181D"/>
      </a:dk1>
      <a:lt1>
        <a:srgbClr val="FFFFFF"/>
      </a:lt1>
      <a:dk2>
        <a:srgbClr val="16181D"/>
      </a:dk2>
      <a:lt2>
        <a:srgbClr val="F4F5F2"/>
      </a:lt2>
      <a:accent1>
        <a:srgbClr val="0093D0"/>
      </a:accent1>
      <a:accent2>
        <a:srgbClr val="D6246E"/>
      </a:accent2>
      <a:accent3>
        <a:srgbClr val="F2C200"/>
      </a:accent3>
      <a:accent4>
        <a:srgbClr val="16181D"/>
      </a:accent4>
      <a:accent5>
        <a:srgbClr val="2E7D5B"/>
      </a:accent5>
      <a:accent6>
        <a:srgbClr val="6B6F76"/>
      </a:accent6>
      <a:hlink>
        <a:srgbClr val="0093D0"/>
      </a:hlink>
      <a:folHlink>
        <a:srgbClr val="6B6F76"/>
      </a:folHlink>
    </a:clrScheme>
    <a:fontScheme name="PrintFlow Paper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  <a:font script="Thai" typeface="Leelawadee UI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  <a:font script="Thai" typeface="Leelawade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PrintFlow — ระบบจัดการร้านรับพิมพ์</dc:title>
  <dc:subject>PptxGenJS Presentation</dc:subject>
  <dc:creator>PrintFlow Team (CP353002)</dc:creator>
  <cp:lastModifiedBy>PrintFlow Team (CP353002)</cp:lastModifiedBy>
  <cp:revision>1</cp:revision>
  <dcterms:created xsi:type="dcterms:W3CDTF">2026-10-09T17:07:05Z</dcterms:created>
  <dcterms:modified xsi:type="dcterms:W3CDTF">2026-10-09T17:07:05Z</dcterms:modified>
</cp:coreProperties>
</file>