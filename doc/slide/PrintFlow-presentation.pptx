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บทนำ (P1)" id="{9e2a15db-f0cd-26a5-ed5a-6f49fa44bbfc}">
          <p14:sldIdLst>
            <p14:sldId id="256"/>
            <p14:sldId id="257"/>
            <p14:sldId id="258"/>
          </p14:sldIdLst>
        </p14:section>
        <p14:section name="สถาปัตยกรรม (P1)" id="{f6df46cf-f044-8c61-b3da-f322a2d4bcb0}">
          <p14:sldIdLst>
            <p14:sldId id="259"/>
            <p14:sldId id="260"/>
          </p14:sldIdLst>
        </p14:section>
        <p14:section name="ข้อมูลและราคา (P2)" id="{e3b09d55-8fd1-f027-1677-b6fbccc9e90f}">
          <p14:sldIdLst>
            <p14:sldId id="261"/>
            <p14:sldId id="262"/>
          </p14:sldIdLst>
        </p14:section>
        <p14:section name="การสั่งงาน (P3)" id="{c5e7c787-e211-f131-2ca4-a9e5cf312fac}">
          <p14:sldIdLst>
            <p14:sldId id="263"/>
            <p14:sldId id="264"/>
          </p14:sldIdLst>
        </p14:section>
        <p14:section name="สถานะงาน (P4)" id="{02cb9dc8-fcd7-9215-4063-e3d9dd3ef591}">
          <p14:sldIdLst>
            <p14:sldId id="265"/>
            <p14:sldId id="266"/>
          </p14:sldIdLst>
        </p14:section>
        <p14:section name="คุณภาพและสรุป" id="{a1204752-5ace-28d2-0895-02641c1a410d}">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ผู้พูด: P1 ณัฐชา (15 วินาที)
สวัสดีครับอาจารย์ กลุ่มเรานำเสนอ PrintFlow ระบบจัดการร้านรับพิมพ์เอกสารออนไลน์ สมาชิก 4 คน ใบสั่งงานทางขวาคือราคาที่ระบบคิดให้จริง เดี๋ยว P2 จะอธิบายว่าคิดยังไง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ผู้พูด: P1 ณัฐชา (35 วินาที)
ร้านพิมพ์ทั่วไปมีปัญหา 3 เรื่อง คือ คิดราคาด้วยมือซึ่งผิดง่ายเพราะมีหลายประเภทงานและโค้ดส่วนลด ลูกค้าต้องโทรถามว่างานถึงไหน และเจ้าของร้านไม่มีตัวเลขสรุปยอดขาย
เป้าหมายของเราคือ ให้ลูกค้าสั่งออนไลน์ รู้ราคาก่อน และติดตามสถานะได้ ให้ร้านจัดการงาน การชำระเงิน และดูรายงานได้ และฝั่งวิชาคือประยุกต์ Layered Architecture, SOLID และ Design Pattern พร้อม test และ CI/CD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ผู้พูด: P1 ณัฐชา (30 วินาที)
ผู้ใช้มี 3 บทบาท รวม 14 use case ลูกค้าสั่งพิมพ์และติดตามสถานะ พนักงานยืนยันงานและบันทึกการชำระเงิน ผู้ดูแลจัดการบริการ โปรโมชัน บัญชี และดูรายงาน
ทีมแบ่งงานตามส่วนของระบบ ผมดูแล Security และ DevOps ปฏิภาณดูแลการคิดราคาและฐานข้อมูล รัชชานนท์ดูแลการสั่งงานและ test อาณัฐดูแลสถานะงานและการชำระเงิน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ผู้พูด: P1 ณัฐชา (40 วินาที)
ระบบแบ่ง 4 ชั้น ชั้นบนมีทั้ง REST API และหน้าเว็บ Thymeleaf ซึ่งเรียก service ชุดเดียวกัน ชั้น Service เก็บ business logic และ pattern ทั้ง 4 ตัว ชั้น Repository ใช้ Spring Data JPA และฐานข้อมูลเป็น PostgreSQL บน Neon สร้าง schema ด้วย Flyway
กฎคือ Controller เรียกได้แค่ Service ห้ามเรียก Repository ตรง API ส่ง DTO ไม่ส่ง Entity และทุก dependency ฉีดผ่าน constructor ตามหลัก Dependency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ผู้พูด: P1 ณัฐชา (35 วินาที)
API มี 43 endpoint ทดลองได้บน Swagger UI ผู้ใช้มี 3 role กฎว่าใครเข้า URL ไหนได้รวมไว้ที่ SecurityConfig แต่ลูกค้าทุกคนเป็น role เดียวกัน เราเลยเช็กเจ้าของข้อมูลใน service อีกชั้น ลูกค้า A ดู order ของ B จะได้ 403
รหัสผ่านเก็บแบบ BCrypt และ error ทุกตัวตอบ JSON รูปแบบเดียวกัน ต่อไป P2 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ผู้พูด: P2 ปฏิภาณ (40 วินาที)
ฐานข้อมูลมี 13 ตาราง ความสัมพันธ์ครบ 3 แบบ One-to-One คือ users กับ user_profiles ใช้ shared primary key One-to-Many เช่น ลูกค้ามีหลาย order และ order มีหลาย item ส่วน Many-to-Many เราทำเป็นตารางกลาง เพราะต้องเก็บราคา ณ ตอนสั่งและยอดส่วนลดด้วย
ทุกตารางมี foreign key และ index schema สร้างด้วย Flyway V1 ถึง V9 ถ้าต้องแก้เราเพิ่มไฟล์ใหม่ ไม่แก้ไฟล์ที่รันไปแล้ว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ผู้พูด: P2 ปฏิภาณ (1 นาที 10 วินาที)
การคิดราคามีเงื่อนไขเยอะที่สุด ถ้าเขียนเป็น if-else ทุกครั้งที่เพิ่มบริการต้องแก้ก้อนเดิม เราจึงใช้ Strategy Pattern แต่ละประเภทงานมีคลาสสูตรของตัวเอง ขาวดำคูณหน้าคูณชุด สีถ้าเกิน 50 หน้าลด 10% ภาพถ่ายคิดตามแผ่น งานเก็บเล่มคิดตามชุด และส่วนลดก็เป็น Strategy อีกชุด
service ไม่ต้องรู้ว่างานแบบไหน แค่ถาม PricingStrategyResolver ซึ่งใช้ EnumMap จับคู่ประเภทงานกับ Strategy
ตัวอย่างเอกสารสี 40 หน้า 2 ชุด 400 บาท เย็บมุม 4 บาท ลด 10% เหลือ 363.60 บาท
ข้อดีคือหลัก Open/Closed ถ้าเพิ่มประเภทงานใหม่ แค่เพิ่มคลาสกับค่าใน enum ไม่ต้องแก้ service ต่อไป P3 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ผู้พูด: P3 รัชชานนท์ (45 วินาที)
ก่อนบันทึก order ระบบต้องตรวจหลายเงื่อนไข ถ้ารวมไว้ใน service เดียวจะผิดหลัก Single Responsibility เราจึงแยกเป็น handler 5 ตัวต่อกันเป็นสาย บริการยังเปิดอยู่ ไฟล์เป็นชนิดที่รับ จำนวนมากกว่าศูนย์ โค้ดยังไม่หมดอายุ และยังไม่เกินสิทธิ์ใช้โค้ดต่อคน
ไม่ผ่านขั้นไหนก็หยุดทันที ตอบ 400 พร้อมเหตุผล ยังไม่มีอะไรถูกบันทึก ลำดับสายกำหนดที่เดียวใน OrderValidationChainConfig เพิ่มกฎใหม่ก็แค่เพิ่ม handler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ผู้พูด: P3 รัชชานนท์ (35 วินาที)
order หนึ่งใบมีหลาย item PrintItem ถือ foreign key order_id จึงเป็นฝั่งเจ้าของ ส่วน PrintOrder ใช้ mappedBy เป็นฝั่ง inverse ทั้งคู่เป็น LAZY โหลดเฉพาะตอนใช้
เราไม่ cascade ลบ เพราะ order เป็นหลักฐานการเงิน ใช้การยกเลิกแทน API สร้าง order ตอบ 201 Created และมี index ตามคอลัมน์ที่ค้นบ่อย ต่อไป P4 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ผู้พูด: P4 อาณัฐ (50 วินาที)
หลังลูกค้าสั่งงาน ลูกค้าดูสถานะได้ที่หน้านี้ งานมี 6 สถานะ ตั้งแต่รอร้านยืนยันจนส่งมอบ หรือยกเลิก
ถ้าเขียนกฎเปลี่ยนสถานะเป็น if-else ทุกครั้งที่เพิ่มสถานะต้องแก้หลายจุด เราจึงใช้ State Pattern แต่ละสถานะเป็นคลาสของตัวเอง AbstractOrderState ปฏิเสธทุก action เป็นค่าเริ่มต้น สถานะไหนทำได้ค่อย override
เปลี่ยนผิดลำดับระบบตอบ 409 เมนูของพนักงานถาม State ว่าไปต่อไหนได้ จึงไม่มีปุ่มที่กดแล้วผิด และลูกค้ายกเลิกเองได้เฉพาะตอนรอยืนยัน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ผู้พูด: P4 อาณัฐ (45 วินาที)
เวลาสร้าง order หรือเปลี่ยนสถานะ มีงานตามหลังหลายอย่าง เราใช้ Observer ผ่าน Spring Event service แค่ประกาศ event ออกไป
สร้าง order แล้ว listener 2 ตัว สร้าง payment สถานะ UNPAID และแจ้งพนักงาน เปลี่ยนสถานะแล้ว listener 3 ตัว บันทึกประวัติ แจ้งลูกค้า และคืนเงินถ้ายกเลิกหลังจ่าย
ฝั่งการชำระเงิน ระบบกันจ่ายซ้ำและจ่ายงานที่ยกเลิก ข้อดีคืออยากเพิ่มส่งอีเมลก็เพิ่ม listener ใหม่ ไม่ต้องแก้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ผู้พูด: P3 รัชชานนท์ (40 วินาที)
ระบบมี test 257 ตัว ผ่านทั้งหมด ครอบคลุมทุกชั้น ตั้งแต่ controller, service และ pattern, security, repository จนถึง integration ที่รันทั้งระบบจริง
ทีมทำงานแบบ Git Flow แต่ละคนมี branch ของตัวเอง รวมเข้า develop ผ่าน Pull Request ทุก push GitHub Actions จะ build และรัน test แอปแพ็กด้วย Docker แบบ multi-stage แล้ว Render deploy ให้อัตโนมัติ ฐานข้อมูลอยู่บน Neon และค่าลับเก็บใน environment variable ไม่อยู่ใน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ผู้พูด: P4 อาณัฐ (30 วินาที)
สรุปเทียบกับวัตถุประสงค์ ลูกค้าสั่งออนไลน์ รู้ราคา และติดตามสถานะได้ ร้านจัดการงานและดูรายงานได้ครบ 14 use case ใช้ 4 ชั้นกับ 4 pattern และมี test 257 ตัวพร้อม CI/CD
สิ่งที่ได้เรียนรู้คือ pattern ทำให้เพิ่มความสามารถโดยไม่แก้ของเดิม อย่างกฎจำกัดสิทธิ์โค้ดต่อคน เราแค่เพิ่ม handler ใหม่ ต่อไปเป็นการสาธิตครับ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นาที (ประมาณ 45 วินาทีต่อขั้น)
เตรียมก่อนเริ่ม: เปิดเว็บทิ้งไว้ 1–2 นาทีก่อนนำเสนอ เพราะ Render ฟรีใช้เวลาตื่น 30–60 วินาที login บัญชีลูกค้า พนักงาน และ admin ไว้คนละหน้าต่าง incognito และเตรียมไฟล์ PDF ไว้หนึ่งไฟล์
ขั้นที่ 1 (P3) ลูกค้าสั่งพิมพ์ เลือก PDF ให้เห็นว่าระบบนับหน้าและราคาเปลี่ยนตาม ใส่โค้ดส่วนลด แล้วกดสั่ง
ขั้นที่ 2 (P4) พนักงานเปิดงานนั้น ให้เห็นว่าเมนูสถานะมีแค่ขั้นถัดไป กดยืนยัน แล้วบันทึกการชำระเงิน
ขั้นที่ 3 (P4) กลับหน้าลูกค้า ให้เห็นแจ้งเตือนและสถานะใหม่
ขั้นที่ 4 (P1) admin เปิดรายงานยอดขาย แล้วเปิด Swagger UI ให้เห็น endpoint
ปิด: ขอบคุณครับ ยินดีตอบคำถาม ใครรับผิดชอบส่วนไหนตอบส่วนนั้น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NK">
    <p:bg>
      <p:bgPr>
        <a:solidFill>
          <a:srgbClr val="161A2C"/>
        </a:solidFill>
      </p:bgPr>
    </p:bg>
    <p:spTree>
      <p:nvGrpSpPr>
        <p:cNvPr id="1" name=""/>
        <p:cNvGrpSpPr/>
        <p:nvPr/>
      </p:nvGrpSpPr>
      <p:grpSpPr>
        <a:xfrm>
          <a:off x="0" y="0"/>
          <a:ext cx="0" cy="0"/>
          <a:chOff x="0" y="0"/>
          <a:chExt cx="0" cy="0"/>
        </a:xfrm>
      </p:grpSpPr>
      <p:sp>
        <p:nvSpPr>
          <p:cNvPr id="2" name="Shape 0"/>
          <p:cNvSpPr/>
          <p:nvPr/>
        </p:nvSpPr>
        <p:spPr>
          <a:xfrm>
            <a:off x="0" y="0"/>
            <a:ext cx="2286000" cy="73152"/>
          </a:xfrm>
          <a:prstGeom prst="rect">
            <a:avLst/>
          </a:prstGeom>
          <a:solidFill>
            <a:srgbClr val="0A86C7"/>
          </a:solidFill>
          <a:ln w="12700">
            <a:solidFill>
              <a:srgbClr val="0A86C7"/>
            </a:solidFill>
            <a:prstDash val="solid"/>
          </a:ln>
        </p:spPr>
      </p:sp>
      <p:sp>
        <p:nvSpPr>
          <p:cNvPr id="3" name="Shape 1"/>
          <p:cNvSpPr/>
          <p:nvPr/>
        </p:nvSpPr>
        <p:spPr>
          <a:xfrm>
            <a:off x="2286000" y="0"/>
            <a:ext cx="2286000" cy="73152"/>
          </a:xfrm>
          <a:prstGeom prst="rect">
            <a:avLst/>
          </a:prstGeom>
          <a:solidFill>
            <a:srgbClr val="D6246E"/>
          </a:solidFill>
          <a:ln w="12700">
            <a:solidFill>
              <a:srgbClr val="D6246E"/>
            </a:solidFill>
            <a:prstDash val="solid"/>
          </a:ln>
        </p:spPr>
      </p:sp>
      <p:sp>
        <p:nvSpPr>
          <p:cNvPr id="4" name="Shape 2"/>
          <p:cNvSpPr/>
          <p:nvPr/>
        </p:nvSpPr>
        <p:spPr>
          <a:xfrm>
            <a:off x="4572000" y="0"/>
            <a:ext cx="2286000" cy="73152"/>
          </a:xfrm>
          <a:prstGeom prst="rect">
            <a:avLst/>
          </a:prstGeom>
          <a:solidFill>
            <a:srgbClr val="F2C200"/>
          </a:solidFill>
          <a:ln w="12700">
            <a:solidFill>
              <a:srgbClr val="F2C200"/>
            </a:solidFill>
            <a:prstDash val="solid"/>
          </a:ln>
        </p:spPr>
      </p:sp>
      <p:sp>
        <p:nvSpPr>
          <p:cNvPr id="5" name="Shape 3"/>
          <p:cNvSpPr/>
          <p:nvPr/>
        </p:nvSpPr>
        <p:spPr>
          <a:xfrm>
            <a:off x="6858000" y="0"/>
            <a:ext cx="2286000" cy="73152"/>
          </a:xfrm>
          <a:prstGeom prst="rect">
            <a:avLst/>
          </a:prstGeom>
          <a:solidFill>
            <a:srgbClr val="F5F4EF"/>
          </a:solidFill>
          <a:ln w="12700">
            <a:solidFill>
              <a:srgbClr val="F5F4EF"/>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PER">
    <p:bg>
      <p:bgPr>
        <a:solidFill>
          <a:srgbClr val="F5F4EF"/>
        </a:solidFill>
      </p:bgPr>
    </p:bg>
    <p:spTree>
      <p:nvGrpSpPr>
        <p:cNvPr id="1" name=""/>
        <p:cNvGrpSpPr/>
        <p:nvPr/>
      </p:nvGrpSpPr>
      <p:grpSpPr>
        <a:xfrm>
          <a:off x="0" y="0"/>
          <a:ext cx="0" cy="0"/>
          <a:chOff x="0" y="0"/>
          <a:chExt cx="0" cy="0"/>
        </a:xfrm>
      </p:grpSpPr>
      <p:sp>
        <p:nvSpPr>
          <p:cNvPr id="2" name="Shape 0"/>
          <p:cNvSpPr/>
          <p:nvPr/>
        </p:nvSpPr>
        <p:spPr>
          <a:xfrm>
            <a:off x="612648" y="420624"/>
            <a:ext cx="228600" cy="41148"/>
          </a:xfrm>
          <a:prstGeom prst="rect">
            <a:avLst/>
          </a:prstGeom>
          <a:solidFill>
            <a:srgbClr val="0A86C7"/>
          </a:solidFill>
          <a:ln w="12700">
            <a:solidFill>
              <a:srgbClr val="0A86C7"/>
            </a:solidFill>
            <a:prstDash val="solid"/>
          </a:ln>
        </p:spPr>
      </p:sp>
      <p:sp>
        <p:nvSpPr>
          <p:cNvPr id="3" name="Shape 1"/>
          <p:cNvSpPr/>
          <p:nvPr/>
        </p:nvSpPr>
        <p:spPr>
          <a:xfrm>
            <a:off x="841248" y="420624"/>
            <a:ext cx="228600" cy="41148"/>
          </a:xfrm>
          <a:prstGeom prst="rect">
            <a:avLst/>
          </a:prstGeom>
          <a:solidFill>
            <a:srgbClr val="D6246E"/>
          </a:solidFill>
          <a:ln w="12700">
            <a:solidFill>
              <a:srgbClr val="D6246E"/>
            </a:solidFill>
            <a:prstDash val="solid"/>
          </a:ln>
        </p:spPr>
      </p:sp>
      <p:sp>
        <p:nvSpPr>
          <p:cNvPr id="4" name="Shape 2"/>
          <p:cNvSpPr/>
          <p:nvPr/>
        </p:nvSpPr>
        <p:spPr>
          <a:xfrm>
            <a:off x="1069848" y="420624"/>
            <a:ext cx="228600" cy="41148"/>
          </a:xfrm>
          <a:prstGeom prst="rect">
            <a:avLst/>
          </a:prstGeom>
          <a:solidFill>
            <a:srgbClr val="F2C200"/>
          </a:solidFill>
          <a:ln w="12700">
            <a:solidFill>
              <a:srgbClr val="F2C200"/>
            </a:solidFill>
            <a:prstDash val="solid"/>
          </a:ln>
        </p:spPr>
      </p:sp>
      <p:sp>
        <p:nvSpPr>
          <p:cNvPr id="5" name="Shape 3"/>
          <p:cNvSpPr/>
          <p:nvPr/>
        </p:nvSpPr>
        <p:spPr>
          <a:xfrm>
            <a:off x="1298448" y="420624"/>
            <a:ext cx="228600" cy="41148"/>
          </a:xfrm>
          <a:prstGeom prst="rect">
            <a:avLst/>
          </a:prstGeom>
          <a:solidFill>
            <a:srgbClr val="161A2C"/>
          </a:solidFill>
          <a:ln w="12700">
            <a:solidFill>
              <a:srgbClr val="161A2C"/>
            </a:solidFill>
            <a:prstDash val="solid"/>
          </a:ln>
        </p:spPr>
      </p:sp>
      <p:sp>
        <p:nvSpPr>
          <p:cNvPr id="6" name="Text 4"/>
          <p:cNvSpPr/>
          <p:nvPr/>
        </p:nvSpPr>
        <p:spPr>
          <a:xfrm>
            <a:off x="612648" y="4754880"/>
            <a:ext cx="3657600" cy="228600"/>
          </a:xfrm>
          <a:prstGeom prst="rect">
            <a:avLst/>
          </a:prstGeom>
          <a:noFill/>
          <a:ln/>
        </p:spPr>
        <p:txBody>
          <a:bodyPr wrap="square" lIns="0" tIns="0" rIns="0" bIns="0" rtlCol="0" anchor="ctr"/>
          <a:lstStyle/>
          <a:p>
            <a:pPr indent="0" marL="0">
              <a:buNone/>
            </a:pPr>
            <a:r>
              <a:rPr lang="en-US" sz="1000" dirty="0">
                <a:solidFill>
                  <a:srgbClr val="6B6F7B"/>
                </a:solidFill>
              </a:rPr>
              <a:t>PrintFlow · CP353002 Sec 04</a:t>
            </a:r>
            <a:endParaRPr lang="en-US" sz="1000" dirty="0"/>
          </a:p>
        </p:txBody>
      </p:sp>
      <p:sp>
        <p:nvSpPr>
          <p:cNvPr id="7" name="Text 5"/>
          <p:cNvSpPr/>
          <p:nvPr>
            <p:ph idx="105" type="title" hasCustomPrompt="1"/>
          </p:nvPr>
        </p:nvSpPr>
        <p:spPr>
          <a:xfrm>
            <a:off x="612648" y="566928"/>
            <a:ext cx="6400800" cy="566928"/>
          </a:xfrm>
          <a:prstGeom prst="rect">
            <a:avLst/>
          </a:prstGeom>
          <a:noFill/>
          <a:ln/>
        </p:spPr>
        <p:txBody>
          <a:bodyPr wrap="square" rtlCol="0"/>
          <a:lstStyle>
            <a:lvl1pPr algn="l" indent="0" marL="0">
              <a:buNone/>
              <a:defRPr lang="en-US" sz="2600" b="1" dirty="0">
                <a:solidFill>
                  <a:srgbClr val="161A2C"/>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074152"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6F7B"/>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74152"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6F7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1"/>
          <p:cNvSpPr txBox="1"/>
          <p:nvPr/>
        </p:nvSpPr>
        <p:spPr>
          <a:xfrm>
            <a:off x="612648" y="1143000"/>
            <a:ext cx="4572000" cy="274320"/>
          </a:xfrm>
          <a:prstGeom prst="rect">
            <a:avLst/>
          </a:prstGeom>
          <a:noFill/>
          <a:ln/>
        </p:spPr>
        <p:txBody>
          <a:bodyPr wrap="square" lIns="0" tIns="0" rIns="0" bIns="0" rtlCol="0" anchor="t"/>
          <a:lstStyle/>
          <a:p>
            <a:pPr indent="0" marL="0">
              <a:buNone/>
            </a:pPr>
            <a:r>
              <a:rPr lang="en-US" sz="1300" b="1" spc="100" kern="0" dirty="0">
                <a:solidFill>
                  <a:srgbClr val="F2C200"/>
                </a:solidFill>
              </a:rPr>
              <a:t>CP353002 · Section 04</a:t>
            </a:r>
            <a:endParaRPr lang="en-US" sz="1300" dirty="0"/>
          </a:p>
        </p:txBody>
      </p:sp>
      <p:sp>
        <p:nvSpPr>
          <p:cNvPr id="3" name="text-2"/>
          <p:cNvSpPr txBox="1"/>
          <p:nvPr/>
        </p:nvSpPr>
        <p:spPr>
          <a:xfrm>
            <a:off x="612648" y="1463040"/>
            <a:ext cx="5120640" cy="914400"/>
          </a:xfrm>
          <a:prstGeom prst="rect">
            <a:avLst/>
          </a:prstGeom>
          <a:noFill/>
          <a:ln/>
        </p:spPr>
        <p:txBody>
          <a:bodyPr wrap="square" lIns="0" tIns="0" rIns="0" bIns="0" rtlCol="0" anchor="ctr"/>
          <a:lstStyle/>
          <a:p>
            <a:pPr indent="0" marL="0">
              <a:buNone/>
            </a:pPr>
            <a:r>
              <a:rPr lang="en-US" sz="6000" b="1" dirty="0">
                <a:solidFill>
                  <a:srgbClr val="F5F4EF"/>
                </a:solidFill>
              </a:rPr>
              <a:t>PrintFlow</a:t>
            </a:r>
            <a:endParaRPr lang="en-US" sz="6000" dirty="0"/>
          </a:p>
        </p:txBody>
      </p:sp>
      <p:sp>
        <p:nvSpPr>
          <p:cNvPr id="4" name="text-3"/>
          <p:cNvSpPr txBox="1"/>
          <p:nvPr/>
        </p:nvSpPr>
        <p:spPr>
          <a:xfrm>
            <a:off x="612648" y="2423160"/>
            <a:ext cx="4937760" cy="411480"/>
          </a:xfrm>
          <a:prstGeom prst="rect">
            <a:avLst/>
          </a:prstGeom>
          <a:noFill/>
          <a:ln/>
        </p:spPr>
        <p:txBody>
          <a:bodyPr wrap="square" lIns="0" tIns="0" rIns="0" bIns="0" rtlCol="0" anchor="t"/>
          <a:lstStyle/>
          <a:p>
            <a:pPr indent="0" marL="0">
              <a:buNone/>
            </a:pPr>
            <a:r>
              <a:rPr lang="en-US" sz="2100" dirty="0">
                <a:solidFill>
                  <a:srgbClr val="F5F4EF"/>
                </a:solidFill>
              </a:rPr>
              <a:t>ระบบจัดการร้านรับพิมพ์เอกสารออนไลน์</a:t>
            </a:r>
            <a:endParaRPr lang="en-US" sz="2100" dirty="0"/>
          </a:p>
        </p:txBody>
      </p:sp>
      <p:sp>
        <p:nvSpPr>
          <p:cNvPr id="5" name="text-4"/>
          <p:cNvSpPr txBox="1"/>
          <p:nvPr/>
        </p:nvSpPr>
        <p:spPr>
          <a:xfrm>
            <a:off x="612648" y="2880360"/>
            <a:ext cx="4937760" cy="274320"/>
          </a:xfrm>
          <a:prstGeom prst="rect">
            <a:avLst/>
          </a:prstGeom>
          <a:noFill/>
          <a:ln/>
        </p:spPr>
        <p:txBody>
          <a:bodyPr wrap="square" lIns="0" tIns="0" rIns="0" bIns="0" rtlCol="0" anchor="t"/>
          <a:lstStyle/>
          <a:p>
            <a:pPr indent="0" marL="0">
              <a:buNone/>
            </a:pPr>
            <a:r>
              <a:rPr lang="en-US" sz="1300" dirty="0">
                <a:solidFill>
                  <a:srgbClr val="B9BDCB"/>
                </a:solidFill>
              </a:rPr>
              <a:t>Spring Boot · Layered Architecture · Design Patterns</a:t>
            </a:r>
            <a:endParaRPr lang="en-US" sz="1300" dirty="0"/>
          </a:p>
        </p:txBody>
      </p:sp>
      <p:sp>
        <p:nvSpPr>
          <p:cNvPr id="6" name="text-5"/>
          <p:cNvSpPr txBox="1"/>
          <p:nvPr/>
        </p:nvSpPr>
        <p:spPr>
          <a:xfrm>
            <a:off x="612648" y="4343400"/>
            <a:ext cx="5120640" cy="274320"/>
          </a:xfrm>
          <a:prstGeom prst="rect">
            <a:avLst/>
          </a:prstGeom>
          <a:noFill/>
          <a:ln/>
        </p:spPr>
        <p:txBody>
          <a:bodyPr wrap="square" lIns="0" tIns="0" rIns="0" bIns="0" rtlCol="0" anchor="t"/>
          <a:lstStyle/>
          <a:p>
            <a:pPr indent="0" marL="0">
              <a:buNone/>
            </a:pPr>
            <a:r>
              <a:rPr lang="en-US" sz="1200" dirty="0">
                <a:solidFill>
                  <a:srgbClr val="B9BDCB"/>
                </a:solidFill>
              </a:rPr>
              <a:t>ณัฐชา (P1) · ปฏิภาณ (P2) · รัชชานนท์ (P3) · อาณัฐ (P4)</a:t>
            </a:r>
            <a:endParaRPr lang="en-US" sz="1200" dirty="0"/>
          </a:p>
        </p:txBody>
      </p:sp>
      <p:sp>
        <p:nvSpPr>
          <p:cNvPr id="7" name="slip"/>
          <p:cNvSpPr/>
          <p:nvPr/>
        </p:nvSpPr>
        <p:spPr>
          <a:xfrm>
            <a:off x="5623560" y="822960"/>
            <a:ext cx="2697480" cy="3520440"/>
          </a:xfrm>
          <a:prstGeom prst="rect">
            <a:avLst/>
          </a:prstGeom>
          <a:solidFill>
            <a:srgbClr val="FCFCFA"/>
          </a:solidFill>
          <a:ln w="12700">
            <a:solidFill>
              <a:srgbClr val="FCFCFA"/>
            </a:solidFill>
            <a:prstDash val="solid"/>
          </a:ln>
          <a:effectLst>
            <a:outerShdw sx="100000" sy="100000" kx="0" ky="0" algn="bl" rotWithShape="0" blurRad="228600" dist="76200" dir="5400000">
              <a:srgbClr val="000000">
                <a:alpha val="45000"/>
              </a:srgbClr>
            </a:outerShdw>
          </a:effectLst>
        </p:spPr>
      </p:sp>
      <p:sp>
        <p:nvSpPr>
          <p:cNvPr id="8" name="text-6"/>
          <p:cNvSpPr txBox="1"/>
          <p:nvPr/>
        </p:nvSpPr>
        <p:spPr>
          <a:xfrm>
            <a:off x="5897880" y="1078992"/>
            <a:ext cx="2103120" cy="365760"/>
          </a:xfrm>
          <a:prstGeom prst="rect">
            <a:avLst/>
          </a:prstGeom>
          <a:noFill/>
          <a:ln/>
        </p:spPr>
        <p:txBody>
          <a:bodyPr wrap="square" lIns="0" tIns="0" rIns="0" bIns="0" rtlCol="0" anchor="t"/>
          <a:lstStyle/>
          <a:p>
            <a:pPr indent="0" marL="0">
              <a:buNone/>
            </a:pPr>
            <a:r>
              <a:rPr lang="en-US" sz="2000" b="1" dirty="0">
                <a:solidFill>
                  <a:srgbClr val="161A2C"/>
                </a:solidFill>
              </a:rPr>
              <a:t>ใบสั่งงาน</a:t>
            </a:r>
            <a:endParaRPr lang="en-US" sz="2000" dirty="0"/>
          </a:p>
        </p:txBody>
      </p:sp>
      <p:sp>
        <p:nvSpPr>
          <p:cNvPr id="9" name="text-7"/>
          <p:cNvSpPr txBox="1"/>
          <p:nvPr/>
        </p:nvSpPr>
        <p:spPr>
          <a:xfrm>
            <a:off x="5897880" y="1444752"/>
            <a:ext cx="2194560" cy="228600"/>
          </a:xfrm>
          <a:prstGeom prst="rect">
            <a:avLst/>
          </a:prstGeom>
          <a:noFill/>
          <a:ln/>
        </p:spPr>
        <p:txBody>
          <a:bodyPr wrap="square" lIns="0" tIns="0" rIns="0" bIns="0" rtlCol="0" anchor="t"/>
          <a:lstStyle/>
          <a:p>
            <a:pPr indent="0" marL="0">
              <a:buNone/>
            </a:pPr>
            <a:r>
              <a:rPr lang="en-US" sz="1000" dirty="0">
                <a:solidFill>
                  <a:srgbClr val="6B6F7B"/>
                </a:solidFill>
              </a:rPr>
              <a:t>ตัวอย่างการคิดราคาจริงจากระบบ</a:t>
            </a:r>
            <a:endParaRPr lang="en-US" sz="1000" dirty="0"/>
          </a:p>
        </p:txBody>
      </p:sp>
      <p:sp>
        <p:nvSpPr>
          <p:cNvPr id="10" name="text-8"/>
          <p:cNvSpPr txBox="1"/>
          <p:nvPr/>
        </p:nvSpPr>
        <p:spPr>
          <a:xfrm>
            <a:off x="5897880" y="1828800"/>
            <a:ext cx="1554480" cy="274320"/>
          </a:xfrm>
          <a:prstGeom prst="rect">
            <a:avLst/>
          </a:prstGeom>
          <a:noFill/>
          <a:ln/>
        </p:spPr>
        <p:txBody>
          <a:bodyPr wrap="square" lIns="0" tIns="0" rIns="0" bIns="0" rtlCol="0" anchor="ctr"/>
          <a:lstStyle/>
          <a:p>
            <a:pPr indent="0" marL="0">
              <a:buNone/>
            </a:pPr>
            <a:r>
              <a:rPr lang="en-US" sz="1100" dirty="0">
                <a:solidFill>
                  <a:srgbClr val="161A2C"/>
                </a:solidFill>
              </a:rPr>
              <a:t>เอกสารสี 40 หน้า × 2</a:t>
            </a:r>
            <a:endParaRPr lang="en-US" sz="1100" dirty="0"/>
          </a:p>
        </p:txBody>
      </p:sp>
      <p:sp>
        <p:nvSpPr>
          <p:cNvPr id="11" name="text-9"/>
          <p:cNvSpPr txBox="1"/>
          <p:nvPr/>
        </p:nvSpPr>
        <p:spPr>
          <a:xfrm>
            <a:off x="7360920" y="1828800"/>
            <a:ext cx="685800" cy="274320"/>
          </a:xfrm>
          <a:prstGeom prst="rect">
            <a:avLst/>
          </a:prstGeom>
          <a:noFill/>
          <a:ln/>
        </p:spPr>
        <p:txBody>
          <a:bodyPr wrap="square" lIns="0" tIns="0" rIns="0" bIns="0" rtlCol="0" anchor="ctr"/>
          <a:lstStyle/>
          <a:p>
            <a:pPr algn="r" indent="0" marL="0">
              <a:buNone/>
            </a:pPr>
            <a:r>
              <a:rPr lang="en-US" sz="1100" dirty="0">
                <a:solidFill>
                  <a:srgbClr val="161A2C"/>
                </a:solidFill>
                <a:latin typeface="Consolas" pitchFamily="34" charset="0"/>
                <a:ea typeface="Consolas" pitchFamily="34" charset="-122"/>
                <a:cs typeface="Leelawadee UI" pitchFamily="34" charset="-120"/>
              </a:rPr>
              <a:t>400.00</a:t>
            </a:r>
            <a:endParaRPr lang="en-US" sz="1100" dirty="0"/>
          </a:p>
        </p:txBody>
      </p:sp>
      <p:sp>
        <p:nvSpPr>
          <p:cNvPr id="12" name="leader-10"/>
          <p:cNvSpPr/>
          <p:nvPr/>
        </p:nvSpPr>
        <p:spPr>
          <a:xfrm>
            <a:off x="5897880" y="2139696"/>
            <a:ext cx="2148840" cy="0"/>
          </a:xfrm>
          <a:prstGeom prst="line">
            <a:avLst/>
          </a:prstGeom>
          <a:noFill/>
          <a:ln w="9525">
            <a:solidFill>
              <a:srgbClr val="CFCDC4"/>
            </a:solidFill>
            <a:prstDash val="sysDot"/>
          </a:ln>
        </p:spPr>
      </p:sp>
      <p:sp>
        <p:nvSpPr>
          <p:cNvPr id="13" name="text-11"/>
          <p:cNvSpPr txBox="1"/>
          <p:nvPr/>
        </p:nvSpPr>
        <p:spPr>
          <a:xfrm>
            <a:off x="5897880" y="2212848"/>
            <a:ext cx="1554480" cy="274320"/>
          </a:xfrm>
          <a:prstGeom prst="rect">
            <a:avLst/>
          </a:prstGeom>
          <a:noFill/>
          <a:ln/>
        </p:spPr>
        <p:txBody>
          <a:bodyPr wrap="square" lIns="0" tIns="0" rIns="0" bIns="0" rtlCol="0" anchor="ctr"/>
          <a:lstStyle/>
          <a:p>
            <a:pPr indent="0" marL="0">
              <a:buNone/>
            </a:pPr>
            <a:r>
              <a:rPr lang="en-US" sz="1100" dirty="0">
                <a:solidFill>
                  <a:srgbClr val="161A2C"/>
                </a:solidFill>
              </a:rPr>
              <a:t>เย็บมุม × 2</a:t>
            </a:r>
            <a:endParaRPr lang="en-US" sz="1100" dirty="0"/>
          </a:p>
        </p:txBody>
      </p:sp>
      <p:sp>
        <p:nvSpPr>
          <p:cNvPr id="14" name="text-12"/>
          <p:cNvSpPr txBox="1"/>
          <p:nvPr/>
        </p:nvSpPr>
        <p:spPr>
          <a:xfrm>
            <a:off x="7360920" y="2212848"/>
            <a:ext cx="685800" cy="274320"/>
          </a:xfrm>
          <a:prstGeom prst="rect">
            <a:avLst/>
          </a:prstGeom>
          <a:noFill/>
          <a:ln/>
        </p:spPr>
        <p:txBody>
          <a:bodyPr wrap="square" lIns="0" tIns="0" rIns="0" bIns="0" rtlCol="0" anchor="ctr"/>
          <a:lstStyle/>
          <a:p>
            <a:pPr algn="r" indent="0" marL="0">
              <a:buNone/>
            </a:pPr>
            <a:r>
              <a:rPr lang="en-US" sz="1100" dirty="0">
                <a:solidFill>
                  <a:srgbClr val="161A2C"/>
                </a:solidFill>
                <a:latin typeface="Consolas" pitchFamily="34" charset="0"/>
                <a:ea typeface="Consolas" pitchFamily="34" charset="-122"/>
                <a:cs typeface="Leelawadee UI" pitchFamily="34" charset="-120"/>
              </a:rPr>
              <a:t>4.00</a:t>
            </a:r>
            <a:endParaRPr lang="en-US" sz="1100" dirty="0"/>
          </a:p>
        </p:txBody>
      </p:sp>
      <p:sp>
        <p:nvSpPr>
          <p:cNvPr id="15" name="leader-13"/>
          <p:cNvSpPr/>
          <p:nvPr/>
        </p:nvSpPr>
        <p:spPr>
          <a:xfrm>
            <a:off x="5897880" y="2523744"/>
            <a:ext cx="2148840" cy="0"/>
          </a:xfrm>
          <a:prstGeom prst="line">
            <a:avLst/>
          </a:prstGeom>
          <a:noFill/>
          <a:ln w="9525">
            <a:solidFill>
              <a:srgbClr val="CFCDC4"/>
            </a:solidFill>
            <a:prstDash val="sysDot"/>
          </a:ln>
        </p:spPr>
      </p:sp>
      <p:sp>
        <p:nvSpPr>
          <p:cNvPr id="16" name="text-14"/>
          <p:cNvSpPr txBox="1"/>
          <p:nvPr/>
        </p:nvSpPr>
        <p:spPr>
          <a:xfrm>
            <a:off x="5897880" y="2596896"/>
            <a:ext cx="1554480" cy="274320"/>
          </a:xfrm>
          <a:prstGeom prst="rect">
            <a:avLst/>
          </a:prstGeom>
          <a:noFill/>
          <a:ln/>
        </p:spPr>
        <p:txBody>
          <a:bodyPr wrap="square" lIns="0" tIns="0" rIns="0" bIns="0" rtlCol="0" anchor="ctr"/>
          <a:lstStyle/>
          <a:p>
            <a:pPr indent="0" marL="0">
              <a:buNone/>
            </a:pPr>
            <a:r>
              <a:rPr lang="en-US" sz="1100" dirty="0">
                <a:solidFill>
                  <a:srgbClr val="C8235F"/>
                </a:solidFill>
              </a:rPr>
              <a:t>โค้ด SAVE10 ลด 10%</a:t>
            </a:r>
            <a:endParaRPr lang="en-US" sz="1100" dirty="0"/>
          </a:p>
        </p:txBody>
      </p:sp>
      <p:sp>
        <p:nvSpPr>
          <p:cNvPr id="17" name="text-15"/>
          <p:cNvSpPr txBox="1"/>
          <p:nvPr/>
        </p:nvSpPr>
        <p:spPr>
          <a:xfrm>
            <a:off x="7360920" y="2596896"/>
            <a:ext cx="685800" cy="274320"/>
          </a:xfrm>
          <a:prstGeom prst="rect">
            <a:avLst/>
          </a:prstGeom>
          <a:noFill/>
          <a:ln/>
        </p:spPr>
        <p:txBody>
          <a:bodyPr wrap="square" lIns="0" tIns="0" rIns="0" bIns="0" rtlCol="0" anchor="ctr"/>
          <a:lstStyle/>
          <a:p>
            <a:pPr algn="r" indent="0" marL="0">
              <a:buNone/>
            </a:pPr>
            <a:r>
              <a:rPr lang="en-US" sz="1100" dirty="0">
                <a:solidFill>
                  <a:srgbClr val="C8235F"/>
                </a:solidFill>
                <a:latin typeface="Consolas" pitchFamily="34" charset="0"/>
                <a:ea typeface="Consolas" pitchFamily="34" charset="-122"/>
                <a:cs typeface="Leelawadee UI" pitchFamily="34" charset="-120"/>
              </a:rPr>
              <a:t>−40.40</a:t>
            </a:r>
            <a:endParaRPr lang="en-US" sz="1100" dirty="0"/>
          </a:p>
        </p:txBody>
      </p:sp>
      <p:sp>
        <p:nvSpPr>
          <p:cNvPr id="18" name="leader-16"/>
          <p:cNvSpPr/>
          <p:nvPr/>
        </p:nvSpPr>
        <p:spPr>
          <a:xfrm>
            <a:off x="5897880" y="2907792"/>
            <a:ext cx="2148840" cy="0"/>
          </a:xfrm>
          <a:prstGeom prst="line">
            <a:avLst/>
          </a:prstGeom>
          <a:noFill/>
          <a:ln w="9525">
            <a:solidFill>
              <a:srgbClr val="CFCDC4"/>
            </a:solidFill>
            <a:prstDash val="sysDot"/>
          </a:ln>
        </p:spPr>
      </p:sp>
      <p:sp>
        <p:nvSpPr>
          <p:cNvPr id="19" name="slip-rule-17"/>
          <p:cNvSpPr/>
          <p:nvPr/>
        </p:nvSpPr>
        <p:spPr>
          <a:xfrm>
            <a:off x="5897880" y="3035808"/>
            <a:ext cx="2148840" cy="22860"/>
          </a:xfrm>
          <a:prstGeom prst="rect">
            <a:avLst/>
          </a:prstGeom>
          <a:solidFill>
            <a:srgbClr val="161A2C"/>
          </a:solidFill>
          <a:ln w="12700">
            <a:solidFill>
              <a:srgbClr val="161A2C"/>
            </a:solidFill>
            <a:prstDash val="solid"/>
          </a:ln>
        </p:spPr>
      </p:sp>
      <p:sp>
        <p:nvSpPr>
          <p:cNvPr id="20" name="text-18"/>
          <p:cNvSpPr txBox="1"/>
          <p:nvPr/>
        </p:nvSpPr>
        <p:spPr>
          <a:xfrm>
            <a:off x="5897880" y="3154680"/>
            <a:ext cx="914400" cy="457200"/>
          </a:xfrm>
          <a:prstGeom prst="rect">
            <a:avLst/>
          </a:prstGeom>
          <a:noFill/>
          <a:ln/>
        </p:spPr>
        <p:txBody>
          <a:bodyPr wrap="square" lIns="0" tIns="0" rIns="0" bIns="0" rtlCol="0" anchor="b"/>
          <a:lstStyle/>
          <a:p>
            <a:pPr indent="0" marL="0">
              <a:buNone/>
            </a:pPr>
            <a:r>
              <a:rPr lang="en-US" sz="1200" b="1" dirty="0">
                <a:solidFill>
                  <a:srgbClr val="161A2C"/>
                </a:solidFill>
              </a:rPr>
              <a:t>ยอดสุทธิ</a:t>
            </a:r>
            <a:endParaRPr lang="en-US" sz="1200" dirty="0"/>
          </a:p>
        </p:txBody>
      </p:sp>
      <p:sp>
        <p:nvSpPr>
          <p:cNvPr id="21" name="text-19"/>
          <p:cNvSpPr txBox="1"/>
          <p:nvPr/>
        </p:nvSpPr>
        <p:spPr>
          <a:xfrm>
            <a:off x="6629400" y="3108960"/>
            <a:ext cx="1417320" cy="548640"/>
          </a:xfrm>
          <a:prstGeom prst="rect">
            <a:avLst/>
          </a:prstGeom>
          <a:noFill/>
          <a:ln/>
        </p:spPr>
        <p:txBody>
          <a:bodyPr wrap="square" lIns="0" tIns="0" rIns="0" bIns="0" rtlCol="0" anchor="b"/>
          <a:lstStyle/>
          <a:p>
            <a:pPr algn="r" indent="0" marL="0">
              <a:buNone/>
            </a:pPr>
            <a:r>
              <a:rPr lang="en-US" sz="3000" b="1" dirty="0">
                <a:solidFill>
                  <a:srgbClr val="161A2C"/>
                </a:solidFill>
              </a:rPr>
              <a:t>363.60</a:t>
            </a:r>
            <a:endParaRPr lang="en-US" sz="3000" dirty="0"/>
          </a:p>
        </p:txBody>
      </p:sp>
      <p:sp>
        <p:nvSpPr>
          <p:cNvPr id="22" name="colorbar-20"/>
          <p:cNvSpPr/>
          <p:nvPr/>
        </p:nvSpPr>
        <p:spPr>
          <a:xfrm>
            <a:off x="5897880" y="3886200"/>
            <a:ext cx="268605" cy="118872"/>
          </a:xfrm>
          <a:prstGeom prst="rect">
            <a:avLst/>
          </a:prstGeom>
          <a:solidFill>
            <a:srgbClr val="0A86C7"/>
          </a:solidFill>
          <a:ln w="12700">
            <a:solidFill>
              <a:srgbClr val="0A86C7"/>
            </a:solidFill>
            <a:prstDash val="solid"/>
          </a:ln>
        </p:spPr>
      </p:sp>
      <p:sp>
        <p:nvSpPr>
          <p:cNvPr id="23" name="colorbar-21"/>
          <p:cNvSpPr/>
          <p:nvPr/>
        </p:nvSpPr>
        <p:spPr>
          <a:xfrm>
            <a:off x="6166485" y="3886200"/>
            <a:ext cx="268605" cy="118872"/>
          </a:xfrm>
          <a:prstGeom prst="rect">
            <a:avLst/>
          </a:prstGeom>
          <a:solidFill>
            <a:srgbClr val="D6246E"/>
          </a:solidFill>
          <a:ln w="12700">
            <a:solidFill>
              <a:srgbClr val="D6246E"/>
            </a:solidFill>
            <a:prstDash val="solid"/>
          </a:ln>
        </p:spPr>
      </p:sp>
      <p:sp>
        <p:nvSpPr>
          <p:cNvPr id="24" name="colorbar-22"/>
          <p:cNvSpPr/>
          <p:nvPr/>
        </p:nvSpPr>
        <p:spPr>
          <a:xfrm>
            <a:off x="6435090" y="3886200"/>
            <a:ext cx="268605" cy="118872"/>
          </a:xfrm>
          <a:prstGeom prst="rect">
            <a:avLst/>
          </a:prstGeom>
          <a:solidFill>
            <a:srgbClr val="F2C200"/>
          </a:solidFill>
          <a:ln w="12700">
            <a:solidFill>
              <a:srgbClr val="F2C200"/>
            </a:solidFill>
            <a:prstDash val="solid"/>
          </a:ln>
        </p:spPr>
      </p:sp>
      <p:sp>
        <p:nvSpPr>
          <p:cNvPr id="25" name="colorbar-23"/>
          <p:cNvSpPr/>
          <p:nvPr/>
        </p:nvSpPr>
        <p:spPr>
          <a:xfrm>
            <a:off x="6703695" y="3886200"/>
            <a:ext cx="268605" cy="118872"/>
          </a:xfrm>
          <a:prstGeom prst="rect">
            <a:avLst/>
          </a:prstGeom>
          <a:solidFill>
            <a:srgbClr val="161A2C"/>
          </a:solidFill>
          <a:ln w="12700">
            <a:solidFill>
              <a:srgbClr val="161A2C"/>
            </a:solidFill>
            <a:prstDash val="solid"/>
          </a:ln>
        </p:spPr>
      </p:sp>
      <p:sp>
        <p:nvSpPr>
          <p:cNvPr id="26" name="colorbar-24"/>
          <p:cNvSpPr/>
          <p:nvPr/>
        </p:nvSpPr>
        <p:spPr>
          <a:xfrm>
            <a:off x="6972300" y="3886200"/>
            <a:ext cx="268605" cy="118872"/>
          </a:xfrm>
          <a:prstGeom prst="rect">
            <a:avLst/>
          </a:prstGeom>
          <a:solidFill>
            <a:srgbClr val="7FC4E6"/>
          </a:solidFill>
          <a:ln w="12700">
            <a:solidFill>
              <a:srgbClr val="7FC4E6"/>
            </a:solidFill>
            <a:prstDash val="solid"/>
          </a:ln>
        </p:spPr>
      </p:sp>
      <p:sp>
        <p:nvSpPr>
          <p:cNvPr id="27" name="colorbar-25"/>
          <p:cNvSpPr/>
          <p:nvPr/>
        </p:nvSpPr>
        <p:spPr>
          <a:xfrm>
            <a:off x="7240905" y="3886200"/>
            <a:ext cx="268605" cy="118872"/>
          </a:xfrm>
          <a:prstGeom prst="rect">
            <a:avLst/>
          </a:prstGeom>
          <a:solidFill>
            <a:srgbClr val="EB92B7"/>
          </a:solidFill>
          <a:ln w="12700">
            <a:solidFill>
              <a:srgbClr val="EB92B7"/>
            </a:solidFill>
            <a:prstDash val="solid"/>
          </a:ln>
        </p:spPr>
      </p:sp>
      <p:sp>
        <p:nvSpPr>
          <p:cNvPr id="28" name="colorbar-26"/>
          <p:cNvSpPr/>
          <p:nvPr/>
        </p:nvSpPr>
        <p:spPr>
          <a:xfrm>
            <a:off x="7509510" y="3886200"/>
            <a:ext cx="268605" cy="118872"/>
          </a:xfrm>
          <a:prstGeom prst="rect">
            <a:avLst/>
          </a:prstGeom>
          <a:solidFill>
            <a:srgbClr val="F9E080"/>
          </a:solidFill>
          <a:ln w="12700">
            <a:solidFill>
              <a:srgbClr val="F9E080"/>
            </a:solidFill>
            <a:prstDash val="solid"/>
          </a:ln>
        </p:spPr>
      </p:sp>
      <p:sp>
        <p:nvSpPr>
          <p:cNvPr id="29" name="colorbar-27"/>
          <p:cNvSpPr/>
          <p:nvPr/>
        </p:nvSpPr>
        <p:spPr>
          <a:xfrm>
            <a:off x="7778115" y="3886200"/>
            <a:ext cx="268605" cy="118872"/>
          </a:xfrm>
          <a:prstGeom prst="rect">
            <a:avLst/>
          </a:prstGeom>
          <a:solidFill>
            <a:srgbClr val="8B8C8E"/>
          </a:solidFill>
          <a:ln w="12700">
            <a:solidFill>
              <a:srgbClr val="8B8C8E"/>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p:nvPr>
            <p:ph idx="105" type="title" hasCustomPrompt="1"/>
          </p:nvPr>
        </p:nvSpPr>
        <p:spPr>
          <a:xfrm>
            <a:off x="612648" y="566928"/>
            <a:ext cx="6400800" cy="566928"/>
          </a:xfrm>
          <a:prstGeom prst="rect">
            <a:avLst/>
          </a:prstGeom>
          <a:noFill/>
          <a:ln/>
        </p:spPr>
        <p:txBody>
          <a:bodyPr wrap="square" lIns="0" tIns="0" rIns="0" bIns="0" rtlCol="0" anchor="ctr"/>
          <a:lstStyle/>
          <a:p>
            <a:pPr algn="l" indent="0" marL="0">
              <a:buNone/>
            </a:pPr>
            <a:r>
              <a:rPr lang="en-US" sz="2600" b="1" dirty="0">
                <a:solidFill>
                  <a:srgbClr val="161A2C"/>
                </a:solidFill>
              </a:rPr>
              <a:t>ที่มาและวัตถุประสงค์</a:t>
            </a:r>
            <a:endParaRPr lang="en-US" sz="2600" dirty="0"/>
          </a:p>
        </p:txBody>
      </p:sp>
      <p:sp>
        <p:nvSpPr>
          <p:cNvPr id="3" name="speaker-pill"/>
          <p:cNvSpPr/>
          <p:nvPr/>
        </p:nvSpPr>
        <p:spPr>
          <a:xfrm>
            <a:off x="7159752" y="329184"/>
            <a:ext cx="1371600" cy="292608"/>
          </a:xfrm>
          <a:prstGeom prst="roundRect">
            <a:avLst>
              <a:gd name="adj" fmla="val 50000"/>
            </a:avLst>
          </a:prstGeom>
          <a:solidFill>
            <a:srgbClr val="161A2C"/>
          </a:solidFill>
          <a:ln w="12700">
            <a:solidFill>
              <a:srgbClr val="161A2C"/>
            </a:solidFill>
            <a:prstDash val="solid"/>
          </a:ln>
        </p:spPr>
      </p:sp>
      <p:sp>
        <p:nvSpPr>
          <p:cNvPr id="4" name="speaker-label"/>
          <p:cNvSpPr txBox="1"/>
          <p:nvPr/>
        </p:nvSpPr>
        <p:spPr>
          <a:xfrm>
            <a:off x="7159752" y="329184"/>
            <a:ext cx="1371600" cy="292608"/>
          </a:xfrm>
          <a:prstGeom prst="rect">
            <a:avLst/>
          </a:prstGeom>
          <a:noFill/>
          <a:ln/>
        </p:spPr>
        <p:txBody>
          <a:bodyPr wrap="square" lIns="0" tIns="0" rIns="0" bIns="0" rtlCol="0" anchor="ctr"/>
          <a:lstStyle/>
          <a:p>
            <a:pPr algn="ctr" indent="0" marL="0">
              <a:buNone/>
            </a:pPr>
            <a:r>
              <a:rPr lang="en-US" sz="1100" b="1" dirty="0">
                <a:solidFill>
                  <a:srgbClr val="FCFCFA"/>
                </a:solidFill>
              </a:rPr>
              <a:t>P1 ณัฐชา</a:t>
            </a:r>
            <a:endParaRPr lang="en-US" sz="1100" dirty="0"/>
          </a:p>
        </p:txBody>
      </p:sp>
      <p:sp>
        <p:nvSpPr>
          <p:cNvPr id="5" name="card-29"/>
          <p:cNvSpPr/>
          <p:nvPr/>
        </p:nvSpPr>
        <p:spPr>
          <a:xfrm>
            <a:off x="612648" y="1325880"/>
            <a:ext cx="2523744" cy="1234440"/>
          </a:xfrm>
          <a:prstGeom prst="rect">
            <a:avLst/>
          </a:prstGeom>
          <a:solidFill>
            <a:srgbClr val="FCFCFA"/>
          </a:solidFill>
          <a:ln w="9525">
            <a:solidFill>
              <a:srgbClr val="E2E0D8"/>
            </a:solidFill>
            <a:prstDash val="solid"/>
          </a:ln>
        </p:spPr>
      </p:sp>
      <p:sp>
        <p:nvSpPr>
          <p:cNvPr id="6" name="card-accent-30"/>
          <p:cNvSpPr/>
          <p:nvPr/>
        </p:nvSpPr>
        <p:spPr>
          <a:xfrm>
            <a:off x="612648" y="1325880"/>
            <a:ext cx="2523744" cy="54864"/>
          </a:xfrm>
          <a:prstGeom prst="rect">
            <a:avLst/>
          </a:prstGeom>
          <a:solidFill>
            <a:srgbClr val="0A86C7"/>
          </a:solidFill>
          <a:ln w="12700">
            <a:solidFill>
              <a:srgbClr val="0A86C7"/>
            </a:solidFill>
            <a:prstDash val="solid"/>
          </a:ln>
        </p:spPr>
      </p:sp>
      <p:sp>
        <p:nvSpPr>
          <p:cNvPr id="7" name="text-31"/>
          <p:cNvSpPr txBox="1"/>
          <p:nvPr/>
        </p:nvSpPr>
        <p:spPr>
          <a:xfrm>
            <a:off x="841248" y="1508760"/>
            <a:ext cx="2103120" cy="365760"/>
          </a:xfrm>
          <a:prstGeom prst="rect">
            <a:avLst/>
          </a:prstGeom>
          <a:noFill/>
          <a:ln/>
        </p:spPr>
        <p:txBody>
          <a:bodyPr wrap="square" lIns="0" tIns="0" rIns="0" bIns="0" rtlCol="0" anchor="t"/>
          <a:lstStyle/>
          <a:p>
            <a:pPr indent="0" marL="0">
              <a:buNone/>
            </a:pPr>
            <a:r>
              <a:rPr lang="en-US" sz="1700" b="1" dirty="0">
                <a:solidFill>
                  <a:srgbClr val="161A2C"/>
                </a:solidFill>
              </a:rPr>
              <a:t>คิดราคาด้วยมือ</a:t>
            </a:r>
            <a:endParaRPr lang="en-US" sz="1700" dirty="0"/>
          </a:p>
        </p:txBody>
      </p:sp>
      <p:sp>
        <p:nvSpPr>
          <p:cNvPr id="8" name="text-32"/>
          <p:cNvSpPr txBox="1"/>
          <p:nvPr/>
        </p:nvSpPr>
        <p:spPr>
          <a:xfrm>
            <a:off x="841248" y="1920240"/>
            <a:ext cx="2103120" cy="548640"/>
          </a:xfrm>
          <a:prstGeom prst="rect">
            <a:avLst/>
          </a:prstGeom>
          <a:noFill/>
          <a:ln/>
        </p:spPr>
        <p:txBody>
          <a:bodyPr wrap="square" lIns="0" tIns="0" rIns="0" bIns="0" rtlCol="0" anchor="t"/>
          <a:lstStyle/>
          <a:p>
            <a:pPr indent="0" marL="0">
              <a:buNone/>
            </a:pPr>
            <a:r>
              <a:rPr lang="en-US" sz="1250" dirty="0">
                <a:solidFill>
                  <a:srgbClr val="4A4F5E"/>
                </a:solidFill>
              </a:rPr>
              <a:t>หลายประเภทงาน + โค้ดส่วนลด คิดผิดง่าย</a:t>
            </a:r>
            <a:endParaRPr lang="en-US" sz="1250" dirty="0"/>
          </a:p>
        </p:txBody>
      </p:sp>
      <p:sp>
        <p:nvSpPr>
          <p:cNvPr id="9" name="card-33"/>
          <p:cNvSpPr/>
          <p:nvPr/>
        </p:nvSpPr>
        <p:spPr>
          <a:xfrm>
            <a:off x="3310128" y="1325880"/>
            <a:ext cx="2523744" cy="1234440"/>
          </a:xfrm>
          <a:prstGeom prst="rect">
            <a:avLst/>
          </a:prstGeom>
          <a:solidFill>
            <a:srgbClr val="FCFCFA"/>
          </a:solidFill>
          <a:ln w="9525">
            <a:solidFill>
              <a:srgbClr val="E2E0D8"/>
            </a:solidFill>
            <a:prstDash val="solid"/>
          </a:ln>
        </p:spPr>
      </p:sp>
      <p:sp>
        <p:nvSpPr>
          <p:cNvPr id="10" name="card-accent-34"/>
          <p:cNvSpPr/>
          <p:nvPr/>
        </p:nvSpPr>
        <p:spPr>
          <a:xfrm>
            <a:off x="3310128" y="1325880"/>
            <a:ext cx="2523744" cy="54864"/>
          </a:xfrm>
          <a:prstGeom prst="rect">
            <a:avLst/>
          </a:prstGeom>
          <a:solidFill>
            <a:srgbClr val="D6246E"/>
          </a:solidFill>
          <a:ln w="12700">
            <a:solidFill>
              <a:srgbClr val="D6246E"/>
            </a:solidFill>
            <a:prstDash val="solid"/>
          </a:ln>
        </p:spPr>
      </p:sp>
      <p:sp>
        <p:nvSpPr>
          <p:cNvPr id="11" name="text-35"/>
          <p:cNvSpPr txBox="1"/>
          <p:nvPr/>
        </p:nvSpPr>
        <p:spPr>
          <a:xfrm>
            <a:off x="3538728" y="1508760"/>
            <a:ext cx="2103120" cy="365760"/>
          </a:xfrm>
          <a:prstGeom prst="rect">
            <a:avLst/>
          </a:prstGeom>
          <a:noFill/>
          <a:ln/>
        </p:spPr>
        <p:txBody>
          <a:bodyPr wrap="square" lIns="0" tIns="0" rIns="0" bIns="0" rtlCol="0" anchor="t"/>
          <a:lstStyle/>
          <a:p>
            <a:pPr indent="0" marL="0">
              <a:buNone/>
            </a:pPr>
            <a:r>
              <a:rPr lang="en-US" sz="1700" b="1" dirty="0">
                <a:solidFill>
                  <a:srgbClr val="161A2C"/>
                </a:solidFill>
              </a:rPr>
              <a:t>โทรถามสถานะ</a:t>
            </a:r>
            <a:endParaRPr lang="en-US" sz="1700" dirty="0"/>
          </a:p>
        </p:txBody>
      </p:sp>
      <p:sp>
        <p:nvSpPr>
          <p:cNvPr id="12" name="text-36"/>
          <p:cNvSpPr txBox="1"/>
          <p:nvPr/>
        </p:nvSpPr>
        <p:spPr>
          <a:xfrm>
            <a:off x="3538728" y="1920240"/>
            <a:ext cx="2103120" cy="548640"/>
          </a:xfrm>
          <a:prstGeom prst="rect">
            <a:avLst/>
          </a:prstGeom>
          <a:noFill/>
          <a:ln/>
        </p:spPr>
        <p:txBody>
          <a:bodyPr wrap="square" lIns="0" tIns="0" rIns="0" bIns="0" rtlCol="0" anchor="t"/>
          <a:lstStyle/>
          <a:p>
            <a:pPr indent="0" marL="0">
              <a:buNone/>
            </a:pPr>
            <a:r>
              <a:rPr lang="en-US" sz="1250" dirty="0">
                <a:solidFill>
                  <a:srgbClr val="4A4F5E"/>
                </a:solidFill>
              </a:rPr>
              <a:t>ลูกค้าไม่รู้ว่างานถึงไหน</a:t>
            </a:r>
            <a:endParaRPr lang="en-US" sz="1250" dirty="0"/>
          </a:p>
        </p:txBody>
      </p:sp>
      <p:sp>
        <p:nvSpPr>
          <p:cNvPr id="13" name="card-37"/>
          <p:cNvSpPr/>
          <p:nvPr/>
        </p:nvSpPr>
        <p:spPr>
          <a:xfrm>
            <a:off x="6007608" y="1325880"/>
            <a:ext cx="2523744" cy="1234440"/>
          </a:xfrm>
          <a:prstGeom prst="rect">
            <a:avLst/>
          </a:prstGeom>
          <a:solidFill>
            <a:srgbClr val="FCFCFA"/>
          </a:solidFill>
          <a:ln w="9525">
            <a:solidFill>
              <a:srgbClr val="E2E0D8"/>
            </a:solidFill>
            <a:prstDash val="solid"/>
          </a:ln>
        </p:spPr>
      </p:sp>
      <p:sp>
        <p:nvSpPr>
          <p:cNvPr id="14" name="card-accent-38"/>
          <p:cNvSpPr/>
          <p:nvPr/>
        </p:nvSpPr>
        <p:spPr>
          <a:xfrm>
            <a:off x="6007608" y="1325880"/>
            <a:ext cx="2523744" cy="54864"/>
          </a:xfrm>
          <a:prstGeom prst="rect">
            <a:avLst/>
          </a:prstGeom>
          <a:solidFill>
            <a:srgbClr val="F2C200"/>
          </a:solidFill>
          <a:ln w="12700">
            <a:solidFill>
              <a:srgbClr val="F2C200"/>
            </a:solidFill>
            <a:prstDash val="solid"/>
          </a:ln>
        </p:spPr>
      </p:sp>
      <p:sp>
        <p:nvSpPr>
          <p:cNvPr id="15" name="text-39"/>
          <p:cNvSpPr txBox="1"/>
          <p:nvPr/>
        </p:nvSpPr>
        <p:spPr>
          <a:xfrm>
            <a:off x="6236208" y="1508760"/>
            <a:ext cx="2103120" cy="365760"/>
          </a:xfrm>
          <a:prstGeom prst="rect">
            <a:avLst/>
          </a:prstGeom>
          <a:noFill/>
          <a:ln/>
        </p:spPr>
        <p:txBody>
          <a:bodyPr wrap="square" lIns="0" tIns="0" rIns="0" bIns="0" rtlCol="0" anchor="t"/>
          <a:lstStyle/>
          <a:p>
            <a:pPr indent="0" marL="0">
              <a:buNone/>
            </a:pPr>
            <a:r>
              <a:rPr lang="en-US" sz="1700" b="1" dirty="0">
                <a:solidFill>
                  <a:srgbClr val="161A2C"/>
                </a:solidFill>
              </a:rPr>
              <a:t>ไม่มีตัวเลขสรุป</a:t>
            </a:r>
            <a:endParaRPr lang="en-US" sz="1700" dirty="0"/>
          </a:p>
        </p:txBody>
      </p:sp>
      <p:sp>
        <p:nvSpPr>
          <p:cNvPr id="16" name="text-40"/>
          <p:cNvSpPr txBox="1"/>
          <p:nvPr/>
        </p:nvSpPr>
        <p:spPr>
          <a:xfrm>
            <a:off x="6236208" y="1920240"/>
            <a:ext cx="2103120" cy="548640"/>
          </a:xfrm>
          <a:prstGeom prst="rect">
            <a:avLst/>
          </a:prstGeom>
          <a:noFill/>
          <a:ln/>
        </p:spPr>
        <p:txBody>
          <a:bodyPr wrap="square" lIns="0" tIns="0" rIns="0" bIns="0" rtlCol="0" anchor="t"/>
          <a:lstStyle/>
          <a:p>
            <a:pPr indent="0" marL="0">
              <a:buNone/>
            </a:pPr>
            <a:r>
              <a:rPr lang="en-US" sz="1250" dirty="0">
                <a:solidFill>
                  <a:srgbClr val="4A4F5E"/>
                </a:solidFill>
              </a:rPr>
              <a:t>ร้านไม่รู้ยอดขาย ไม่รู้ว่าอะไรขายดี</a:t>
            </a:r>
            <a:endParaRPr lang="en-US" sz="1250" dirty="0"/>
          </a:p>
        </p:txBody>
      </p:sp>
      <p:sp>
        <p:nvSpPr>
          <p:cNvPr id="17" name="goals-41"/>
          <p:cNvSpPr/>
          <p:nvPr/>
        </p:nvSpPr>
        <p:spPr>
          <a:xfrm>
            <a:off x="612648" y="2788920"/>
            <a:ext cx="7918704" cy="1737360"/>
          </a:xfrm>
          <a:prstGeom prst="rect">
            <a:avLst/>
          </a:prstGeom>
          <a:solidFill>
            <a:srgbClr val="161A2C"/>
          </a:solidFill>
          <a:ln w="12700">
            <a:solidFill>
              <a:srgbClr val="161A2C"/>
            </a:solidFill>
            <a:prstDash val="solid"/>
          </a:ln>
        </p:spPr>
      </p:sp>
      <p:sp>
        <p:nvSpPr>
          <p:cNvPr id="18" name="text-42"/>
          <p:cNvSpPr txBox="1"/>
          <p:nvPr/>
        </p:nvSpPr>
        <p:spPr>
          <a:xfrm>
            <a:off x="886968" y="2926080"/>
            <a:ext cx="5486400" cy="320040"/>
          </a:xfrm>
          <a:prstGeom prst="rect">
            <a:avLst/>
          </a:prstGeom>
          <a:noFill/>
          <a:ln/>
        </p:spPr>
        <p:txBody>
          <a:bodyPr wrap="square" lIns="0" tIns="0" rIns="0" bIns="0" rtlCol="0" anchor="t"/>
          <a:lstStyle/>
          <a:p>
            <a:pPr indent="0" marL="0">
              <a:buNone/>
            </a:pPr>
            <a:r>
              <a:rPr lang="en-US" sz="1500" b="1" dirty="0">
                <a:solidFill>
                  <a:srgbClr val="F2C200"/>
                </a:solidFill>
              </a:rPr>
              <a:t>เป้าหมายของ PrintFlow</a:t>
            </a:r>
            <a:endParaRPr lang="en-US" sz="1500" dirty="0"/>
          </a:p>
        </p:txBody>
      </p:sp>
      <p:sp>
        <p:nvSpPr>
          <p:cNvPr id="19" name="text-43"/>
          <p:cNvSpPr txBox="1"/>
          <p:nvPr/>
        </p:nvSpPr>
        <p:spPr>
          <a:xfrm>
            <a:off x="886968" y="3310128"/>
            <a:ext cx="7370064" cy="114300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F5F4EF"/>
                </a:solidFill>
              </a:rPr>
              <a:t>ลูกค้าสั่งพิมพ์ออนไลน์ รู้ราคาก่อนส่งงาน และติดตามสถานะได้</a:t>
            </a:r>
            <a:endParaRPr lang="en-US" sz="1350" dirty="0"/>
          </a:p>
          <a:p>
            <a:pPr marL="177800" indent="-177800">
              <a:spcAft>
                <a:spcPts val="600"/>
              </a:spcAft>
              <a:buSzPct val="100000"/>
              <a:buChar char="•"/>
            </a:pPr>
            <a:r>
              <a:rPr lang="en-US" sz="1350" dirty="0">
                <a:solidFill>
                  <a:srgbClr val="F5F4EF"/>
                </a:solidFill>
              </a:rPr>
              <a:t>พนักงานและผู้ดูแล จัดการงาน การชำระเงิน โปรโมชัน และดูรายงานยอดขาย</a:t>
            </a:r>
            <a:endParaRPr lang="en-US" sz="1350" dirty="0"/>
          </a:p>
          <a:p>
            <a:pPr marL="177800" indent="-177800">
              <a:spcAft>
                <a:spcPts val="600"/>
              </a:spcAft>
              <a:buSzPct val="100000"/>
              <a:buChar char="•"/>
            </a:pPr>
            <a:r>
              <a:rPr lang="en-US" sz="1350" dirty="0">
                <a:solidFill>
                  <a:srgbClr val="F5F4EF"/>
                </a:solidFill>
              </a:rPr>
              <a:t>ประยุกต์ Layered Architecture, SOLID, Design Pattern พร้อม test และ CI/CD</a:t>
            </a:r>
            <a:endParaRPr lang="en-US" sz="1350" dirty="0"/>
          </a:p>
        </p:txBody>
      </p:sp>
      <p:sp>
        <p:nvSpPr>
          <p:cNvPr id="25" name="Slide Number Placeholder 0"/>
          <p:cNvSpPr>
            <a:spLocks noGrp="1"/>
          </p:cNvSpPr>
          <p:nvPr>
            <p:ph type="sldNum" sz="quarter" idx="4294967295"/>
          </p:nvPr>
        </p:nvSpPr>
        <p:spPr>
          <a:xfrm>
            <a:off x="8074152"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6F7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p:nvPr>
            <p:ph idx="105" type="title" hasCustomPrompt="1"/>
          </p:nvPr>
        </p:nvSpPr>
        <p:spPr>
          <a:xfrm>
            <a:off x="612648" y="566928"/>
            <a:ext cx="6400800" cy="566928"/>
          </a:xfrm>
          <a:prstGeom prst="rect">
            <a:avLst/>
          </a:prstGeom>
          <a:noFill/>
          <a:ln/>
        </p:spPr>
        <p:txBody>
          <a:bodyPr wrap="square" lIns="0" tIns="0" rIns="0" bIns="0" rtlCol="0" anchor="ctr"/>
          <a:lstStyle/>
          <a:p>
            <a:pPr algn="l" indent="0" marL="0">
              <a:buNone/>
            </a:pPr>
            <a:r>
              <a:rPr lang="en-US" sz="2600" b="1" dirty="0">
                <a:solidFill>
                  <a:srgbClr val="161A2C"/>
                </a:solidFill>
              </a:rPr>
              <a:t>ผู้ใช้ 3 บทบาท และทีม 4 คน</a:t>
            </a:r>
            <a:endParaRPr lang="en-US" sz="2600" dirty="0"/>
          </a:p>
        </p:txBody>
      </p:sp>
      <p:sp>
        <p:nvSpPr>
          <p:cNvPr id="3" name="speaker-pill"/>
          <p:cNvSpPr/>
          <p:nvPr/>
        </p:nvSpPr>
        <p:spPr>
          <a:xfrm>
            <a:off x="7159752" y="329184"/>
            <a:ext cx="1371600" cy="292608"/>
          </a:xfrm>
          <a:prstGeom prst="roundRect">
            <a:avLst>
              <a:gd name="adj" fmla="val 50000"/>
            </a:avLst>
          </a:prstGeom>
          <a:solidFill>
            <a:srgbClr val="161A2C"/>
          </a:solidFill>
          <a:ln w="12700">
            <a:solidFill>
              <a:srgbClr val="161A2C"/>
            </a:solidFill>
            <a:prstDash val="solid"/>
          </a:ln>
        </p:spPr>
      </p:sp>
      <p:sp>
        <p:nvSpPr>
          <p:cNvPr id="4" name="speaker-label"/>
          <p:cNvSpPr txBox="1"/>
          <p:nvPr/>
        </p:nvSpPr>
        <p:spPr>
          <a:xfrm>
            <a:off x="7159752" y="329184"/>
            <a:ext cx="1371600" cy="292608"/>
          </a:xfrm>
          <a:prstGeom prst="rect">
            <a:avLst/>
          </a:prstGeom>
          <a:noFill/>
          <a:ln/>
        </p:spPr>
        <p:txBody>
          <a:bodyPr wrap="square" lIns="0" tIns="0" rIns="0" bIns="0" rtlCol="0" anchor="ctr"/>
          <a:lstStyle/>
          <a:p>
            <a:pPr algn="ctr" indent="0" marL="0">
              <a:buNone/>
            </a:pPr>
            <a:r>
              <a:rPr lang="en-US" sz="1100" b="1" dirty="0">
                <a:solidFill>
                  <a:srgbClr val="FCFCFA"/>
                </a:solidFill>
              </a:rPr>
              <a:t>P1 ณัฐชา</a:t>
            </a:r>
            <a:endParaRPr lang="en-US" sz="1100" dirty="0"/>
          </a:p>
        </p:txBody>
      </p:sp>
      <p:sp>
        <p:nvSpPr>
          <p:cNvPr id="5" name="card-45"/>
          <p:cNvSpPr/>
          <p:nvPr/>
        </p:nvSpPr>
        <p:spPr>
          <a:xfrm>
            <a:off x="612648" y="1325880"/>
            <a:ext cx="3429000" cy="932688"/>
          </a:xfrm>
          <a:prstGeom prst="rect">
            <a:avLst/>
          </a:prstGeom>
          <a:solidFill>
            <a:srgbClr val="FCFCFA"/>
          </a:solidFill>
          <a:ln w="9525">
            <a:solidFill>
              <a:srgbClr val="E2E0D8"/>
            </a:solidFill>
            <a:prstDash val="solid"/>
          </a:ln>
        </p:spPr>
      </p:sp>
      <p:sp>
        <p:nvSpPr>
          <p:cNvPr id="6" name="card-accent-46"/>
          <p:cNvSpPr/>
          <p:nvPr/>
        </p:nvSpPr>
        <p:spPr>
          <a:xfrm>
            <a:off x="612648" y="1325880"/>
            <a:ext cx="54864" cy="932688"/>
          </a:xfrm>
          <a:prstGeom prst="rect">
            <a:avLst/>
          </a:prstGeom>
          <a:solidFill>
            <a:srgbClr val="0A86C7"/>
          </a:solidFill>
          <a:ln w="12700">
            <a:solidFill>
              <a:srgbClr val="0A86C7"/>
            </a:solidFill>
            <a:prstDash val="solid"/>
          </a:ln>
        </p:spPr>
      </p:sp>
      <p:sp>
        <p:nvSpPr>
          <p:cNvPr id="7" name="text-47"/>
          <p:cNvSpPr txBox="1"/>
          <p:nvPr/>
        </p:nvSpPr>
        <p:spPr>
          <a:xfrm>
            <a:off x="868680" y="1453896"/>
            <a:ext cx="3017520" cy="320040"/>
          </a:xfrm>
          <a:prstGeom prst="rect">
            <a:avLst/>
          </a:prstGeom>
          <a:noFill/>
          <a:ln/>
        </p:spPr>
        <p:txBody>
          <a:bodyPr wrap="square" lIns="0" tIns="0" rIns="0" bIns="0" rtlCol="0" anchor="t"/>
          <a:lstStyle/>
          <a:p>
            <a:pPr indent="0" marL="0">
              <a:buNone/>
            </a:pPr>
            <a:r>
              <a:rPr lang="en-US" sz="1600" b="1" dirty="0">
                <a:solidFill>
                  <a:srgbClr val="161A2C"/>
                </a:solidFill>
              </a:rPr>
              <a:t>ลูกค้า</a:t>
            </a:r>
            <a:endParaRPr lang="en-US" sz="1600" dirty="0"/>
          </a:p>
        </p:txBody>
      </p:sp>
      <p:sp>
        <p:nvSpPr>
          <p:cNvPr id="8" name="text-48"/>
          <p:cNvSpPr txBox="1"/>
          <p:nvPr/>
        </p:nvSpPr>
        <p:spPr>
          <a:xfrm>
            <a:off x="868680" y="1801368"/>
            <a:ext cx="3063240" cy="365760"/>
          </a:xfrm>
          <a:prstGeom prst="rect">
            <a:avLst/>
          </a:prstGeom>
          <a:noFill/>
          <a:ln/>
        </p:spPr>
        <p:txBody>
          <a:bodyPr wrap="square" lIns="0" tIns="0" rIns="0" bIns="0" rtlCol="0" anchor="t"/>
          <a:lstStyle/>
          <a:p>
            <a:pPr indent="0" marL="0">
              <a:buNone/>
            </a:pPr>
            <a:r>
              <a:rPr lang="en-US" sz="1150" dirty="0">
                <a:solidFill>
                  <a:srgbClr val="4A4F5E"/>
                </a:solidFill>
              </a:rPr>
              <a:t>สั่งพิมพ์ ติดตามสถานะ ยกเลิกตอนรอยืนยัน</a:t>
            </a:r>
            <a:endParaRPr lang="en-US" sz="1150" dirty="0"/>
          </a:p>
        </p:txBody>
      </p:sp>
      <p:sp>
        <p:nvSpPr>
          <p:cNvPr id="9" name="card-49"/>
          <p:cNvSpPr/>
          <p:nvPr/>
        </p:nvSpPr>
        <p:spPr>
          <a:xfrm>
            <a:off x="612648" y="2404872"/>
            <a:ext cx="3429000" cy="932688"/>
          </a:xfrm>
          <a:prstGeom prst="rect">
            <a:avLst/>
          </a:prstGeom>
          <a:solidFill>
            <a:srgbClr val="FCFCFA"/>
          </a:solidFill>
          <a:ln w="9525">
            <a:solidFill>
              <a:srgbClr val="E2E0D8"/>
            </a:solidFill>
            <a:prstDash val="solid"/>
          </a:ln>
        </p:spPr>
      </p:sp>
      <p:sp>
        <p:nvSpPr>
          <p:cNvPr id="10" name="card-accent-50"/>
          <p:cNvSpPr/>
          <p:nvPr/>
        </p:nvSpPr>
        <p:spPr>
          <a:xfrm>
            <a:off x="612648" y="2404872"/>
            <a:ext cx="54864" cy="932688"/>
          </a:xfrm>
          <a:prstGeom prst="rect">
            <a:avLst/>
          </a:prstGeom>
          <a:solidFill>
            <a:srgbClr val="D6246E"/>
          </a:solidFill>
          <a:ln w="12700">
            <a:solidFill>
              <a:srgbClr val="D6246E"/>
            </a:solidFill>
            <a:prstDash val="solid"/>
          </a:ln>
        </p:spPr>
      </p:sp>
      <p:sp>
        <p:nvSpPr>
          <p:cNvPr id="11" name="text-51"/>
          <p:cNvSpPr txBox="1"/>
          <p:nvPr/>
        </p:nvSpPr>
        <p:spPr>
          <a:xfrm>
            <a:off x="868680" y="2532888"/>
            <a:ext cx="3017520" cy="320040"/>
          </a:xfrm>
          <a:prstGeom prst="rect">
            <a:avLst/>
          </a:prstGeom>
          <a:noFill/>
          <a:ln/>
        </p:spPr>
        <p:txBody>
          <a:bodyPr wrap="square" lIns="0" tIns="0" rIns="0" bIns="0" rtlCol="0" anchor="t"/>
          <a:lstStyle/>
          <a:p>
            <a:pPr indent="0" marL="0">
              <a:buNone/>
            </a:pPr>
            <a:r>
              <a:rPr lang="en-US" sz="1600" b="1" dirty="0">
                <a:solidFill>
                  <a:srgbClr val="161A2C"/>
                </a:solidFill>
              </a:rPr>
              <a:t>พนักงาน</a:t>
            </a:r>
            <a:endParaRPr lang="en-US" sz="1600" dirty="0"/>
          </a:p>
        </p:txBody>
      </p:sp>
      <p:sp>
        <p:nvSpPr>
          <p:cNvPr id="12" name="text-52"/>
          <p:cNvSpPr txBox="1"/>
          <p:nvPr/>
        </p:nvSpPr>
        <p:spPr>
          <a:xfrm>
            <a:off x="868680" y="2880360"/>
            <a:ext cx="3063240" cy="365760"/>
          </a:xfrm>
          <a:prstGeom prst="rect">
            <a:avLst/>
          </a:prstGeom>
          <a:noFill/>
          <a:ln/>
        </p:spPr>
        <p:txBody>
          <a:bodyPr wrap="square" lIns="0" tIns="0" rIns="0" bIns="0" rtlCol="0" anchor="t"/>
          <a:lstStyle/>
          <a:p>
            <a:pPr indent="0" marL="0">
              <a:buNone/>
            </a:pPr>
            <a:r>
              <a:rPr lang="en-US" sz="1150" dirty="0">
                <a:solidFill>
                  <a:srgbClr val="4A4F5E"/>
                </a:solidFill>
              </a:rPr>
              <a:t>ยืนยันงาน เปลี่ยนสถานะ บันทึกการชำระเงิน</a:t>
            </a:r>
            <a:endParaRPr lang="en-US" sz="1150" dirty="0"/>
          </a:p>
        </p:txBody>
      </p:sp>
      <p:sp>
        <p:nvSpPr>
          <p:cNvPr id="13" name="card-53"/>
          <p:cNvSpPr/>
          <p:nvPr/>
        </p:nvSpPr>
        <p:spPr>
          <a:xfrm>
            <a:off x="612648" y="3483864"/>
            <a:ext cx="3429000" cy="932688"/>
          </a:xfrm>
          <a:prstGeom prst="rect">
            <a:avLst/>
          </a:prstGeom>
          <a:solidFill>
            <a:srgbClr val="FCFCFA"/>
          </a:solidFill>
          <a:ln w="9525">
            <a:solidFill>
              <a:srgbClr val="E2E0D8"/>
            </a:solidFill>
            <a:prstDash val="solid"/>
          </a:ln>
        </p:spPr>
      </p:sp>
      <p:sp>
        <p:nvSpPr>
          <p:cNvPr id="14" name="card-accent-54"/>
          <p:cNvSpPr/>
          <p:nvPr/>
        </p:nvSpPr>
        <p:spPr>
          <a:xfrm>
            <a:off x="612648" y="3483864"/>
            <a:ext cx="54864" cy="932688"/>
          </a:xfrm>
          <a:prstGeom prst="rect">
            <a:avLst/>
          </a:prstGeom>
          <a:solidFill>
            <a:srgbClr val="F2C200"/>
          </a:solidFill>
          <a:ln w="12700">
            <a:solidFill>
              <a:srgbClr val="F2C200"/>
            </a:solidFill>
            <a:prstDash val="solid"/>
          </a:ln>
        </p:spPr>
      </p:sp>
      <p:sp>
        <p:nvSpPr>
          <p:cNvPr id="15" name="text-55"/>
          <p:cNvSpPr txBox="1"/>
          <p:nvPr/>
        </p:nvSpPr>
        <p:spPr>
          <a:xfrm>
            <a:off x="868680" y="3611880"/>
            <a:ext cx="3017520" cy="320040"/>
          </a:xfrm>
          <a:prstGeom prst="rect">
            <a:avLst/>
          </a:prstGeom>
          <a:noFill/>
          <a:ln/>
        </p:spPr>
        <p:txBody>
          <a:bodyPr wrap="square" lIns="0" tIns="0" rIns="0" bIns="0" rtlCol="0" anchor="t"/>
          <a:lstStyle/>
          <a:p>
            <a:pPr indent="0" marL="0">
              <a:buNone/>
            </a:pPr>
            <a:r>
              <a:rPr lang="en-US" sz="1600" b="1" dirty="0">
                <a:solidFill>
                  <a:srgbClr val="161A2C"/>
                </a:solidFill>
              </a:rPr>
              <a:t>ผู้ดูแล</a:t>
            </a:r>
            <a:endParaRPr lang="en-US" sz="1600" dirty="0"/>
          </a:p>
        </p:txBody>
      </p:sp>
      <p:sp>
        <p:nvSpPr>
          <p:cNvPr id="16" name="text-56"/>
          <p:cNvSpPr txBox="1"/>
          <p:nvPr/>
        </p:nvSpPr>
        <p:spPr>
          <a:xfrm>
            <a:off x="868680" y="3959352"/>
            <a:ext cx="3063240" cy="365760"/>
          </a:xfrm>
          <a:prstGeom prst="rect">
            <a:avLst/>
          </a:prstGeom>
          <a:noFill/>
          <a:ln/>
        </p:spPr>
        <p:txBody>
          <a:bodyPr wrap="square" lIns="0" tIns="0" rIns="0" bIns="0" rtlCol="0" anchor="t"/>
          <a:lstStyle/>
          <a:p>
            <a:pPr indent="0" marL="0">
              <a:buNone/>
            </a:pPr>
            <a:r>
              <a:rPr lang="en-US" sz="1150" dirty="0">
                <a:solidFill>
                  <a:srgbClr val="4A4F5E"/>
                </a:solidFill>
              </a:rPr>
              <a:t>บริการ โปรโมชัน บัญชีผู้ใช้ รายงานยอดขาย</a:t>
            </a:r>
            <a:endParaRPr lang="en-US" sz="1150" dirty="0"/>
          </a:p>
        </p:txBody>
      </p:sp>
      <p:sp>
        <p:nvSpPr>
          <p:cNvPr id="17" name="text-57"/>
          <p:cNvSpPr txBox="1"/>
          <p:nvPr/>
        </p:nvSpPr>
        <p:spPr>
          <a:xfrm>
            <a:off x="612648" y="4553712"/>
            <a:ext cx="3429000" cy="182880"/>
          </a:xfrm>
          <a:prstGeom prst="rect">
            <a:avLst/>
          </a:prstGeom>
          <a:noFill/>
          <a:ln/>
        </p:spPr>
        <p:txBody>
          <a:bodyPr wrap="square" lIns="0" tIns="0" rIns="0" bIns="0" rtlCol="0" anchor="t"/>
          <a:lstStyle/>
          <a:p>
            <a:pPr indent="0" marL="0">
              <a:buNone/>
            </a:pPr>
            <a:r>
              <a:rPr lang="en-US" sz="1000" dirty="0">
                <a:solidFill>
                  <a:srgbClr val="6B6F7B"/>
                </a:solidFill>
              </a:rPr>
              <a:t>14 use case ครบทั้ง 3 บทบาท</a:t>
            </a:r>
            <a:endParaRPr lang="en-US" sz="1000" dirty="0"/>
          </a:p>
        </p:txBody>
      </p:sp>
      <p:sp>
        <p:nvSpPr>
          <p:cNvPr id="18" name="card-58"/>
          <p:cNvSpPr/>
          <p:nvPr/>
        </p:nvSpPr>
        <p:spPr>
          <a:xfrm>
            <a:off x="4297680" y="1325880"/>
            <a:ext cx="4233672" cy="694944"/>
          </a:xfrm>
          <a:prstGeom prst="rect">
            <a:avLst/>
          </a:prstGeom>
          <a:solidFill>
            <a:srgbClr val="FCFCFA"/>
          </a:solidFill>
          <a:ln w="9525">
            <a:solidFill>
              <a:srgbClr val="E2E0D8"/>
            </a:solidFill>
            <a:prstDash val="solid"/>
          </a:ln>
        </p:spPr>
      </p:sp>
      <p:sp>
        <p:nvSpPr>
          <p:cNvPr id="19" name="p-tab-59"/>
          <p:cNvSpPr/>
          <p:nvPr/>
        </p:nvSpPr>
        <p:spPr>
          <a:xfrm>
            <a:off x="4297680" y="1325880"/>
            <a:ext cx="54864" cy="694944"/>
          </a:xfrm>
          <a:prstGeom prst="rect">
            <a:avLst/>
          </a:prstGeom>
          <a:solidFill>
            <a:srgbClr val="161A2C"/>
          </a:solidFill>
          <a:ln w="12700">
            <a:solidFill>
              <a:srgbClr val="161A2C"/>
            </a:solidFill>
            <a:prstDash val="solid"/>
          </a:ln>
        </p:spPr>
      </p:sp>
      <p:sp>
        <p:nvSpPr>
          <p:cNvPr id="20" name="text-60"/>
          <p:cNvSpPr txBox="1"/>
          <p:nvPr/>
        </p:nvSpPr>
        <p:spPr>
          <a:xfrm>
            <a:off x="4526280" y="1399032"/>
            <a:ext cx="2286000" cy="274320"/>
          </a:xfrm>
          <a:prstGeom prst="rect">
            <a:avLst/>
          </a:prstGeom>
          <a:noFill/>
          <a:ln/>
        </p:spPr>
        <p:txBody>
          <a:bodyPr wrap="square" lIns="0" tIns="0" rIns="0" bIns="0" rtlCol="0" anchor="t"/>
          <a:lstStyle/>
          <a:p>
            <a:pPr indent="0" marL="0">
              <a:buNone/>
            </a:pPr>
            <a:r>
              <a:rPr lang="en-US" sz="1350" b="1" dirty="0">
                <a:solidFill>
                  <a:srgbClr val="161A2C"/>
                </a:solidFill>
              </a:rPr>
              <a:t>P1 ณัฐชา</a:t>
            </a:r>
            <a:endParaRPr lang="en-US" sz="1350" dirty="0"/>
          </a:p>
        </p:txBody>
      </p:sp>
      <p:sp>
        <p:nvSpPr>
          <p:cNvPr id="21" name="text-61"/>
          <p:cNvSpPr txBox="1"/>
          <p:nvPr/>
        </p:nvSpPr>
        <p:spPr>
          <a:xfrm>
            <a:off x="4526280" y="1691640"/>
            <a:ext cx="3840480" cy="256032"/>
          </a:xfrm>
          <a:prstGeom prst="rect">
            <a:avLst/>
          </a:prstGeom>
          <a:noFill/>
          <a:ln/>
        </p:spPr>
        <p:txBody>
          <a:bodyPr wrap="square" lIns="0" tIns="0" rIns="0" bIns="0" rtlCol="0" anchor="t"/>
          <a:lstStyle/>
          <a:p>
            <a:pPr indent="0" marL="0">
              <a:buNone/>
            </a:pPr>
            <a:r>
              <a:rPr lang="en-US" sz="1100" dirty="0">
                <a:solidFill>
                  <a:srgbClr val="4A4F5E"/>
                </a:solidFill>
              </a:rPr>
              <a:t>Auth, Security, Admin, Report, DevOps</a:t>
            </a:r>
            <a:endParaRPr lang="en-US" sz="1100" dirty="0"/>
          </a:p>
        </p:txBody>
      </p:sp>
      <p:sp>
        <p:nvSpPr>
          <p:cNvPr id="22" name="card-62"/>
          <p:cNvSpPr/>
          <p:nvPr/>
        </p:nvSpPr>
        <p:spPr>
          <a:xfrm>
            <a:off x="4297680" y="2130552"/>
            <a:ext cx="4233672" cy="694944"/>
          </a:xfrm>
          <a:prstGeom prst="rect">
            <a:avLst/>
          </a:prstGeom>
          <a:solidFill>
            <a:srgbClr val="FCFCFA"/>
          </a:solidFill>
          <a:ln w="9525">
            <a:solidFill>
              <a:srgbClr val="E2E0D8"/>
            </a:solidFill>
            <a:prstDash val="solid"/>
          </a:ln>
        </p:spPr>
      </p:sp>
      <p:sp>
        <p:nvSpPr>
          <p:cNvPr id="23" name="p-tab-63"/>
          <p:cNvSpPr/>
          <p:nvPr/>
        </p:nvSpPr>
        <p:spPr>
          <a:xfrm>
            <a:off x="4297680" y="2130552"/>
            <a:ext cx="54864" cy="694944"/>
          </a:xfrm>
          <a:prstGeom prst="rect">
            <a:avLst/>
          </a:prstGeom>
          <a:solidFill>
            <a:srgbClr val="D6246E"/>
          </a:solidFill>
          <a:ln w="12700">
            <a:solidFill>
              <a:srgbClr val="D6246E"/>
            </a:solidFill>
            <a:prstDash val="solid"/>
          </a:ln>
        </p:spPr>
      </p:sp>
      <p:sp>
        <p:nvSpPr>
          <p:cNvPr id="24" name="text-64"/>
          <p:cNvSpPr txBox="1"/>
          <p:nvPr/>
        </p:nvSpPr>
        <p:spPr>
          <a:xfrm>
            <a:off x="4526280" y="2203704"/>
            <a:ext cx="2286000" cy="274320"/>
          </a:xfrm>
          <a:prstGeom prst="rect">
            <a:avLst/>
          </a:prstGeom>
          <a:noFill/>
          <a:ln/>
        </p:spPr>
        <p:txBody>
          <a:bodyPr wrap="square" lIns="0" tIns="0" rIns="0" bIns="0" rtlCol="0" anchor="t"/>
          <a:lstStyle/>
          <a:p>
            <a:pPr indent="0" marL="0">
              <a:buNone/>
            </a:pPr>
            <a:r>
              <a:rPr lang="en-US" sz="1350" b="1" dirty="0">
                <a:solidFill>
                  <a:srgbClr val="161A2C"/>
                </a:solidFill>
              </a:rPr>
              <a:t>P2 ปฏิภาณ</a:t>
            </a:r>
            <a:endParaRPr lang="en-US" sz="1350" dirty="0"/>
          </a:p>
        </p:txBody>
      </p:sp>
      <p:sp>
        <p:nvSpPr>
          <p:cNvPr id="25" name="text-65"/>
          <p:cNvSpPr txBox="1"/>
          <p:nvPr/>
        </p:nvSpPr>
        <p:spPr>
          <a:xfrm>
            <a:off x="4526280" y="2496312"/>
            <a:ext cx="3840480" cy="256032"/>
          </a:xfrm>
          <a:prstGeom prst="rect">
            <a:avLst/>
          </a:prstGeom>
          <a:noFill/>
          <a:ln/>
        </p:spPr>
        <p:txBody>
          <a:bodyPr wrap="square" lIns="0" tIns="0" rIns="0" bIns="0" rtlCol="0" anchor="t"/>
          <a:lstStyle/>
          <a:p>
            <a:pPr indent="0" marL="0">
              <a:buNone/>
            </a:pPr>
            <a:r>
              <a:rPr lang="en-US" sz="1100" dirty="0">
                <a:solidFill>
                  <a:srgbClr val="4A4F5E"/>
                </a:solidFill>
              </a:rPr>
              <a:t>บริการ, โปรโมชัน, Strategy, ฐานข้อมูล</a:t>
            </a:r>
            <a:endParaRPr lang="en-US" sz="1100" dirty="0"/>
          </a:p>
        </p:txBody>
      </p:sp>
      <p:sp>
        <p:nvSpPr>
          <p:cNvPr id="26" name="card-66"/>
          <p:cNvSpPr/>
          <p:nvPr/>
        </p:nvSpPr>
        <p:spPr>
          <a:xfrm>
            <a:off x="4297680" y="2935224"/>
            <a:ext cx="4233672" cy="694944"/>
          </a:xfrm>
          <a:prstGeom prst="rect">
            <a:avLst/>
          </a:prstGeom>
          <a:solidFill>
            <a:srgbClr val="FCFCFA"/>
          </a:solidFill>
          <a:ln w="9525">
            <a:solidFill>
              <a:srgbClr val="E2E0D8"/>
            </a:solidFill>
            <a:prstDash val="solid"/>
          </a:ln>
        </p:spPr>
      </p:sp>
      <p:sp>
        <p:nvSpPr>
          <p:cNvPr id="27" name="p-tab-67"/>
          <p:cNvSpPr/>
          <p:nvPr/>
        </p:nvSpPr>
        <p:spPr>
          <a:xfrm>
            <a:off x="4297680" y="2935224"/>
            <a:ext cx="54864" cy="694944"/>
          </a:xfrm>
          <a:prstGeom prst="rect">
            <a:avLst/>
          </a:prstGeom>
          <a:solidFill>
            <a:srgbClr val="F2C200"/>
          </a:solidFill>
          <a:ln w="12700">
            <a:solidFill>
              <a:srgbClr val="F2C200"/>
            </a:solidFill>
            <a:prstDash val="solid"/>
          </a:ln>
        </p:spPr>
      </p:sp>
      <p:sp>
        <p:nvSpPr>
          <p:cNvPr id="28" name="text-68"/>
          <p:cNvSpPr txBox="1"/>
          <p:nvPr/>
        </p:nvSpPr>
        <p:spPr>
          <a:xfrm>
            <a:off x="4526280" y="3008376"/>
            <a:ext cx="2286000" cy="274320"/>
          </a:xfrm>
          <a:prstGeom prst="rect">
            <a:avLst/>
          </a:prstGeom>
          <a:noFill/>
          <a:ln/>
        </p:spPr>
        <p:txBody>
          <a:bodyPr wrap="square" lIns="0" tIns="0" rIns="0" bIns="0" rtlCol="0" anchor="t"/>
          <a:lstStyle/>
          <a:p>
            <a:pPr indent="0" marL="0">
              <a:buNone/>
            </a:pPr>
            <a:r>
              <a:rPr lang="en-US" sz="1350" b="1" dirty="0">
                <a:solidFill>
                  <a:srgbClr val="161A2C"/>
                </a:solidFill>
              </a:rPr>
              <a:t>P3 รัชชานนท์</a:t>
            </a:r>
            <a:endParaRPr lang="en-US" sz="1350" dirty="0"/>
          </a:p>
        </p:txBody>
      </p:sp>
      <p:sp>
        <p:nvSpPr>
          <p:cNvPr id="29" name="text-69"/>
          <p:cNvSpPr txBox="1"/>
          <p:nvPr/>
        </p:nvSpPr>
        <p:spPr>
          <a:xfrm>
            <a:off x="4526280" y="3300984"/>
            <a:ext cx="3840480" cy="256032"/>
          </a:xfrm>
          <a:prstGeom prst="rect">
            <a:avLst/>
          </a:prstGeom>
          <a:noFill/>
          <a:ln/>
        </p:spPr>
        <p:txBody>
          <a:bodyPr wrap="square" lIns="0" tIns="0" rIns="0" bIns="0" rtlCol="0" anchor="t"/>
          <a:lstStyle/>
          <a:p>
            <a:pPr indent="0" marL="0">
              <a:buNone/>
            </a:pPr>
            <a:r>
              <a:rPr lang="en-US" sz="1100" dirty="0">
                <a:solidFill>
                  <a:srgbClr val="4A4F5E"/>
                </a:solidFill>
              </a:rPr>
              <a:t>การสั่งงาน, Chain of Responsibility, Test</a:t>
            </a:r>
            <a:endParaRPr lang="en-US" sz="1100" dirty="0"/>
          </a:p>
        </p:txBody>
      </p:sp>
      <p:sp>
        <p:nvSpPr>
          <p:cNvPr id="30" name="card-70"/>
          <p:cNvSpPr/>
          <p:nvPr/>
        </p:nvSpPr>
        <p:spPr>
          <a:xfrm>
            <a:off x="4297680" y="3739896"/>
            <a:ext cx="4233672" cy="694944"/>
          </a:xfrm>
          <a:prstGeom prst="rect">
            <a:avLst/>
          </a:prstGeom>
          <a:solidFill>
            <a:srgbClr val="FCFCFA"/>
          </a:solidFill>
          <a:ln w="9525">
            <a:solidFill>
              <a:srgbClr val="E2E0D8"/>
            </a:solidFill>
            <a:prstDash val="solid"/>
          </a:ln>
        </p:spPr>
      </p:sp>
      <p:sp>
        <p:nvSpPr>
          <p:cNvPr id="31" name="p-tab-71"/>
          <p:cNvSpPr/>
          <p:nvPr/>
        </p:nvSpPr>
        <p:spPr>
          <a:xfrm>
            <a:off x="4297680" y="3739896"/>
            <a:ext cx="54864" cy="694944"/>
          </a:xfrm>
          <a:prstGeom prst="rect">
            <a:avLst/>
          </a:prstGeom>
          <a:solidFill>
            <a:srgbClr val="0A86C7"/>
          </a:solidFill>
          <a:ln w="12700">
            <a:solidFill>
              <a:srgbClr val="0A86C7"/>
            </a:solidFill>
            <a:prstDash val="solid"/>
          </a:ln>
        </p:spPr>
      </p:sp>
      <p:sp>
        <p:nvSpPr>
          <p:cNvPr id="32" name="text-72"/>
          <p:cNvSpPr txBox="1"/>
          <p:nvPr/>
        </p:nvSpPr>
        <p:spPr>
          <a:xfrm>
            <a:off x="4526280" y="3813048"/>
            <a:ext cx="2286000" cy="274320"/>
          </a:xfrm>
          <a:prstGeom prst="rect">
            <a:avLst/>
          </a:prstGeom>
          <a:noFill/>
          <a:ln/>
        </p:spPr>
        <p:txBody>
          <a:bodyPr wrap="square" lIns="0" tIns="0" rIns="0" bIns="0" rtlCol="0" anchor="t"/>
          <a:lstStyle/>
          <a:p>
            <a:pPr indent="0" marL="0">
              <a:buNone/>
            </a:pPr>
            <a:r>
              <a:rPr lang="en-US" sz="1350" b="1" dirty="0">
                <a:solidFill>
                  <a:srgbClr val="161A2C"/>
                </a:solidFill>
              </a:rPr>
              <a:t>P4 อาณัฐ</a:t>
            </a:r>
            <a:endParaRPr lang="en-US" sz="1350" dirty="0"/>
          </a:p>
        </p:txBody>
      </p:sp>
      <p:sp>
        <p:nvSpPr>
          <p:cNvPr id="33" name="text-73"/>
          <p:cNvSpPr txBox="1"/>
          <p:nvPr/>
        </p:nvSpPr>
        <p:spPr>
          <a:xfrm>
            <a:off x="4526280" y="4105656"/>
            <a:ext cx="3840480" cy="256032"/>
          </a:xfrm>
          <a:prstGeom prst="rect">
            <a:avLst/>
          </a:prstGeom>
          <a:noFill/>
          <a:ln/>
        </p:spPr>
        <p:txBody>
          <a:bodyPr wrap="square" lIns="0" tIns="0" rIns="0" bIns="0" rtlCol="0" anchor="t"/>
          <a:lstStyle/>
          <a:p>
            <a:pPr indent="0" marL="0">
              <a:buNone/>
            </a:pPr>
            <a:r>
              <a:rPr lang="en-US" sz="1100" dirty="0">
                <a:solidFill>
                  <a:srgbClr val="4A4F5E"/>
                </a:solidFill>
              </a:rPr>
              <a:t>สถานะงาน, State, Observer, การชำระเงิน</a:t>
            </a:r>
            <a:endParaRPr lang="en-US" sz="1100" dirty="0"/>
          </a:p>
        </p:txBody>
      </p:sp>
      <p:sp>
        <p:nvSpPr>
          <p:cNvPr id="25" name="Slide Number Placeholder 0"/>
          <p:cNvSpPr>
            <a:spLocks noGrp="1"/>
          </p:cNvSpPr>
          <p:nvPr>
            <p:ph type="sldNum" sz="quarter" idx="4294967295"/>
          </p:nvPr>
        </p:nvSpPr>
        <p:spPr>
          <a:xfrm>
            <a:off x="8074152"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6F7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p:nvPr>
            <p:ph idx="105" type="title" hasCustomPrompt="1"/>
          </p:nvPr>
        </p:nvSpPr>
        <p:spPr>
          <a:xfrm>
            <a:off x="612648" y="566928"/>
            <a:ext cx="6400800" cy="566928"/>
          </a:xfrm>
          <a:prstGeom prst="rect">
            <a:avLst/>
          </a:prstGeom>
          <a:noFill/>
          <a:ln/>
        </p:spPr>
        <p:txBody>
          <a:bodyPr wrap="square" lIns="0" tIns="0" rIns="0" bIns="0" rtlCol="0" anchor="ctr"/>
          <a:lstStyle/>
          <a:p>
            <a:pPr algn="l" indent="0" marL="0">
              <a:buNone/>
            </a:pPr>
            <a:r>
              <a:rPr lang="en-US" sz="2600" b="1" dirty="0">
                <a:solidFill>
                  <a:srgbClr val="161A2C"/>
                </a:solidFill>
              </a:rPr>
              <a:t>Layered Architecture 4 ชั้น</a:t>
            </a:r>
            <a:endParaRPr lang="en-US" sz="2600" dirty="0"/>
          </a:p>
        </p:txBody>
      </p:sp>
      <p:sp>
        <p:nvSpPr>
          <p:cNvPr id="3" name="speaker-pill"/>
          <p:cNvSpPr/>
          <p:nvPr/>
        </p:nvSpPr>
        <p:spPr>
          <a:xfrm>
            <a:off x="7159752" y="329184"/>
            <a:ext cx="1371600" cy="292608"/>
          </a:xfrm>
          <a:prstGeom prst="roundRect">
            <a:avLst>
              <a:gd name="adj" fmla="val 50000"/>
            </a:avLst>
          </a:prstGeom>
          <a:solidFill>
            <a:srgbClr val="161A2C"/>
          </a:solidFill>
          <a:ln w="12700">
            <a:solidFill>
              <a:srgbClr val="161A2C"/>
            </a:solidFill>
            <a:prstDash val="solid"/>
          </a:ln>
        </p:spPr>
      </p:sp>
      <p:sp>
        <p:nvSpPr>
          <p:cNvPr id="4" name="speaker-label"/>
          <p:cNvSpPr txBox="1"/>
          <p:nvPr/>
        </p:nvSpPr>
        <p:spPr>
          <a:xfrm>
            <a:off x="7159752" y="329184"/>
            <a:ext cx="1371600" cy="292608"/>
          </a:xfrm>
          <a:prstGeom prst="rect">
            <a:avLst/>
          </a:prstGeom>
          <a:noFill/>
          <a:ln/>
        </p:spPr>
        <p:txBody>
          <a:bodyPr wrap="square" lIns="0" tIns="0" rIns="0" bIns="0" rtlCol="0" anchor="ctr"/>
          <a:lstStyle/>
          <a:p>
            <a:pPr algn="ctr" indent="0" marL="0">
              <a:buNone/>
            </a:pPr>
            <a:r>
              <a:rPr lang="en-US" sz="1100" b="1" dirty="0">
                <a:solidFill>
                  <a:srgbClr val="FCFCFA"/>
                </a:solidFill>
              </a:rPr>
              <a:t>P1 ณัฐชา</a:t>
            </a:r>
            <a:endParaRPr lang="en-US" sz="1100" dirty="0"/>
          </a:p>
        </p:txBody>
      </p:sp>
      <p:sp>
        <p:nvSpPr>
          <p:cNvPr id="5" name="card-75"/>
          <p:cNvSpPr/>
          <p:nvPr/>
        </p:nvSpPr>
        <p:spPr>
          <a:xfrm>
            <a:off x="612648" y="1325880"/>
            <a:ext cx="4434840" cy="3200400"/>
          </a:xfrm>
          <a:prstGeom prst="rect">
            <a:avLst/>
          </a:prstGeom>
          <a:solidFill>
            <a:srgbClr val="FCFCFA"/>
          </a:solidFill>
          <a:ln w="9525">
            <a:solidFill>
              <a:srgbClr val="E2E0D8"/>
            </a:solidFill>
            <a:prstDash val="solid"/>
          </a:ln>
        </p:spPr>
      </p:sp>
      <p:pic>
        <p:nvPicPr>
          <p:cNvPr id="6" name="component-diagram" descr="Component diagram ของ PrintFlow">    </p:cNvPr>
          <p:cNvPicPr>
            <a:picLocks noChangeAspect="1"/>
          </p:cNvPicPr>
          <p:nvPr/>
        </p:nvPicPr>
        <p:blipFill>
          <a:blip r:embed="rId1"/>
          <a:stretch>
            <a:fillRect/>
          </a:stretch>
        </p:blipFill>
        <p:spPr>
          <a:xfrm>
            <a:off x="704088" y="1443528"/>
            <a:ext cx="4251960" cy="2965105"/>
          </a:xfrm>
          <a:prstGeom prst="rect">
            <a:avLst/>
          </a:prstGeom>
        </p:spPr>
      </p:pic>
      <p:sp>
        <p:nvSpPr>
          <p:cNvPr id="7" name="card-76"/>
          <p:cNvSpPr/>
          <p:nvPr/>
        </p:nvSpPr>
        <p:spPr>
          <a:xfrm>
            <a:off x="5257800" y="1325880"/>
            <a:ext cx="3273552" cy="704088"/>
          </a:xfrm>
          <a:prstGeom prst="rect">
            <a:avLst/>
          </a:prstGeom>
          <a:solidFill>
            <a:srgbClr val="FCFCFA"/>
          </a:solidFill>
          <a:ln w="9525">
            <a:solidFill>
              <a:srgbClr val="E2E0D8"/>
            </a:solidFill>
            <a:prstDash val="solid"/>
          </a:ln>
        </p:spPr>
      </p:sp>
      <p:sp>
        <p:nvSpPr>
          <p:cNvPr id="8" name="card-accent-77"/>
          <p:cNvSpPr/>
          <p:nvPr/>
        </p:nvSpPr>
        <p:spPr>
          <a:xfrm>
            <a:off x="5257800" y="1325880"/>
            <a:ext cx="54864" cy="704088"/>
          </a:xfrm>
          <a:prstGeom prst="rect">
            <a:avLst/>
          </a:prstGeom>
          <a:solidFill>
            <a:srgbClr val="0A86C7"/>
          </a:solidFill>
          <a:ln w="12700">
            <a:solidFill>
              <a:srgbClr val="0A86C7"/>
            </a:solidFill>
            <a:prstDash val="solid"/>
          </a:ln>
        </p:spPr>
      </p:sp>
      <p:sp>
        <p:nvSpPr>
          <p:cNvPr id="9" name="text-78"/>
          <p:cNvSpPr txBox="1"/>
          <p:nvPr/>
        </p:nvSpPr>
        <p:spPr>
          <a:xfrm>
            <a:off x="5486400" y="1399032"/>
            <a:ext cx="2926080" cy="274320"/>
          </a:xfrm>
          <a:prstGeom prst="rect">
            <a:avLst/>
          </a:prstGeom>
          <a:noFill/>
          <a:ln/>
        </p:spPr>
        <p:txBody>
          <a:bodyPr wrap="square" lIns="0" tIns="0" rIns="0" bIns="0" rtlCol="0" anchor="t"/>
          <a:lstStyle/>
          <a:p>
            <a:pPr indent="0" marL="0">
              <a:buNone/>
            </a:pPr>
            <a:r>
              <a:rPr lang="en-US" sz="1400" b="1" dirty="0">
                <a:solidFill>
                  <a:srgbClr val="161A2C"/>
                </a:solidFill>
              </a:rPr>
              <a:t>Presentation</a:t>
            </a:r>
            <a:endParaRPr lang="en-US" sz="1400" dirty="0"/>
          </a:p>
        </p:txBody>
      </p:sp>
      <p:sp>
        <p:nvSpPr>
          <p:cNvPr id="10" name="text-79"/>
          <p:cNvSpPr txBox="1"/>
          <p:nvPr/>
        </p:nvSpPr>
        <p:spPr>
          <a:xfrm>
            <a:off x="5486400" y="1709928"/>
            <a:ext cx="2971800" cy="256032"/>
          </a:xfrm>
          <a:prstGeom prst="rect">
            <a:avLst/>
          </a:prstGeom>
          <a:noFill/>
          <a:ln/>
        </p:spPr>
        <p:txBody>
          <a:bodyPr wrap="square" lIns="0" tIns="0" rIns="0" bIns="0" rtlCol="0" anchor="t"/>
          <a:lstStyle/>
          <a:p>
            <a:pPr indent="0" marL="0">
              <a:buNone/>
            </a:pPr>
            <a:r>
              <a:rPr lang="en-US" sz="1050" dirty="0">
                <a:solidFill>
                  <a:srgbClr val="4A4F5E"/>
                </a:solidFill>
              </a:rPr>
              <a:t>REST API /api/v1 และหน้าเว็บ Thymeleaf</a:t>
            </a:r>
            <a:endParaRPr lang="en-US" sz="1050" dirty="0"/>
          </a:p>
        </p:txBody>
      </p:sp>
      <p:sp>
        <p:nvSpPr>
          <p:cNvPr id="11" name="card-80"/>
          <p:cNvSpPr/>
          <p:nvPr/>
        </p:nvSpPr>
        <p:spPr>
          <a:xfrm>
            <a:off x="5257800" y="2139696"/>
            <a:ext cx="3273552" cy="704088"/>
          </a:xfrm>
          <a:prstGeom prst="rect">
            <a:avLst/>
          </a:prstGeom>
          <a:solidFill>
            <a:srgbClr val="FCFCFA"/>
          </a:solidFill>
          <a:ln w="9525">
            <a:solidFill>
              <a:srgbClr val="E2E0D8"/>
            </a:solidFill>
            <a:prstDash val="solid"/>
          </a:ln>
        </p:spPr>
      </p:sp>
      <p:sp>
        <p:nvSpPr>
          <p:cNvPr id="12" name="card-accent-81"/>
          <p:cNvSpPr/>
          <p:nvPr/>
        </p:nvSpPr>
        <p:spPr>
          <a:xfrm>
            <a:off x="5257800" y="2139696"/>
            <a:ext cx="54864" cy="704088"/>
          </a:xfrm>
          <a:prstGeom prst="rect">
            <a:avLst/>
          </a:prstGeom>
          <a:solidFill>
            <a:srgbClr val="D6246E"/>
          </a:solidFill>
          <a:ln w="12700">
            <a:solidFill>
              <a:srgbClr val="D6246E"/>
            </a:solidFill>
            <a:prstDash val="solid"/>
          </a:ln>
        </p:spPr>
      </p:sp>
      <p:sp>
        <p:nvSpPr>
          <p:cNvPr id="13" name="text-82"/>
          <p:cNvSpPr txBox="1"/>
          <p:nvPr/>
        </p:nvSpPr>
        <p:spPr>
          <a:xfrm>
            <a:off x="5486400" y="2212848"/>
            <a:ext cx="2926080" cy="274320"/>
          </a:xfrm>
          <a:prstGeom prst="rect">
            <a:avLst/>
          </a:prstGeom>
          <a:noFill/>
          <a:ln/>
        </p:spPr>
        <p:txBody>
          <a:bodyPr wrap="square" lIns="0" tIns="0" rIns="0" bIns="0" rtlCol="0" anchor="t"/>
          <a:lstStyle/>
          <a:p>
            <a:pPr indent="0" marL="0">
              <a:buNone/>
            </a:pPr>
            <a:r>
              <a:rPr lang="en-US" sz="1400" b="1" dirty="0">
                <a:solidFill>
                  <a:srgbClr val="161A2C"/>
                </a:solidFill>
              </a:rPr>
              <a:t>Service</a:t>
            </a:r>
            <a:endParaRPr lang="en-US" sz="1400" dirty="0"/>
          </a:p>
        </p:txBody>
      </p:sp>
      <p:sp>
        <p:nvSpPr>
          <p:cNvPr id="14" name="text-83"/>
          <p:cNvSpPr txBox="1"/>
          <p:nvPr/>
        </p:nvSpPr>
        <p:spPr>
          <a:xfrm>
            <a:off x="5486400" y="2523744"/>
            <a:ext cx="2971800" cy="256032"/>
          </a:xfrm>
          <a:prstGeom prst="rect">
            <a:avLst/>
          </a:prstGeom>
          <a:noFill/>
          <a:ln/>
        </p:spPr>
        <p:txBody>
          <a:bodyPr wrap="square" lIns="0" tIns="0" rIns="0" bIns="0" rtlCol="0" anchor="t"/>
          <a:lstStyle/>
          <a:p>
            <a:pPr indent="0" marL="0">
              <a:buNone/>
            </a:pPr>
            <a:r>
              <a:rPr lang="en-US" sz="1050" dirty="0">
                <a:solidFill>
                  <a:srgbClr val="4A4F5E"/>
                </a:solidFill>
              </a:rPr>
              <a:t>interface + impl และ pattern ทั้ง 4 ตัว</a:t>
            </a:r>
            <a:endParaRPr lang="en-US" sz="1050" dirty="0"/>
          </a:p>
        </p:txBody>
      </p:sp>
      <p:sp>
        <p:nvSpPr>
          <p:cNvPr id="15" name="card-84"/>
          <p:cNvSpPr/>
          <p:nvPr/>
        </p:nvSpPr>
        <p:spPr>
          <a:xfrm>
            <a:off x="5257800" y="2953512"/>
            <a:ext cx="3273552" cy="704088"/>
          </a:xfrm>
          <a:prstGeom prst="rect">
            <a:avLst/>
          </a:prstGeom>
          <a:solidFill>
            <a:srgbClr val="FCFCFA"/>
          </a:solidFill>
          <a:ln w="9525">
            <a:solidFill>
              <a:srgbClr val="E2E0D8"/>
            </a:solidFill>
            <a:prstDash val="solid"/>
          </a:ln>
        </p:spPr>
      </p:sp>
      <p:sp>
        <p:nvSpPr>
          <p:cNvPr id="16" name="card-accent-85"/>
          <p:cNvSpPr/>
          <p:nvPr/>
        </p:nvSpPr>
        <p:spPr>
          <a:xfrm>
            <a:off x="5257800" y="2953512"/>
            <a:ext cx="54864" cy="704088"/>
          </a:xfrm>
          <a:prstGeom prst="rect">
            <a:avLst/>
          </a:prstGeom>
          <a:solidFill>
            <a:srgbClr val="F2C200"/>
          </a:solidFill>
          <a:ln w="12700">
            <a:solidFill>
              <a:srgbClr val="F2C200"/>
            </a:solidFill>
            <a:prstDash val="solid"/>
          </a:ln>
        </p:spPr>
      </p:sp>
      <p:sp>
        <p:nvSpPr>
          <p:cNvPr id="17" name="text-86"/>
          <p:cNvSpPr txBox="1"/>
          <p:nvPr/>
        </p:nvSpPr>
        <p:spPr>
          <a:xfrm>
            <a:off x="5486400" y="3026664"/>
            <a:ext cx="2926080" cy="274320"/>
          </a:xfrm>
          <a:prstGeom prst="rect">
            <a:avLst/>
          </a:prstGeom>
          <a:noFill/>
          <a:ln/>
        </p:spPr>
        <p:txBody>
          <a:bodyPr wrap="square" lIns="0" tIns="0" rIns="0" bIns="0" rtlCol="0" anchor="t"/>
          <a:lstStyle/>
          <a:p>
            <a:pPr indent="0" marL="0">
              <a:buNone/>
            </a:pPr>
            <a:r>
              <a:rPr lang="en-US" sz="1400" b="1" dirty="0">
                <a:solidFill>
                  <a:srgbClr val="161A2C"/>
                </a:solidFill>
              </a:rPr>
              <a:t>Repository</a:t>
            </a:r>
            <a:endParaRPr lang="en-US" sz="1400" dirty="0"/>
          </a:p>
        </p:txBody>
      </p:sp>
      <p:sp>
        <p:nvSpPr>
          <p:cNvPr id="18" name="text-87"/>
          <p:cNvSpPr txBox="1"/>
          <p:nvPr/>
        </p:nvSpPr>
        <p:spPr>
          <a:xfrm>
            <a:off x="5486400" y="3337560"/>
            <a:ext cx="2971800" cy="256032"/>
          </a:xfrm>
          <a:prstGeom prst="rect">
            <a:avLst/>
          </a:prstGeom>
          <a:noFill/>
          <a:ln/>
        </p:spPr>
        <p:txBody>
          <a:bodyPr wrap="square" lIns="0" tIns="0" rIns="0" bIns="0" rtlCol="0" anchor="t"/>
          <a:lstStyle/>
          <a:p>
            <a:pPr indent="0" marL="0">
              <a:buNone/>
            </a:pPr>
            <a:r>
              <a:rPr lang="en-US" sz="1050" dirty="0">
                <a:solidFill>
                  <a:srgbClr val="4A4F5E"/>
                </a:solidFill>
              </a:rPr>
              <a:t>Spring Data JPA</a:t>
            </a:r>
            <a:endParaRPr lang="en-US" sz="1050" dirty="0"/>
          </a:p>
        </p:txBody>
      </p:sp>
      <p:sp>
        <p:nvSpPr>
          <p:cNvPr id="19" name="card-88"/>
          <p:cNvSpPr/>
          <p:nvPr/>
        </p:nvSpPr>
        <p:spPr>
          <a:xfrm>
            <a:off x="5257800" y="3767328"/>
            <a:ext cx="3273552" cy="704088"/>
          </a:xfrm>
          <a:prstGeom prst="rect">
            <a:avLst/>
          </a:prstGeom>
          <a:solidFill>
            <a:srgbClr val="FCFCFA"/>
          </a:solidFill>
          <a:ln w="9525">
            <a:solidFill>
              <a:srgbClr val="E2E0D8"/>
            </a:solidFill>
            <a:prstDash val="solid"/>
          </a:ln>
        </p:spPr>
      </p:sp>
      <p:sp>
        <p:nvSpPr>
          <p:cNvPr id="20" name="card-accent-89"/>
          <p:cNvSpPr/>
          <p:nvPr/>
        </p:nvSpPr>
        <p:spPr>
          <a:xfrm>
            <a:off x="5257800" y="3767328"/>
            <a:ext cx="54864" cy="704088"/>
          </a:xfrm>
          <a:prstGeom prst="rect">
            <a:avLst/>
          </a:prstGeom>
          <a:solidFill>
            <a:srgbClr val="161A2C"/>
          </a:solidFill>
          <a:ln w="12700">
            <a:solidFill>
              <a:srgbClr val="161A2C"/>
            </a:solidFill>
            <a:prstDash val="solid"/>
          </a:ln>
        </p:spPr>
      </p:sp>
      <p:sp>
        <p:nvSpPr>
          <p:cNvPr id="21" name="text-90"/>
          <p:cNvSpPr txBox="1"/>
          <p:nvPr/>
        </p:nvSpPr>
        <p:spPr>
          <a:xfrm>
            <a:off x="5486400" y="3840480"/>
            <a:ext cx="2926080" cy="274320"/>
          </a:xfrm>
          <a:prstGeom prst="rect">
            <a:avLst/>
          </a:prstGeom>
          <a:noFill/>
          <a:ln/>
        </p:spPr>
        <p:txBody>
          <a:bodyPr wrap="square" lIns="0" tIns="0" rIns="0" bIns="0" rtlCol="0" anchor="t"/>
          <a:lstStyle/>
          <a:p>
            <a:pPr indent="0" marL="0">
              <a:buNone/>
            </a:pPr>
            <a:r>
              <a:rPr lang="en-US" sz="1400" b="1" dirty="0">
                <a:solidFill>
                  <a:srgbClr val="161A2C"/>
                </a:solidFill>
              </a:rPr>
              <a:t>Database</a:t>
            </a:r>
            <a:endParaRPr lang="en-US" sz="1400" dirty="0"/>
          </a:p>
        </p:txBody>
      </p:sp>
      <p:sp>
        <p:nvSpPr>
          <p:cNvPr id="22" name="text-91"/>
          <p:cNvSpPr txBox="1"/>
          <p:nvPr/>
        </p:nvSpPr>
        <p:spPr>
          <a:xfrm>
            <a:off x="5486400" y="4151376"/>
            <a:ext cx="2971800" cy="256032"/>
          </a:xfrm>
          <a:prstGeom prst="rect">
            <a:avLst/>
          </a:prstGeom>
          <a:noFill/>
          <a:ln/>
        </p:spPr>
        <p:txBody>
          <a:bodyPr wrap="square" lIns="0" tIns="0" rIns="0" bIns="0" rtlCol="0" anchor="t"/>
          <a:lstStyle/>
          <a:p>
            <a:pPr indent="0" marL="0">
              <a:buNone/>
            </a:pPr>
            <a:r>
              <a:rPr lang="en-US" sz="1050" dirty="0">
                <a:solidFill>
                  <a:srgbClr val="4A4F5E"/>
                </a:solidFill>
              </a:rPr>
              <a:t>PostgreSQL บน Neon + Flyway V1–V9</a:t>
            </a:r>
            <a:endParaRPr lang="en-US" sz="1050" dirty="0"/>
          </a:p>
        </p:txBody>
      </p:sp>
      <p:sp>
        <p:nvSpPr>
          <p:cNvPr id="25" name="Slide Number Placeholder 0"/>
          <p:cNvSpPr>
            <a:spLocks noGrp="1"/>
          </p:cNvSpPr>
          <p:nvPr>
            <p:ph type="sldNum" sz="quarter" idx="4294967295"/>
          </p:nvPr>
        </p:nvSpPr>
        <p:spPr>
          <a:xfrm>
            <a:off x="8074152"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6F7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p:nvPr>
            <p:ph idx="105" type="title" hasCustomPrompt="1"/>
          </p:nvPr>
        </p:nvSpPr>
        <p:spPr>
          <a:xfrm>
            <a:off x="612648" y="566928"/>
            <a:ext cx="6400800" cy="566928"/>
          </a:xfrm>
          <a:prstGeom prst="rect">
            <a:avLst/>
          </a:prstGeom>
          <a:noFill/>
          <a:ln/>
        </p:spPr>
        <p:txBody>
          <a:bodyPr wrap="square" lIns="0" tIns="0" rIns="0" bIns="0" rtlCol="0" anchor="ctr"/>
          <a:lstStyle/>
          <a:p>
            <a:pPr algn="l" indent="0" marL="0">
              <a:buNone/>
            </a:pPr>
            <a:r>
              <a:rPr lang="en-US" sz="2600" b="1" dirty="0">
                <a:solidFill>
                  <a:srgbClr val="161A2C"/>
                </a:solidFill>
              </a:rPr>
              <a:t>Security และ REST API</a:t>
            </a:r>
            <a:endParaRPr lang="en-US" sz="2600" dirty="0"/>
          </a:p>
        </p:txBody>
      </p:sp>
      <p:sp>
        <p:nvSpPr>
          <p:cNvPr id="3" name="speaker-pill"/>
          <p:cNvSpPr/>
          <p:nvPr/>
        </p:nvSpPr>
        <p:spPr>
          <a:xfrm>
            <a:off x="7159752" y="329184"/>
            <a:ext cx="1371600" cy="292608"/>
          </a:xfrm>
          <a:prstGeom prst="roundRect">
            <a:avLst>
              <a:gd name="adj" fmla="val 50000"/>
            </a:avLst>
          </a:prstGeom>
          <a:solidFill>
            <a:srgbClr val="161A2C"/>
          </a:solidFill>
          <a:ln w="12700">
            <a:solidFill>
              <a:srgbClr val="161A2C"/>
            </a:solidFill>
            <a:prstDash val="solid"/>
          </a:ln>
        </p:spPr>
      </p:sp>
      <p:sp>
        <p:nvSpPr>
          <p:cNvPr id="4" name="speaker-label"/>
          <p:cNvSpPr txBox="1"/>
          <p:nvPr/>
        </p:nvSpPr>
        <p:spPr>
          <a:xfrm>
            <a:off x="7159752" y="329184"/>
            <a:ext cx="1371600" cy="292608"/>
          </a:xfrm>
          <a:prstGeom prst="rect">
            <a:avLst/>
          </a:prstGeom>
          <a:noFill/>
          <a:ln/>
        </p:spPr>
        <p:txBody>
          <a:bodyPr wrap="square" lIns="0" tIns="0" rIns="0" bIns="0" rtlCol="0" anchor="ctr"/>
          <a:lstStyle/>
          <a:p>
            <a:pPr algn="ctr" indent="0" marL="0">
              <a:buNone/>
            </a:pPr>
            <a:r>
              <a:rPr lang="en-US" sz="1100" b="1" dirty="0">
                <a:solidFill>
                  <a:srgbClr val="FCFCFA"/>
                </a:solidFill>
              </a:rPr>
              <a:t>P1 ณัฐชา</a:t>
            </a:r>
            <a:endParaRPr lang="en-US" sz="1100" dirty="0"/>
          </a:p>
        </p:txBody>
      </p:sp>
      <p:sp>
        <p:nvSpPr>
          <p:cNvPr id="5" name="card-93"/>
          <p:cNvSpPr/>
          <p:nvPr/>
        </p:nvSpPr>
        <p:spPr>
          <a:xfrm>
            <a:off x="612648" y="1325880"/>
            <a:ext cx="2523744" cy="1417320"/>
          </a:xfrm>
          <a:prstGeom prst="rect">
            <a:avLst/>
          </a:prstGeom>
          <a:solidFill>
            <a:srgbClr val="FCFCFA"/>
          </a:solidFill>
          <a:ln w="9525">
            <a:solidFill>
              <a:srgbClr val="E2E0D8"/>
            </a:solidFill>
            <a:prstDash val="solid"/>
          </a:ln>
        </p:spPr>
      </p:sp>
      <p:sp>
        <p:nvSpPr>
          <p:cNvPr id="6" name="text-94"/>
          <p:cNvSpPr txBox="1"/>
          <p:nvPr/>
        </p:nvSpPr>
        <p:spPr>
          <a:xfrm>
            <a:off x="868680" y="1417320"/>
            <a:ext cx="2103120" cy="777240"/>
          </a:xfrm>
          <a:prstGeom prst="rect">
            <a:avLst/>
          </a:prstGeom>
          <a:noFill/>
          <a:ln/>
        </p:spPr>
        <p:txBody>
          <a:bodyPr wrap="square" lIns="0" tIns="0" rIns="0" bIns="0" rtlCol="0" anchor="ctr"/>
          <a:lstStyle/>
          <a:p>
            <a:pPr indent="0" marL="0">
              <a:buNone/>
            </a:pPr>
            <a:r>
              <a:rPr lang="en-US" sz="4600" b="1" dirty="0">
                <a:solidFill>
                  <a:srgbClr val="0A6FA6"/>
                </a:solidFill>
              </a:rPr>
              <a:t>43</a:t>
            </a:r>
            <a:endParaRPr lang="en-US" sz="4600" dirty="0"/>
          </a:p>
        </p:txBody>
      </p:sp>
      <p:sp>
        <p:nvSpPr>
          <p:cNvPr id="7" name="text-95"/>
          <p:cNvSpPr txBox="1"/>
          <p:nvPr/>
        </p:nvSpPr>
        <p:spPr>
          <a:xfrm>
            <a:off x="868680" y="2240280"/>
            <a:ext cx="2103120" cy="411480"/>
          </a:xfrm>
          <a:prstGeom prst="rect">
            <a:avLst/>
          </a:prstGeom>
          <a:noFill/>
          <a:ln/>
        </p:spPr>
        <p:txBody>
          <a:bodyPr wrap="square" lIns="0" tIns="0" rIns="0" bIns="0" rtlCol="0" anchor="t"/>
          <a:lstStyle/>
          <a:p>
            <a:pPr indent="0" marL="0">
              <a:buNone/>
            </a:pPr>
            <a:r>
              <a:rPr lang="en-US" sz="1200" dirty="0">
                <a:solidFill>
                  <a:srgbClr val="4A4F5E"/>
                </a:solidFill>
              </a:rPr>
              <a:t>REST endpoint บน Swagger UI</a:t>
            </a:r>
            <a:endParaRPr lang="en-US" sz="1200" dirty="0"/>
          </a:p>
        </p:txBody>
      </p:sp>
      <p:sp>
        <p:nvSpPr>
          <p:cNvPr id="8" name="card-96"/>
          <p:cNvSpPr/>
          <p:nvPr/>
        </p:nvSpPr>
        <p:spPr>
          <a:xfrm>
            <a:off x="3310128" y="1325880"/>
            <a:ext cx="2523744" cy="1417320"/>
          </a:xfrm>
          <a:prstGeom prst="rect">
            <a:avLst/>
          </a:prstGeom>
          <a:solidFill>
            <a:srgbClr val="FCFCFA"/>
          </a:solidFill>
          <a:ln w="9525">
            <a:solidFill>
              <a:srgbClr val="E2E0D8"/>
            </a:solidFill>
            <a:prstDash val="solid"/>
          </a:ln>
        </p:spPr>
      </p:sp>
      <p:sp>
        <p:nvSpPr>
          <p:cNvPr id="9" name="text-97"/>
          <p:cNvSpPr txBox="1"/>
          <p:nvPr/>
        </p:nvSpPr>
        <p:spPr>
          <a:xfrm>
            <a:off x="3566160" y="1417320"/>
            <a:ext cx="2103120" cy="777240"/>
          </a:xfrm>
          <a:prstGeom prst="rect">
            <a:avLst/>
          </a:prstGeom>
          <a:noFill/>
          <a:ln/>
        </p:spPr>
        <p:txBody>
          <a:bodyPr wrap="square" lIns="0" tIns="0" rIns="0" bIns="0" rtlCol="0" anchor="ctr"/>
          <a:lstStyle/>
          <a:p>
            <a:pPr indent="0" marL="0">
              <a:buNone/>
            </a:pPr>
            <a:r>
              <a:rPr lang="en-US" sz="4600" b="1" dirty="0">
                <a:solidFill>
                  <a:srgbClr val="C8235F"/>
                </a:solidFill>
              </a:rPr>
              <a:t>3</a:t>
            </a:r>
            <a:endParaRPr lang="en-US" sz="4600" dirty="0"/>
          </a:p>
        </p:txBody>
      </p:sp>
      <p:sp>
        <p:nvSpPr>
          <p:cNvPr id="10" name="text-98"/>
          <p:cNvSpPr txBox="1"/>
          <p:nvPr/>
        </p:nvSpPr>
        <p:spPr>
          <a:xfrm>
            <a:off x="3566160" y="2240280"/>
            <a:ext cx="2103120" cy="411480"/>
          </a:xfrm>
          <a:prstGeom prst="rect">
            <a:avLst/>
          </a:prstGeom>
          <a:noFill/>
          <a:ln/>
        </p:spPr>
        <p:txBody>
          <a:bodyPr wrap="square" lIns="0" tIns="0" rIns="0" bIns="0" rtlCol="0" anchor="t"/>
          <a:lstStyle/>
          <a:p>
            <a:pPr indent="0" marL="0">
              <a:buNone/>
            </a:pPr>
            <a:r>
              <a:rPr lang="en-US" sz="1200" dirty="0">
                <a:solidFill>
                  <a:srgbClr val="4A4F5E"/>
                </a:solidFill>
              </a:rPr>
              <a:t>role: CUSTOMER STAFF ADMIN</a:t>
            </a:r>
            <a:endParaRPr lang="en-US" sz="1200" dirty="0"/>
          </a:p>
        </p:txBody>
      </p:sp>
      <p:sp>
        <p:nvSpPr>
          <p:cNvPr id="11" name="card-99"/>
          <p:cNvSpPr/>
          <p:nvPr/>
        </p:nvSpPr>
        <p:spPr>
          <a:xfrm>
            <a:off x="6007608" y="1325880"/>
            <a:ext cx="2523744" cy="1417320"/>
          </a:xfrm>
          <a:prstGeom prst="rect">
            <a:avLst/>
          </a:prstGeom>
          <a:solidFill>
            <a:srgbClr val="FCFCFA"/>
          </a:solidFill>
          <a:ln w="9525">
            <a:solidFill>
              <a:srgbClr val="E2E0D8"/>
            </a:solidFill>
            <a:prstDash val="solid"/>
          </a:ln>
        </p:spPr>
      </p:sp>
      <p:sp>
        <p:nvSpPr>
          <p:cNvPr id="12" name="text-100"/>
          <p:cNvSpPr txBox="1"/>
          <p:nvPr/>
        </p:nvSpPr>
        <p:spPr>
          <a:xfrm>
            <a:off x="6263640" y="1417320"/>
            <a:ext cx="2103120" cy="777240"/>
          </a:xfrm>
          <a:prstGeom prst="rect">
            <a:avLst/>
          </a:prstGeom>
          <a:noFill/>
          <a:ln/>
        </p:spPr>
        <p:txBody>
          <a:bodyPr wrap="square" lIns="0" tIns="0" rIns="0" bIns="0" rtlCol="0" anchor="ctr"/>
          <a:lstStyle/>
          <a:p>
            <a:pPr indent="0" marL="0">
              <a:buNone/>
            </a:pPr>
            <a:r>
              <a:rPr lang="en-US" sz="4600" b="1" dirty="0">
                <a:solidFill>
                  <a:srgbClr val="161A2C"/>
                </a:solidFill>
              </a:rPr>
              <a:t>403</a:t>
            </a:r>
            <a:endParaRPr lang="en-US" sz="4600" dirty="0"/>
          </a:p>
        </p:txBody>
      </p:sp>
      <p:sp>
        <p:nvSpPr>
          <p:cNvPr id="13" name="text-101"/>
          <p:cNvSpPr txBox="1"/>
          <p:nvPr/>
        </p:nvSpPr>
        <p:spPr>
          <a:xfrm>
            <a:off x="6263640" y="2240280"/>
            <a:ext cx="2103120" cy="411480"/>
          </a:xfrm>
          <a:prstGeom prst="rect">
            <a:avLst/>
          </a:prstGeom>
          <a:noFill/>
          <a:ln/>
        </p:spPr>
        <p:txBody>
          <a:bodyPr wrap="square" lIns="0" tIns="0" rIns="0" bIns="0" rtlCol="0" anchor="t"/>
          <a:lstStyle/>
          <a:p>
            <a:pPr indent="0" marL="0">
              <a:buNone/>
            </a:pPr>
            <a:r>
              <a:rPr lang="en-US" sz="1200" dirty="0">
                <a:solidFill>
                  <a:srgbClr val="4A4F5E"/>
                </a:solidFill>
              </a:rPr>
              <a:t>ดู order ของคนอื่นไม่ได้</a:t>
            </a:r>
            <a:endParaRPr lang="en-US" sz="1200" dirty="0"/>
          </a:p>
        </p:txBody>
      </p:sp>
      <p:sp>
        <p:nvSpPr>
          <p:cNvPr id="14" name="text-102"/>
          <p:cNvSpPr txBox="1"/>
          <p:nvPr/>
        </p:nvSpPr>
        <p:spPr>
          <a:xfrm>
            <a:off x="612648" y="3017520"/>
            <a:ext cx="7918704" cy="1463040"/>
          </a:xfrm>
          <a:prstGeom prst="rect">
            <a:avLst/>
          </a:prstGeom>
          <a:noFill/>
          <a:ln/>
        </p:spPr>
        <p:txBody>
          <a:bodyPr wrap="square" lIns="0" tIns="0" rIns="0" bIns="0" rtlCol="0" anchor="t"/>
          <a:lstStyle/>
          <a:p>
            <a:pPr marL="177800" indent="-177800">
              <a:spcAft>
                <a:spcPts val="1000"/>
              </a:spcAft>
              <a:buSzPct val="100000"/>
              <a:buChar char="•"/>
            </a:pPr>
            <a:r>
              <a:rPr lang="en-US" sz="1450" dirty="0">
                <a:solidFill>
                  <a:srgbClr val="2E3242"/>
                </a:solidFill>
              </a:rPr>
              <a:t>กฎสิทธิ์รวมที่ SecurityConfig และเช็กเจ้าของข้อมูลใน service อีกชั้น</a:t>
            </a:r>
            <a:endParaRPr lang="en-US" sz="1450" dirty="0"/>
          </a:p>
          <a:p>
            <a:pPr marL="177800" indent="-177800">
              <a:spcAft>
                <a:spcPts val="1000"/>
              </a:spcAft>
              <a:buSzPct val="100000"/>
              <a:buChar char="•"/>
            </a:pPr>
            <a:r>
              <a:rPr lang="en-US" sz="1450" dirty="0">
                <a:solidFill>
                  <a:srgbClr val="2E3242"/>
                </a:solidFill>
              </a:rPr>
              <a:t>รหัสผ่านเข้ารหัส BCrypt · หน้าเว็บมี CSRF · API ใช้ HTTP Basic</a:t>
            </a:r>
            <a:endParaRPr lang="en-US" sz="1450" dirty="0"/>
          </a:p>
          <a:p>
            <a:pPr marL="177800" indent="-177800">
              <a:spcAft>
                <a:spcPts val="1000"/>
              </a:spcAft>
              <a:buSzPct val="100000"/>
              <a:buChar char="•"/>
            </a:pPr>
            <a:r>
              <a:rPr lang="en-US" sz="1450" dirty="0">
                <a:solidFill>
                  <a:srgbClr val="2E3242"/>
                </a:solidFill>
              </a:rPr>
              <a:t>Error ทุกตัวตอบ JSON รูปแบบเดียวผ่าน @RestControllerAdvice</a:t>
            </a:r>
            <a:endParaRPr lang="en-US" sz="1450" dirty="0"/>
          </a:p>
        </p:txBody>
      </p:sp>
      <p:sp>
        <p:nvSpPr>
          <p:cNvPr id="25" name="Slide Number Placeholder 0"/>
          <p:cNvSpPr>
            <a:spLocks noGrp="1"/>
          </p:cNvSpPr>
          <p:nvPr>
            <p:ph type="sldNum" sz="quarter" idx="4294967295"/>
          </p:nvPr>
        </p:nvSpPr>
        <p:spPr>
          <a:xfrm>
            <a:off x="8074152"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6F7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5"/>
          <p:cNvSpPr/>
          <p:nvPr>
            <p:ph idx="105" type="title" hasCustomPrompt="1"/>
          </p:nvPr>
        </p:nvSpPr>
        <p:spPr>
          <a:xfrm>
            <a:off x="612648" y="566928"/>
            <a:ext cx="6400800" cy="566928"/>
          </a:xfrm>
          <a:prstGeom prst="rect">
            <a:avLst/>
          </a:prstGeom>
          <a:noFill/>
          <a:ln/>
        </p:spPr>
        <p:txBody>
          <a:bodyPr wrap="square" lIns="0" tIns="0" rIns="0" bIns="0" rtlCol="0" anchor="ctr"/>
          <a:lstStyle/>
          <a:p>
            <a:pPr algn="l" indent="0" marL="0">
              <a:buNone/>
            </a:pPr>
            <a:r>
              <a:rPr lang="en-US" sz="2600" b="1" dirty="0">
                <a:solidFill>
                  <a:srgbClr val="161A2C"/>
                </a:solidFill>
              </a:rPr>
              <a:t>ฐานข้อมูล 13 ตาราง</a:t>
            </a:r>
            <a:endParaRPr lang="en-US" sz="2600" dirty="0"/>
          </a:p>
        </p:txBody>
      </p:sp>
      <p:sp>
        <p:nvSpPr>
          <p:cNvPr id="3" name="speaker-pill"/>
          <p:cNvSpPr/>
          <p:nvPr/>
        </p:nvSpPr>
        <p:spPr>
          <a:xfrm>
            <a:off x="7159752" y="329184"/>
            <a:ext cx="1371600" cy="292608"/>
          </a:xfrm>
          <a:prstGeom prst="roundRect">
            <a:avLst>
              <a:gd name="adj" fmla="val 50000"/>
            </a:avLst>
          </a:prstGeom>
          <a:solidFill>
            <a:srgbClr val="D6246E"/>
          </a:solidFill>
          <a:ln w="12700">
            <a:solidFill>
              <a:srgbClr val="D6246E"/>
            </a:solidFill>
            <a:prstDash val="solid"/>
          </a:ln>
        </p:spPr>
      </p:sp>
      <p:sp>
        <p:nvSpPr>
          <p:cNvPr id="4" name="speaker-label"/>
          <p:cNvSpPr txBox="1"/>
          <p:nvPr/>
        </p:nvSpPr>
        <p:spPr>
          <a:xfrm>
            <a:off x="7159752" y="329184"/>
            <a:ext cx="1371600" cy="292608"/>
          </a:xfrm>
          <a:prstGeom prst="rect">
            <a:avLst/>
          </a:prstGeom>
          <a:noFill/>
          <a:ln/>
        </p:spPr>
        <p:txBody>
          <a:bodyPr wrap="square" lIns="0" tIns="0" rIns="0" bIns="0" rtlCol="0" anchor="ctr"/>
          <a:lstStyle/>
          <a:p>
            <a:pPr algn="ctr" indent="0" marL="0">
              <a:buNone/>
            </a:pPr>
            <a:r>
              <a:rPr lang="en-US" sz="1100" b="1" dirty="0">
                <a:solidFill>
                  <a:srgbClr val="FCFCFA"/>
                </a:solidFill>
              </a:rPr>
              <a:t>P2 ปฏิภาณ</a:t>
            </a:r>
            <a:endParaRPr lang="en-US" sz="1100" dirty="0"/>
          </a:p>
        </p:txBody>
      </p:sp>
      <p:sp>
        <p:nvSpPr>
          <p:cNvPr id="5" name="card-104"/>
          <p:cNvSpPr/>
          <p:nvPr/>
        </p:nvSpPr>
        <p:spPr>
          <a:xfrm>
            <a:off x="612648" y="1325880"/>
            <a:ext cx="5440680" cy="3200400"/>
          </a:xfrm>
          <a:prstGeom prst="rect">
            <a:avLst/>
          </a:prstGeom>
          <a:solidFill>
            <a:srgbClr val="FCFCFA"/>
          </a:solidFill>
          <a:ln w="9525">
            <a:solidFill>
              <a:srgbClr val="E2E0D8"/>
            </a:solidFill>
            <a:prstDash val="solid"/>
          </a:ln>
        </p:spPr>
      </p:sp>
      <p:pic>
        <p:nvPicPr>
          <p:cNvPr id="6" name="er-diagram" descr="ER diagram 13 ตาราง">    </p:cNvPr>
          <p:cNvPicPr>
            <a:picLocks noChangeAspect="1"/>
          </p:cNvPicPr>
          <p:nvPr/>
        </p:nvPicPr>
        <p:blipFill>
          <a:blip r:embed="rId1"/>
          <a:stretch>
            <a:fillRect/>
          </a:stretch>
        </p:blipFill>
        <p:spPr>
          <a:xfrm>
            <a:off x="704088" y="1412608"/>
            <a:ext cx="5257800" cy="3026943"/>
          </a:xfrm>
          <a:prstGeom prst="rect">
            <a:avLst/>
          </a:prstGeom>
        </p:spPr>
      </p:pic>
      <p:sp>
        <p:nvSpPr>
          <p:cNvPr id="7" name="stat-tab-105"/>
          <p:cNvSpPr/>
          <p:nvPr/>
        </p:nvSpPr>
        <p:spPr>
          <a:xfrm>
            <a:off x="6309360" y="1325880"/>
            <a:ext cx="54864" cy="914400"/>
          </a:xfrm>
          <a:prstGeom prst="rect">
            <a:avLst/>
          </a:prstGeom>
          <a:solidFill>
            <a:srgbClr val="0A86C7"/>
          </a:solidFill>
          <a:ln w="12700">
            <a:solidFill>
              <a:srgbClr val="0A86C7"/>
            </a:solidFill>
            <a:prstDash val="solid"/>
          </a:ln>
        </p:spPr>
      </p:sp>
      <p:sp>
        <p:nvSpPr>
          <p:cNvPr id="8" name="text-106"/>
          <p:cNvSpPr txBox="1"/>
          <p:nvPr/>
        </p:nvSpPr>
        <p:spPr>
          <a:xfrm>
            <a:off x="6537960" y="1325880"/>
            <a:ext cx="2011680" cy="548640"/>
          </a:xfrm>
          <a:prstGeom prst="rect">
            <a:avLst/>
          </a:prstGeom>
          <a:noFill/>
          <a:ln/>
        </p:spPr>
        <p:txBody>
          <a:bodyPr wrap="square" lIns="0" tIns="0" rIns="0" bIns="0" rtlCol="0" anchor="b"/>
          <a:lstStyle/>
          <a:p>
            <a:pPr indent="0" marL="0">
              <a:buNone/>
            </a:pPr>
            <a:r>
              <a:rPr lang="en-US" sz="3600" b="1" dirty="0">
                <a:solidFill>
                  <a:srgbClr val="161A2C"/>
                </a:solidFill>
              </a:rPr>
              <a:t>13</a:t>
            </a:r>
            <a:endParaRPr lang="en-US" sz="3600" dirty="0"/>
          </a:p>
        </p:txBody>
      </p:sp>
      <p:sp>
        <p:nvSpPr>
          <p:cNvPr id="9" name="text-107"/>
          <p:cNvSpPr txBox="1"/>
          <p:nvPr/>
        </p:nvSpPr>
        <p:spPr>
          <a:xfrm>
            <a:off x="6537960" y="1920240"/>
            <a:ext cx="2011680" cy="274320"/>
          </a:xfrm>
          <a:prstGeom prst="rect">
            <a:avLst/>
          </a:prstGeom>
          <a:noFill/>
          <a:ln/>
        </p:spPr>
        <p:txBody>
          <a:bodyPr wrap="square" lIns="0" tIns="0" rIns="0" bIns="0" rtlCol="0" anchor="t"/>
          <a:lstStyle/>
          <a:p>
            <a:pPr indent="0" marL="0">
              <a:buNone/>
            </a:pPr>
            <a:r>
              <a:rPr lang="en-US" sz="1100" dirty="0">
                <a:solidFill>
                  <a:srgbClr val="4A4F5E"/>
                </a:solidFill>
              </a:rPr>
              <a:t>ตารางใน PostgreSQL</a:t>
            </a:r>
            <a:endParaRPr lang="en-US" sz="1100" dirty="0"/>
          </a:p>
        </p:txBody>
      </p:sp>
      <p:sp>
        <p:nvSpPr>
          <p:cNvPr id="10" name="stat-tab-108"/>
          <p:cNvSpPr/>
          <p:nvPr/>
        </p:nvSpPr>
        <p:spPr>
          <a:xfrm>
            <a:off x="6309360" y="2423160"/>
            <a:ext cx="54864" cy="914400"/>
          </a:xfrm>
          <a:prstGeom prst="rect">
            <a:avLst/>
          </a:prstGeom>
          <a:solidFill>
            <a:srgbClr val="D6246E"/>
          </a:solidFill>
          <a:ln w="12700">
            <a:solidFill>
              <a:srgbClr val="D6246E"/>
            </a:solidFill>
            <a:prstDash val="solid"/>
          </a:ln>
        </p:spPr>
      </p:sp>
      <p:sp>
        <p:nvSpPr>
          <p:cNvPr id="11" name="text-109"/>
          <p:cNvSpPr txBox="1"/>
          <p:nvPr/>
        </p:nvSpPr>
        <p:spPr>
          <a:xfrm>
            <a:off x="6537960" y="2423160"/>
            <a:ext cx="2011680" cy="548640"/>
          </a:xfrm>
          <a:prstGeom prst="rect">
            <a:avLst/>
          </a:prstGeom>
          <a:noFill/>
          <a:ln/>
        </p:spPr>
        <p:txBody>
          <a:bodyPr wrap="square" lIns="0" tIns="0" rIns="0" bIns="0" rtlCol="0" anchor="b"/>
          <a:lstStyle/>
          <a:p>
            <a:pPr indent="0" marL="0">
              <a:buNone/>
            </a:pPr>
            <a:r>
              <a:rPr lang="en-US" sz="3000" b="1" dirty="0">
                <a:solidFill>
                  <a:srgbClr val="161A2C"/>
                </a:solidFill>
              </a:rPr>
              <a:t>V1–V9</a:t>
            </a:r>
            <a:endParaRPr lang="en-US" sz="3000" dirty="0"/>
          </a:p>
        </p:txBody>
      </p:sp>
      <p:sp>
        <p:nvSpPr>
          <p:cNvPr id="12" name="text-110"/>
          <p:cNvSpPr txBox="1"/>
          <p:nvPr/>
        </p:nvSpPr>
        <p:spPr>
          <a:xfrm>
            <a:off x="6537960" y="3017520"/>
            <a:ext cx="2011680" cy="274320"/>
          </a:xfrm>
          <a:prstGeom prst="rect">
            <a:avLst/>
          </a:prstGeom>
          <a:noFill/>
          <a:ln/>
        </p:spPr>
        <p:txBody>
          <a:bodyPr wrap="square" lIns="0" tIns="0" rIns="0" bIns="0" rtlCol="0" anchor="t"/>
          <a:lstStyle/>
          <a:p>
            <a:pPr indent="0" marL="0">
              <a:buNone/>
            </a:pPr>
            <a:r>
              <a:rPr lang="en-US" sz="1100" dirty="0">
                <a:solidFill>
                  <a:srgbClr val="4A4F5E"/>
                </a:solidFill>
              </a:rPr>
              <a:t>Flyway ไม่แก้ไฟล์เก่า</a:t>
            </a:r>
            <a:endParaRPr lang="en-US" sz="1100" dirty="0"/>
          </a:p>
        </p:txBody>
      </p:sp>
      <p:sp>
        <p:nvSpPr>
          <p:cNvPr id="13" name="stat-tab-111"/>
          <p:cNvSpPr/>
          <p:nvPr/>
        </p:nvSpPr>
        <p:spPr>
          <a:xfrm>
            <a:off x="6309360" y="3520440"/>
            <a:ext cx="54864" cy="914400"/>
          </a:xfrm>
          <a:prstGeom prst="rect">
            <a:avLst/>
          </a:prstGeom>
          <a:solidFill>
            <a:srgbClr val="F2C200"/>
          </a:solidFill>
          <a:ln w="12700">
            <a:solidFill>
              <a:srgbClr val="F2C200"/>
            </a:solidFill>
            <a:prstDash val="solid"/>
          </a:ln>
        </p:spPr>
      </p:sp>
      <p:sp>
        <p:nvSpPr>
          <p:cNvPr id="14" name="text-112"/>
          <p:cNvSpPr txBox="1"/>
          <p:nvPr/>
        </p:nvSpPr>
        <p:spPr>
          <a:xfrm>
            <a:off x="6537960" y="3520440"/>
            <a:ext cx="2011680" cy="548640"/>
          </a:xfrm>
          <a:prstGeom prst="rect">
            <a:avLst/>
          </a:prstGeom>
          <a:noFill/>
          <a:ln/>
        </p:spPr>
        <p:txBody>
          <a:bodyPr wrap="square" lIns="0" tIns="0" rIns="0" bIns="0" rtlCol="0" anchor="b"/>
          <a:lstStyle/>
          <a:p>
            <a:pPr indent="0" marL="0">
              <a:buNone/>
            </a:pPr>
            <a:r>
              <a:rPr lang="en-US" sz="1700" b="1" dirty="0">
                <a:solidFill>
                  <a:srgbClr val="161A2C"/>
                </a:solidFill>
              </a:rPr>
              <a:t>1:1 · 1:N · M:N</a:t>
            </a:r>
            <a:endParaRPr lang="en-US" sz="1700" dirty="0"/>
          </a:p>
        </p:txBody>
      </p:sp>
      <p:sp>
        <p:nvSpPr>
          <p:cNvPr id="15" name="text-113"/>
          <p:cNvSpPr txBox="1"/>
          <p:nvPr/>
        </p:nvSpPr>
        <p:spPr>
          <a:xfrm>
            <a:off x="6537960" y="4114800"/>
            <a:ext cx="2011680" cy="274320"/>
          </a:xfrm>
          <a:prstGeom prst="rect">
            <a:avLst/>
          </a:prstGeom>
          <a:noFill/>
          <a:ln/>
        </p:spPr>
        <p:txBody>
          <a:bodyPr wrap="square" lIns="0" tIns="0" rIns="0" bIns="0" rtlCol="0" anchor="t"/>
          <a:lstStyle/>
          <a:p>
            <a:pPr indent="0" marL="0">
              <a:buNone/>
            </a:pPr>
            <a:r>
              <a:rPr lang="en-US" sz="1100" dirty="0">
                <a:solidFill>
                  <a:srgbClr val="4A4F5E"/>
                </a:solidFill>
              </a:rPr>
              <a:t>ความสัมพันธ์ครบทุกแบบ</a:t>
            </a:r>
            <a:endParaRPr lang="en-US" sz="1100" dirty="0"/>
          </a:p>
        </p:txBody>
      </p:sp>
      <p:sp>
        <p:nvSpPr>
          <p:cNvPr id="25" name="Slide Number Placeholder 0"/>
          <p:cNvSpPr>
            <a:spLocks noGrp="1"/>
          </p:cNvSpPr>
          <p:nvPr>
            <p:ph type="sldNum" sz="quarter" idx="4294967295"/>
          </p:nvPr>
        </p:nvSpPr>
        <p:spPr>
          <a:xfrm>
            <a:off x="8074152"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6F7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p:nvPr>
            <p:ph idx="105" type="title" hasCustomPrompt="1"/>
          </p:nvPr>
        </p:nvSpPr>
        <p:spPr>
          <a:xfrm>
            <a:off x="612648" y="566928"/>
            <a:ext cx="6400800" cy="566928"/>
          </a:xfrm>
          <a:prstGeom prst="rect">
            <a:avLst/>
          </a:prstGeom>
          <a:noFill/>
          <a:ln/>
        </p:spPr>
        <p:txBody>
          <a:bodyPr wrap="square" lIns="0" tIns="0" rIns="0" bIns="0" rtlCol="0" anchor="ctr"/>
          <a:lstStyle/>
          <a:p>
            <a:pPr algn="l" indent="0" marL="0">
              <a:buNone/>
            </a:pPr>
            <a:r>
              <a:rPr lang="en-US" sz="2600" b="1" dirty="0">
                <a:solidFill>
                  <a:srgbClr val="161A2C"/>
                </a:solidFill>
              </a:rPr>
              <a:t>Strategy: คิดราคาแบบไม่มี if-else</a:t>
            </a:r>
            <a:endParaRPr lang="en-US" sz="2600" dirty="0"/>
          </a:p>
        </p:txBody>
      </p:sp>
      <p:sp>
        <p:nvSpPr>
          <p:cNvPr id="3" name="speaker-pill"/>
          <p:cNvSpPr/>
          <p:nvPr/>
        </p:nvSpPr>
        <p:spPr>
          <a:xfrm>
            <a:off x="7159752" y="329184"/>
            <a:ext cx="1371600" cy="292608"/>
          </a:xfrm>
          <a:prstGeom prst="roundRect">
            <a:avLst>
              <a:gd name="adj" fmla="val 50000"/>
            </a:avLst>
          </a:prstGeom>
          <a:solidFill>
            <a:srgbClr val="D6246E"/>
          </a:solidFill>
          <a:ln w="12700">
            <a:solidFill>
              <a:srgbClr val="D6246E"/>
            </a:solidFill>
            <a:prstDash val="solid"/>
          </a:ln>
        </p:spPr>
      </p:sp>
      <p:sp>
        <p:nvSpPr>
          <p:cNvPr id="4" name="speaker-label"/>
          <p:cNvSpPr txBox="1"/>
          <p:nvPr/>
        </p:nvSpPr>
        <p:spPr>
          <a:xfrm>
            <a:off x="7159752" y="329184"/>
            <a:ext cx="1371600" cy="292608"/>
          </a:xfrm>
          <a:prstGeom prst="rect">
            <a:avLst/>
          </a:prstGeom>
          <a:noFill/>
          <a:ln/>
        </p:spPr>
        <p:txBody>
          <a:bodyPr wrap="square" lIns="0" tIns="0" rIns="0" bIns="0" rtlCol="0" anchor="ctr"/>
          <a:lstStyle/>
          <a:p>
            <a:pPr algn="ctr" indent="0" marL="0">
              <a:buNone/>
            </a:pPr>
            <a:r>
              <a:rPr lang="en-US" sz="1100" b="1" dirty="0">
                <a:solidFill>
                  <a:srgbClr val="FCFCFA"/>
                </a:solidFill>
              </a:rPr>
              <a:t>P2 ปฏิภาณ</a:t>
            </a:r>
            <a:endParaRPr lang="en-US" sz="1100" dirty="0"/>
          </a:p>
        </p:txBody>
      </p:sp>
      <p:graphicFrame>
        <p:nvGraphicFramePr>
          <p:cNvPr id="8" name="pricing-table"/>
          <p:cNvGraphicFramePr>
            <a:graphicFrameLocks noGrp="1"/>
          </p:cNvGraphicFramePr>
          <p:nvPr>
            <p:extLst>
              <p:ext uri="{D42A27DB-BD31-4B8C-83A1-F6EECF244321}">
                <p14:modId xmlns:p14="http://schemas.microsoft.com/office/powerpoint/2010/main" val="1579011935"/>
              </p:ext>
            </p:extLst>
          </p:nvPr>
        </p:nvGraphicFramePr>
        <p:xfrm>
          <a:off x="612648" y="1325880"/>
          <a:ext cx="4572000" cy="914400"/>
        </p:xfrm>
        <a:graphic>
          <a:graphicData uri="http://schemas.openxmlformats.org/drawingml/2006/table">
            <a:tbl>
              <a:tblPr/>
              <a:tblGrid>
                <a:gridCol w="1325880"/>
                <a:gridCol w="3246120"/>
              </a:tblGrid>
              <a:tr h="347472">
                <a:tc>
                  <a:txBody>
                    <a:bodyPr/>
                    <a:lstStyle/>
                    <a:p>
                      <a:pPr indent="0" marL="0">
                        <a:buNone/>
                      </a:pPr>
                      <a:r>
                        <a:rPr lang="en-US" sz="1250" b="1" dirty="0">
                          <a:solidFill>
                            <a:srgbClr val="F5F4EF"/>
                          </a:solidFill>
                        </a:rPr>
                        <a:t>ประเภทงาน</a:t>
                      </a:r>
                      <a:endParaRPr lang="en-US" sz="1250" dirty="0"/>
                    </a:p>
                  </a:txBody>
                  <a:tcPr marL="73152" marR="73152" marT="73152" marB="73152"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161A2C"/>
                    </a:solidFill>
                  </a:tcPr>
                </a:tc>
                <a:tc>
                  <a:txBody>
                    <a:bodyPr/>
                    <a:lstStyle/>
                    <a:p>
                      <a:pPr indent="0" marL="0">
                        <a:buNone/>
                      </a:pPr>
                      <a:r>
                        <a:rPr lang="en-US" sz="1250" b="1" dirty="0">
                          <a:solidFill>
                            <a:srgbClr val="F5F4EF"/>
                          </a:solidFill>
                        </a:rPr>
                        <a:t>สูตร (คลาส Strategy)</a:t>
                      </a:r>
                      <a:endParaRPr lang="en-US" sz="1250" dirty="0"/>
                    </a:p>
                  </a:txBody>
                  <a:tcPr marL="73152" marR="73152" marT="73152" marB="73152"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161A2C"/>
                    </a:solidFill>
                  </a:tcPr>
                </a:tc>
              </a:tr>
              <a:tr h="347472">
                <a:tc>
                  <a:txBody>
                    <a:bodyPr/>
                    <a:lstStyle/>
                    <a:p>
                      <a:pPr indent="0" marL="0">
                        <a:buNone/>
                      </a:pPr>
                      <a:r>
                        <a:rPr lang="en-US" sz="1250" dirty="0">
                          <a:solidFill>
                            <a:srgbClr val="161A2C"/>
                          </a:solidFill>
                        </a:rPr>
                        <a:t>ขาวดำ</a:t>
                      </a:r>
                      <a:endParaRPr lang="en-US" sz="1250" dirty="0"/>
                    </a:p>
                  </a:txBody>
                  <a:tcPr marL="73152" marR="73152" marT="73152" marB="73152"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FCFCFA"/>
                    </a:solidFill>
                  </a:tcPr>
                </a:tc>
                <a:tc>
                  <a:txBody>
                    <a:bodyPr/>
                    <a:lstStyle/>
                    <a:p>
                      <a:pPr indent="0" marL="0">
                        <a:buNone/>
                      </a:pPr>
                      <a:r>
                        <a:rPr lang="en-US" sz="1250" dirty="0">
                          <a:solidFill>
                            <a:srgbClr val="161A2C"/>
                          </a:solidFill>
                        </a:rPr>
                        <a:t>ราคา × หน้า × ชุด</a:t>
                      </a:r>
                      <a:endParaRPr lang="en-US" sz="1250" dirty="0"/>
                    </a:p>
                  </a:txBody>
                  <a:tcPr marL="73152" marR="73152" marT="73152" marB="73152"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FCFCFA"/>
                    </a:solidFill>
                  </a:tcPr>
                </a:tc>
              </a:tr>
              <a:tr h="347472">
                <a:tc>
                  <a:txBody>
                    <a:bodyPr/>
                    <a:lstStyle/>
                    <a:p>
                      <a:pPr indent="0" marL="0">
                        <a:buNone/>
                      </a:pPr>
                      <a:r>
                        <a:rPr lang="en-US" sz="1250" dirty="0">
                          <a:solidFill>
                            <a:srgbClr val="161A2C"/>
                          </a:solidFill>
                        </a:rPr>
                        <a:t>สี</a:t>
                      </a:r>
                      <a:endParaRPr lang="en-US" sz="1250" dirty="0"/>
                    </a:p>
                  </a:txBody>
                  <a:tcPr marL="73152" marR="73152" marT="73152" marB="73152"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FCFCFA"/>
                    </a:solidFill>
                  </a:tcPr>
                </a:tc>
                <a:tc>
                  <a:txBody>
                    <a:bodyPr/>
                    <a:lstStyle/>
                    <a:p>
                      <a:pPr indent="0" marL="0">
                        <a:buNone/>
                      </a:pPr>
                      <a:r>
                        <a:rPr lang="en-US" sz="1250" dirty="0">
                          <a:solidFill>
                            <a:srgbClr val="161A2C"/>
                          </a:solidFill>
                        </a:rPr>
                        <a:t>เกิน 50 หน้า ลด 10%</a:t>
                      </a:r>
                      <a:endParaRPr lang="en-US" sz="1250" dirty="0"/>
                    </a:p>
                  </a:txBody>
                  <a:tcPr marL="73152" marR="73152" marT="73152" marB="73152"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FCFCFA"/>
                    </a:solidFill>
                  </a:tcPr>
                </a:tc>
              </a:tr>
              <a:tr h="347472">
                <a:tc>
                  <a:txBody>
                    <a:bodyPr/>
                    <a:lstStyle/>
                    <a:p>
                      <a:pPr indent="0" marL="0">
                        <a:buNone/>
                      </a:pPr>
                      <a:r>
                        <a:rPr lang="en-US" sz="1250" dirty="0">
                          <a:solidFill>
                            <a:srgbClr val="161A2C"/>
                          </a:solidFill>
                        </a:rPr>
                        <a:t>ภาพถ่าย</a:t>
                      </a:r>
                      <a:endParaRPr lang="en-US" sz="1250" dirty="0"/>
                    </a:p>
                  </a:txBody>
                  <a:tcPr marL="73152" marR="73152" marT="73152" marB="73152"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FCFCFA"/>
                    </a:solidFill>
                  </a:tcPr>
                </a:tc>
                <a:tc>
                  <a:txBody>
                    <a:bodyPr/>
                    <a:lstStyle/>
                    <a:p>
                      <a:pPr indent="0" marL="0">
                        <a:buNone/>
                      </a:pPr>
                      <a:r>
                        <a:rPr lang="en-US" sz="1250" dirty="0">
                          <a:solidFill>
                            <a:srgbClr val="161A2C"/>
                          </a:solidFill>
                        </a:rPr>
                        <a:t>ราคา × จำนวนแผ่น</a:t>
                      </a:r>
                      <a:endParaRPr lang="en-US" sz="1250" dirty="0"/>
                    </a:p>
                  </a:txBody>
                  <a:tcPr marL="73152" marR="73152" marT="73152" marB="73152"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FCFCFA"/>
                    </a:solidFill>
                  </a:tcPr>
                </a:tc>
              </a:tr>
              <a:tr h="347472">
                <a:tc>
                  <a:txBody>
                    <a:bodyPr/>
                    <a:lstStyle/>
                    <a:p>
                      <a:pPr indent="0" marL="0">
                        <a:buNone/>
                      </a:pPr>
                      <a:r>
                        <a:rPr lang="en-US" sz="1250" dirty="0">
                          <a:solidFill>
                            <a:srgbClr val="161A2C"/>
                          </a:solidFill>
                        </a:rPr>
                        <a:t>งานเก็บเล่ม</a:t>
                      </a:r>
                      <a:endParaRPr lang="en-US" sz="1250" dirty="0"/>
                    </a:p>
                  </a:txBody>
                  <a:tcPr marL="73152" marR="73152" marT="73152" marB="73152"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FCFCFA"/>
                    </a:solidFill>
                  </a:tcPr>
                </a:tc>
                <a:tc>
                  <a:txBody>
                    <a:bodyPr/>
                    <a:lstStyle/>
                    <a:p>
                      <a:pPr indent="0" marL="0">
                        <a:buNone/>
                      </a:pPr>
                      <a:r>
                        <a:rPr lang="en-US" sz="1250" dirty="0">
                          <a:solidFill>
                            <a:srgbClr val="161A2C"/>
                          </a:solidFill>
                        </a:rPr>
                        <a:t>ราคา × จำนวนชุด</a:t>
                      </a:r>
                      <a:endParaRPr lang="en-US" sz="1250" dirty="0"/>
                    </a:p>
                  </a:txBody>
                  <a:tcPr marL="73152" marR="73152" marT="73152" marB="73152"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FCFCFA"/>
                    </a:solidFill>
                  </a:tcPr>
                </a:tc>
              </a:tr>
              <a:tr h="347472">
                <a:tc>
                  <a:txBody>
                    <a:bodyPr/>
                    <a:lstStyle/>
                    <a:p>
                      <a:pPr indent="0" marL="0">
                        <a:buNone/>
                      </a:pPr>
                      <a:r>
                        <a:rPr lang="en-US" sz="1250" dirty="0">
                          <a:solidFill>
                            <a:srgbClr val="161A2C"/>
                          </a:solidFill>
                        </a:rPr>
                        <a:t>ส่วนลด</a:t>
                      </a:r>
                      <a:endParaRPr lang="en-US" sz="1250" dirty="0"/>
                    </a:p>
                  </a:txBody>
                  <a:tcPr marL="73152" marR="73152" marT="73152" marB="73152"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FCFCFA"/>
                    </a:solidFill>
                  </a:tcPr>
                </a:tc>
                <a:tc>
                  <a:txBody>
                    <a:bodyPr/>
                    <a:lstStyle/>
                    <a:p>
                      <a:pPr indent="0" marL="0">
                        <a:buNone/>
                      </a:pPr>
                      <a:r>
                        <a:rPr lang="en-US" sz="1250" dirty="0">
                          <a:solidFill>
                            <a:srgbClr val="161A2C"/>
                          </a:solidFill>
                        </a:rPr>
                        <a:t>Percentage / FixedAmount</a:t>
                      </a:r>
                      <a:endParaRPr lang="en-US" sz="1250" dirty="0"/>
                    </a:p>
                  </a:txBody>
                  <a:tcPr marL="73152" marR="73152" marT="73152" marB="73152"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FCFCFA"/>
                    </a:solidFill>
                  </a:tcPr>
                </a:tc>
              </a:tr>
            </a:tbl>
          </a:graphicData>
        </a:graphic>
      </p:graphicFrame>
      <p:sp>
        <p:nvSpPr>
          <p:cNvPr id="6" name="example"/>
          <p:cNvSpPr/>
          <p:nvPr/>
        </p:nvSpPr>
        <p:spPr>
          <a:xfrm>
            <a:off x="5486400" y="1325880"/>
            <a:ext cx="3044952" cy="2103120"/>
          </a:xfrm>
          <a:prstGeom prst="rect">
            <a:avLst/>
          </a:prstGeom>
          <a:solidFill>
            <a:srgbClr val="FCFCFA"/>
          </a:solidFill>
          <a:ln w="9525">
            <a:solidFill>
              <a:srgbClr val="E2E0D8"/>
            </a:solidFill>
            <a:prstDash val="solid"/>
          </a:ln>
          <a:effectLst>
            <a:outerShdw sx="100000" sy="100000" kx="0" ky="0" algn="bl" rotWithShape="0" blurRad="127000" dist="38100" dir="5400000">
              <a:srgbClr val="161A2C">
                <a:alpha val="12000"/>
              </a:srgbClr>
            </a:outerShdw>
          </a:effectLst>
        </p:spPr>
      </p:sp>
      <p:sp>
        <p:nvSpPr>
          <p:cNvPr id="7" name="text-115"/>
          <p:cNvSpPr txBox="1"/>
          <p:nvPr/>
        </p:nvSpPr>
        <p:spPr>
          <a:xfrm>
            <a:off x="5687568" y="1463040"/>
            <a:ext cx="2679192" cy="274320"/>
          </a:xfrm>
          <a:prstGeom prst="rect">
            <a:avLst/>
          </a:prstGeom>
          <a:noFill/>
          <a:ln/>
        </p:spPr>
        <p:txBody>
          <a:bodyPr wrap="square" lIns="0" tIns="0" rIns="0" bIns="0" rtlCol="0" anchor="t"/>
          <a:lstStyle/>
          <a:p>
            <a:pPr indent="0" marL="0">
              <a:buNone/>
            </a:pPr>
            <a:r>
              <a:rPr lang="en-US" sz="1050" dirty="0">
                <a:solidFill>
                  <a:srgbClr val="4A4F5E"/>
                </a:solidFill>
              </a:rPr>
              <a:t>เอกสารสี 40 หน้า × 2 + เย็บมุม + SAVE10</a:t>
            </a:r>
            <a:endParaRPr lang="en-US" sz="1050" dirty="0"/>
          </a:p>
        </p:txBody>
      </p:sp>
      <p:sp>
        <p:nvSpPr>
          <p:cNvPr id="8" name="text-116"/>
          <p:cNvSpPr txBox="1"/>
          <p:nvPr/>
        </p:nvSpPr>
        <p:spPr>
          <a:xfrm>
            <a:off x="5687568" y="1801368"/>
            <a:ext cx="1645920" cy="256032"/>
          </a:xfrm>
          <a:prstGeom prst="rect">
            <a:avLst/>
          </a:prstGeom>
          <a:noFill/>
          <a:ln/>
        </p:spPr>
        <p:txBody>
          <a:bodyPr wrap="square" lIns="0" tIns="0" rIns="0" bIns="0" rtlCol="0" anchor="ctr"/>
          <a:lstStyle/>
          <a:p>
            <a:pPr indent="0" marL="0">
              <a:buNone/>
            </a:pPr>
            <a:r>
              <a:rPr lang="en-US" sz="1150" dirty="0">
                <a:solidFill>
                  <a:srgbClr val="161A2C"/>
                </a:solidFill>
                <a:latin typeface="Consolas" pitchFamily="34" charset="0"/>
                <a:ea typeface="Consolas" pitchFamily="34" charset="-122"/>
                <a:cs typeface="Leelawadee UI" pitchFamily="34" charset="-120"/>
              </a:rPr>
              <a:t>5.00 × 40 × 2</a:t>
            </a:r>
            <a:endParaRPr lang="en-US" sz="1150" dirty="0"/>
          </a:p>
        </p:txBody>
      </p:sp>
      <p:sp>
        <p:nvSpPr>
          <p:cNvPr id="9" name="text-117"/>
          <p:cNvSpPr txBox="1"/>
          <p:nvPr/>
        </p:nvSpPr>
        <p:spPr>
          <a:xfrm>
            <a:off x="7315200" y="1801368"/>
            <a:ext cx="1005840" cy="256032"/>
          </a:xfrm>
          <a:prstGeom prst="rect">
            <a:avLst/>
          </a:prstGeom>
          <a:noFill/>
          <a:ln/>
        </p:spPr>
        <p:txBody>
          <a:bodyPr wrap="square" lIns="0" tIns="0" rIns="0" bIns="0" rtlCol="0" anchor="ctr"/>
          <a:lstStyle/>
          <a:p>
            <a:pPr algn="r" indent="0" marL="0">
              <a:buNone/>
            </a:pPr>
            <a:r>
              <a:rPr lang="en-US" sz="1150" dirty="0">
                <a:solidFill>
                  <a:srgbClr val="161A2C"/>
                </a:solidFill>
                <a:latin typeface="Consolas" pitchFamily="34" charset="0"/>
                <a:ea typeface="Consolas" pitchFamily="34" charset="-122"/>
                <a:cs typeface="Leelawadee UI" pitchFamily="34" charset="-120"/>
              </a:rPr>
              <a:t>400.00</a:t>
            </a:r>
            <a:endParaRPr lang="en-US" sz="1150" dirty="0"/>
          </a:p>
        </p:txBody>
      </p:sp>
      <p:sp>
        <p:nvSpPr>
          <p:cNvPr id="10" name="text-118"/>
          <p:cNvSpPr txBox="1"/>
          <p:nvPr/>
        </p:nvSpPr>
        <p:spPr>
          <a:xfrm>
            <a:off x="5687568" y="2130552"/>
            <a:ext cx="1645920" cy="256032"/>
          </a:xfrm>
          <a:prstGeom prst="rect">
            <a:avLst/>
          </a:prstGeom>
          <a:noFill/>
          <a:ln/>
        </p:spPr>
        <p:txBody>
          <a:bodyPr wrap="square" lIns="0" tIns="0" rIns="0" bIns="0" rtlCol="0" anchor="ctr"/>
          <a:lstStyle/>
          <a:p>
            <a:pPr indent="0" marL="0">
              <a:buNone/>
            </a:pPr>
            <a:r>
              <a:rPr lang="en-US" sz="1150" dirty="0">
                <a:solidFill>
                  <a:srgbClr val="161A2C"/>
                </a:solidFill>
                <a:latin typeface="Consolas" pitchFamily="34" charset="0"/>
                <a:ea typeface="Consolas" pitchFamily="34" charset="-122"/>
                <a:cs typeface="Leelawadee UI" pitchFamily="34" charset="-120"/>
              </a:rPr>
              <a:t>2.00 × 2</a:t>
            </a:r>
            <a:endParaRPr lang="en-US" sz="1150" dirty="0"/>
          </a:p>
        </p:txBody>
      </p:sp>
      <p:sp>
        <p:nvSpPr>
          <p:cNvPr id="11" name="text-119"/>
          <p:cNvSpPr txBox="1"/>
          <p:nvPr/>
        </p:nvSpPr>
        <p:spPr>
          <a:xfrm>
            <a:off x="7315200" y="2130552"/>
            <a:ext cx="1005840" cy="256032"/>
          </a:xfrm>
          <a:prstGeom prst="rect">
            <a:avLst/>
          </a:prstGeom>
          <a:noFill/>
          <a:ln/>
        </p:spPr>
        <p:txBody>
          <a:bodyPr wrap="square" lIns="0" tIns="0" rIns="0" bIns="0" rtlCol="0" anchor="ctr"/>
          <a:lstStyle/>
          <a:p>
            <a:pPr algn="r" indent="0" marL="0">
              <a:buNone/>
            </a:pPr>
            <a:r>
              <a:rPr lang="en-US" sz="1150" dirty="0">
                <a:solidFill>
                  <a:srgbClr val="161A2C"/>
                </a:solidFill>
                <a:latin typeface="Consolas" pitchFamily="34" charset="0"/>
                <a:ea typeface="Consolas" pitchFamily="34" charset="-122"/>
                <a:cs typeface="Leelawadee UI" pitchFamily="34" charset="-120"/>
              </a:rPr>
              <a:t>4.00</a:t>
            </a:r>
            <a:endParaRPr lang="en-US" sz="1150" dirty="0"/>
          </a:p>
        </p:txBody>
      </p:sp>
      <p:sp>
        <p:nvSpPr>
          <p:cNvPr id="12" name="text-120"/>
          <p:cNvSpPr txBox="1"/>
          <p:nvPr/>
        </p:nvSpPr>
        <p:spPr>
          <a:xfrm>
            <a:off x="5687568" y="2459736"/>
            <a:ext cx="1645920" cy="256032"/>
          </a:xfrm>
          <a:prstGeom prst="rect">
            <a:avLst/>
          </a:prstGeom>
          <a:noFill/>
          <a:ln/>
        </p:spPr>
        <p:txBody>
          <a:bodyPr wrap="square" lIns="0" tIns="0" rIns="0" bIns="0" rtlCol="0" anchor="ctr"/>
          <a:lstStyle/>
          <a:p>
            <a:pPr indent="0" marL="0">
              <a:buNone/>
            </a:pPr>
            <a:r>
              <a:rPr lang="en-US" sz="1150" dirty="0">
                <a:solidFill>
                  <a:srgbClr val="C8235F"/>
                </a:solidFill>
              </a:rPr>
              <a:t>ลด 10%</a:t>
            </a:r>
            <a:endParaRPr lang="en-US" sz="1150" dirty="0"/>
          </a:p>
        </p:txBody>
      </p:sp>
      <p:sp>
        <p:nvSpPr>
          <p:cNvPr id="13" name="text-121"/>
          <p:cNvSpPr txBox="1"/>
          <p:nvPr/>
        </p:nvSpPr>
        <p:spPr>
          <a:xfrm>
            <a:off x="7315200" y="2459736"/>
            <a:ext cx="1005840" cy="256032"/>
          </a:xfrm>
          <a:prstGeom prst="rect">
            <a:avLst/>
          </a:prstGeom>
          <a:noFill/>
          <a:ln/>
        </p:spPr>
        <p:txBody>
          <a:bodyPr wrap="square" lIns="0" tIns="0" rIns="0" bIns="0" rtlCol="0" anchor="ctr"/>
          <a:lstStyle/>
          <a:p>
            <a:pPr algn="r" indent="0" marL="0">
              <a:buNone/>
            </a:pPr>
            <a:r>
              <a:rPr lang="en-US" sz="1150" dirty="0">
                <a:solidFill>
                  <a:srgbClr val="C8235F"/>
                </a:solidFill>
                <a:latin typeface="Consolas" pitchFamily="34" charset="0"/>
                <a:ea typeface="Consolas" pitchFamily="34" charset="-122"/>
                <a:cs typeface="Leelawadee UI" pitchFamily="34" charset="-120"/>
              </a:rPr>
              <a:t>−40.40</a:t>
            </a:r>
            <a:endParaRPr lang="en-US" sz="1150" dirty="0"/>
          </a:p>
        </p:txBody>
      </p:sp>
      <p:sp>
        <p:nvSpPr>
          <p:cNvPr id="14" name="example-rule-122"/>
          <p:cNvSpPr/>
          <p:nvPr/>
        </p:nvSpPr>
        <p:spPr>
          <a:xfrm>
            <a:off x="5687568" y="2807208"/>
            <a:ext cx="2642616" cy="22860"/>
          </a:xfrm>
          <a:prstGeom prst="rect">
            <a:avLst/>
          </a:prstGeom>
          <a:solidFill>
            <a:srgbClr val="161A2C"/>
          </a:solidFill>
          <a:ln w="12700">
            <a:solidFill>
              <a:srgbClr val="161A2C"/>
            </a:solidFill>
            <a:prstDash val="solid"/>
          </a:ln>
        </p:spPr>
      </p:sp>
      <p:sp>
        <p:nvSpPr>
          <p:cNvPr id="15" name="text-123"/>
          <p:cNvSpPr txBox="1"/>
          <p:nvPr/>
        </p:nvSpPr>
        <p:spPr>
          <a:xfrm>
            <a:off x="5687568" y="2898648"/>
            <a:ext cx="1097280" cy="411480"/>
          </a:xfrm>
          <a:prstGeom prst="rect">
            <a:avLst/>
          </a:prstGeom>
          <a:noFill/>
          <a:ln/>
        </p:spPr>
        <p:txBody>
          <a:bodyPr wrap="square" lIns="0" tIns="0" rIns="0" bIns="0" rtlCol="0" anchor="b"/>
          <a:lstStyle/>
          <a:p>
            <a:pPr indent="0" marL="0">
              <a:buNone/>
            </a:pPr>
            <a:r>
              <a:rPr lang="en-US" sz="1200" b="1" dirty="0">
                <a:solidFill>
                  <a:srgbClr val="161A2C"/>
                </a:solidFill>
              </a:rPr>
              <a:t>ยอดสุทธิ</a:t>
            </a:r>
            <a:endParaRPr lang="en-US" sz="1200" dirty="0"/>
          </a:p>
        </p:txBody>
      </p:sp>
      <p:sp>
        <p:nvSpPr>
          <p:cNvPr id="16" name="text-124"/>
          <p:cNvSpPr txBox="1"/>
          <p:nvPr/>
        </p:nvSpPr>
        <p:spPr>
          <a:xfrm>
            <a:off x="6675120" y="2862072"/>
            <a:ext cx="1645920" cy="457200"/>
          </a:xfrm>
          <a:prstGeom prst="rect">
            <a:avLst/>
          </a:prstGeom>
          <a:noFill/>
          <a:ln/>
        </p:spPr>
        <p:txBody>
          <a:bodyPr wrap="square" lIns="0" tIns="0" rIns="0" bIns="0" rtlCol="0" anchor="b"/>
          <a:lstStyle/>
          <a:p>
            <a:pPr algn="r" indent="0" marL="0">
              <a:buNone/>
            </a:pPr>
            <a:r>
              <a:rPr lang="en-US" sz="2600" b="1" dirty="0">
                <a:solidFill>
                  <a:srgbClr val="161A2C"/>
                </a:solidFill>
              </a:rPr>
              <a:t>363.60</a:t>
            </a:r>
            <a:endParaRPr lang="en-US" sz="2600" dirty="0"/>
          </a:p>
        </p:txBody>
      </p:sp>
      <p:sp>
        <p:nvSpPr>
          <p:cNvPr id="17" name="ocp-125"/>
          <p:cNvSpPr/>
          <p:nvPr/>
        </p:nvSpPr>
        <p:spPr>
          <a:xfrm>
            <a:off x="612648" y="3611880"/>
            <a:ext cx="7918704" cy="914400"/>
          </a:xfrm>
          <a:prstGeom prst="rect">
            <a:avLst/>
          </a:prstGeom>
          <a:solidFill>
            <a:srgbClr val="D6246E"/>
          </a:solidFill>
          <a:ln w="12700">
            <a:solidFill>
              <a:srgbClr val="D6246E"/>
            </a:solidFill>
            <a:prstDash val="solid"/>
          </a:ln>
        </p:spPr>
      </p:sp>
      <p:sp>
        <p:nvSpPr>
          <p:cNvPr id="18" name="text-126"/>
          <p:cNvSpPr txBox="1"/>
          <p:nvPr/>
        </p:nvSpPr>
        <p:spPr>
          <a:xfrm>
            <a:off x="886968" y="3703320"/>
            <a:ext cx="1828800" cy="274320"/>
          </a:xfrm>
          <a:prstGeom prst="rect">
            <a:avLst/>
          </a:prstGeom>
          <a:noFill/>
          <a:ln/>
        </p:spPr>
        <p:txBody>
          <a:bodyPr wrap="square" lIns="0" tIns="0" rIns="0" bIns="0" rtlCol="0" anchor="t"/>
          <a:lstStyle/>
          <a:p>
            <a:pPr indent="0" marL="0">
              <a:buNone/>
            </a:pPr>
            <a:r>
              <a:rPr lang="en-US" sz="1200" b="1" dirty="0">
                <a:solidFill>
                  <a:srgbClr val="FFE38A"/>
                </a:solidFill>
              </a:rPr>
              <a:t>Open/Closed</a:t>
            </a:r>
            <a:endParaRPr lang="en-US" sz="1200" dirty="0"/>
          </a:p>
        </p:txBody>
      </p:sp>
      <p:sp>
        <p:nvSpPr>
          <p:cNvPr id="19" name="text-127"/>
          <p:cNvSpPr txBox="1"/>
          <p:nvPr/>
        </p:nvSpPr>
        <p:spPr>
          <a:xfrm>
            <a:off x="886968" y="3977640"/>
            <a:ext cx="7370064" cy="457200"/>
          </a:xfrm>
          <a:prstGeom prst="rect">
            <a:avLst/>
          </a:prstGeom>
          <a:noFill/>
          <a:ln/>
        </p:spPr>
        <p:txBody>
          <a:bodyPr wrap="square" lIns="0" tIns="0" rIns="0" bIns="0" rtlCol="0" anchor="ctr"/>
          <a:lstStyle/>
          <a:p>
            <a:pPr indent="0" marL="0">
              <a:buNone/>
            </a:pPr>
            <a:r>
              <a:rPr lang="en-US" sz="1500" b="1" dirty="0">
                <a:solidFill>
                  <a:srgbClr val="FCFCFA"/>
                </a:solidFill>
              </a:rPr>
              <a:t>เพิ่มประเภทงานใหม่ = เพิ่มคลาส + ค่าใน enum ไม่แก้ Service หรือ Strategy เดิม</a:t>
            </a:r>
            <a:endParaRPr lang="en-US" sz="1500" dirty="0"/>
          </a:p>
        </p:txBody>
      </p:sp>
      <p:sp>
        <p:nvSpPr>
          <p:cNvPr id="25" name="Slide Number Placeholder 0"/>
          <p:cNvSpPr>
            <a:spLocks noGrp="1"/>
          </p:cNvSpPr>
          <p:nvPr>
            <p:ph type="sldNum" sz="quarter" idx="4294967295"/>
          </p:nvPr>
        </p:nvSpPr>
        <p:spPr>
          <a:xfrm>
            <a:off x="8074152"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6F7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p:nvPr>
            <p:ph idx="105" type="title" hasCustomPrompt="1"/>
          </p:nvPr>
        </p:nvSpPr>
        <p:spPr>
          <a:xfrm>
            <a:off x="612648" y="566928"/>
            <a:ext cx="6400800" cy="566928"/>
          </a:xfrm>
          <a:prstGeom prst="rect">
            <a:avLst/>
          </a:prstGeom>
          <a:noFill/>
          <a:ln/>
        </p:spPr>
        <p:txBody>
          <a:bodyPr wrap="square" lIns="0" tIns="0" rIns="0" bIns="0" rtlCol="0" anchor="ctr"/>
          <a:lstStyle/>
          <a:p>
            <a:pPr algn="l" indent="0" marL="0">
              <a:buNone/>
            </a:pPr>
            <a:r>
              <a:rPr lang="en-US" sz="2600" b="1" dirty="0">
                <a:solidFill>
                  <a:srgbClr val="161A2C"/>
                </a:solidFill>
              </a:rPr>
              <a:t>Chain of Responsibility: ตรวจ 5 ขั้น</a:t>
            </a:r>
            <a:endParaRPr lang="en-US" sz="2600" dirty="0"/>
          </a:p>
        </p:txBody>
      </p:sp>
      <p:sp>
        <p:nvSpPr>
          <p:cNvPr id="3" name="speaker-pill"/>
          <p:cNvSpPr/>
          <p:nvPr/>
        </p:nvSpPr>
        <p:spPr>
          <a:xfrm>
            <a:off x="7159752" y="329184"/>
            <a:ext cx="1371600" cy="292608"/>
          </a:xfrm>
          <a:prstGeom prst="roundRect">
            <a:avLst>
              <a:gd name="adj" fmla="val 50000"/>
            </a:avLst>
          </a:prstGeom>
          <a:solidFill>
            <a:srgbClr val="F2C200"/>
          </a:solidFill>
          <a:ln w="12700">
            <a:solidFill>
              <a:srgbClr val="F2C200"/>
            </a:solidFill>
            <a:prstDash val="solid"/>
          </a:ln>
        </p:spPr>
      </p:sp>
      <p:sp>
        <p:nvSpPr>
          <p:cNvPr id="4" name="speaker-label"/>
          <p:cNvSpPr txBox="1"/>
          <p:nvPr/>
        </p:nvSpPr>
        <p:spPr>
          <a:xfrm>
            <a:off x="7159752" y="329184"/>
            <a:ext cx="1371600" cy="292608"/>
          </a:xfrm>
          <a:prstGeom prst="rect">
            <a:avLst/>
          </a:prstGeom>
          <a:noFill/>
          <a:ln/>
        </p:spPr>
        <p:txBody>
          <a:bodyPr wrap="square" lIns="0" tIns="0" rIns="0" bIns="0" rtlCol="0" anchor="ctr"/>
          <a:lstStyle/>
          <a:p>
            <a:pPr algn="ctr" indent="0" marL="0">
              <a:buNone/>
            </a:pPr>
            <a:r>
              <a:rPr lang="en-US" sz="1100" b="1" dirty="0">
                <a:solidFill>
                  <a:srgbClr val="161A2C"/>
                </a:solidFill>
              </a:rPr>
              <a:t>P3 รัชชานนท์</a:t>
            </a:r>
            <a:endParaRPr lang="en-US" sz="1100" dirty="0"/>
          </a:p>
        </p:txBody>
      </p:sp>
      <p:sp>
        <p:nvSpPr>
          <p:cNvPr id="5" name="card-129"/>
          <p:cNvSpPr/>
          <p:nvPr/>
        </p:nvSpPr>
        <p:spPr>
          <a:xfrm>
            <a:off x="612648" y="1325880"/>
            <a:ext cx="1417320" cy="1600200"/>
          </a:xfrm>
          <a:prstGeom prst="rect">
            <a:avLst/>
          </a:prstGeom>
          <a:solidFill>
            <a:srgbClr val="FCFCFA"/>
          </a:solidFill>
          <a:ln w="9525">
            <a:solidFill>
              <a:srgbClr val="E2E0D8"/>
            </a:solidFill>
            <a:prstDash val="solid"/>
          </a:ln>
        </p:spPr>
      </p:sp>
      <p:sp>
        <p:nvSpPr>
          <p:cNvPr id="6" name="card-accent-130"/>
          <p:cNvSpPr/>
          <p:nvPr/>
        </p:nvSpPr>
        <p:spPr>
          <a:xfrm>
            <a:off x="612648" y="1325880"/>
            <a:ext cx="1417320" cy="54864"/>
          </a:xfrm>
          <a:prstGeom prst="rect">
            <a:avLst/>
          </a:prstGeom>
          <a:solidFill>
            <a:srgbClr val="0A86C7"/>
          </a:solidFill>
          <a:ln w="12700">
            <a:solidFill>
              <a:srgbClr val="0A86C7"/>
            </a:solidFill>
            <a:prstDash val="solid"/>
          </a:ln>
        </p:spPr>
      </p:sp>
      <p:sp>
        <p:nvSpPr>
          <p:cNvPr id="7" name="text-131"/>
          <p:cNvSpPr txBox="1"/>
          <p:nvPr/>
        </p:nvSpPr>
        <p:spPr>
          <a:xfrm>
            <a:off x="777240" y="1481328"/>
            <a:ext cx="914400" cy="457200"/>
          </a:xfrm>
          <a:prstGeom prst="rect">
            <a:avLst/>
          </a:prstGeom>
          <a:noFill/>
          <a:ln/>
        </p:spPr>
        <p:txBody>
          <a:bodyPr wrap="square" lIns="0" tIns="0" rIns="0" bIns="0" rtlCol="0" anchor="t"/>
          <a:lstStyle/>
          <a:p>
            <a:pPr indent="0" marL="0">
              <a:buNone/>
            </a:pPr>
            <a:r>
              <a:rPr lang="en-US" sz="2800" b="1" dirty="0">
                <a:solidFill>
                  <a:srgbClr val="0A6FA6"/>
                </a:solidFill>
              </a:rPr>
              <a:t>1</a:t>
            </a:r>
            <a:endParaRPr lang="en-US" sz="2800" dirty="0"/>
          </a:p>
        </p:txBody>
      </p:sp>
      <p:sp>
        <p:nvSpPr>
          <p:cNvPr id="8" name="text-132"/>
          <p:cNvSpPr txBox="1"/>
          <p:nvPr/>
        </p:nvSpPr>
        <p:spPr>
          <a:xfrm>
            <a:off x="777240" y="1965960"/>
            <a:ext cx="1143000" cy="548640"/>
          </a:xfrm>
          <a:prstGeom prst="rect">
            <a:avLst/>
          </a:prstGeom>
          <a:noFill/>
          <a:ln/>
        </p:spPr>
        <p:txBody>
          <a:bodyPr wrap="square" lIns="0" tIns="0" rIns="0" bIns="0" rtlCol="0" anchor="t"/>
          <a:lstStyle/>
          <a:p>
            <a:pPr indent="0" marL="0">
              <a:buNone/>
            </a:pPr>
            <a:r>
              <a:rPr lang="en-US" sz="1250" dirty="0">
                <a:solidFill>
                  <a:srgbClr val="161A2C"/>
                </a:solidFill>
              </a:rPr>
              <a:t>บริการยังเปิดอยู่</a:t>
            </a:r>
            <a:endParaRPr lang="en-US" sz="1250" dirty="0"/>
          </a:p>
        </p:txBody>
      </p:sp>
      <p:sp>
        <p:nvSpPr>
          <p:cNvPr id="9" name="text-133"/>
          <p:cNvSpPr txBox="1"/>
          <p:nvPr/>
        </p:nvSpPr>
        <p:spPr>
          <a:xfrm>
            <a:off x="777240" y="2560320"/>
            <a:ext cx="1143000" cy="228600"/>
          </a:xfrm>
          <a:prstGeom prst="rect">
            <a:avLst/>
          </a:prstGeom>
          <a:noFill/>
          <a:ln/>
        </p:spPr>
        <p:txBody>
          <a:bodyPr wrap="square" lIns="0" tIns="0" rIns="0" bIns="0" rtlCol="0" anchor="t"/>
          <a:lstStyle/>
          <a:p>
            <a:pPr indent="0" marL="0">
              <a:buNone/>
            </a:pPr>
            <a:r>
              <a:rPr lang="en-US" sz="1000" dirty="0">
                <a:solidFill>
                  <a:srgbClr val="6B6F7B"/>
                </a:solidFill>
                <a:latin typeface="Consolas" pitchFamily="34" charset="0"/>
                <a:ea typeface="Consolas" pitchFamily="34" charset="-122"/>
                <a:cs typeface="Leelawadee UI" pitchFamily="34" charset="-120"/>
              </a:rPr>
              <a:t>Service</a:t>
            </a:r>
            <a:endParaRPr lang="en-US" sz="1000" dirty="0"/>
          </a:p>
        </p:txBody>
      </p:sp>
      <p:sp>
        <p:nvSpPr>
          <p:cNvPr id="10" name="chain-arrow-134"/>
          <p:cNvSpPr/>
          <p:nvPr/>
        </p:nvSpPr>
        <p:spPr>
          <a:xfrm>
            <a:off x="2048256" y="2121408"/>
            <a:ext cx="164592" cy="0"/>
          </a:xfrm>
          <a:prstGeom prst="line">
            <a:avLst/>
          </a:prstGeom>
          <a:noFill/>
          <a:ln w="15875">
            <a:solidFill>
              <a:srgbClr val="161A2C"/>
            </a:solidFill>
            <a:prstDash val="solid"/>
            <a:tailEnd type="triangle"/>
          </a:ln>
        </p:spPr>
      </p:sp>
      <p:sp>
        <p:nvSpPr>
          <p:cNvPr id="11" name="card-135"/>
          <p:cNvSpPr/>
          <p:nvPr/>
        </p:nvSpPr>
        <p:spPr>
          <a:xfrm>
            <a:off x="2231136" y="1325880"/>
            <a:ext cx="1417320" cy="1600200"/>
          </a:xfrm>
          <a:prstGeom prst="rect">
            <a:avLst/>
          </a:prstGeom>
          <a:solidFill>
            <a:srgbClr val="FCFCFA"/>
          </a:solidFill>
          <a:ln w="9525">
            <a:solidFill>
              <a:srgbClr val="E2E0D8"/>
            </a:solidFill>
            <a:prstDash val="solid"/>
          </a:ln>
        </p:spPr>
      </p:sp>
      <p:sp>
        <p:nvSpPr>
          <p:cNvPr id="12" name="card-accent-136"/>
          <p:cNvSpPr/>
          <p:nvPr/>
        </p:nvSpPr>
        <p:spPr>
          <a:xfrm>
            <a:off x="2231136" y="1325880"/>
            <a:ext cx="1417320" cy="54864"/>
          </a:xfrm>
          <a:prstGeom prst="rect">
            <a:avLst/>
          </a:prstGeom>
          <a:solidFill>
            <a:srgbClr val="D6246E"/>
          </a:solidFill>
          <a:ln w="12700">
            <a:solidFill>
              <a:srgbClr val="D6246E"/>
            </a:solidFill>
            <a:prstDash val="solid"/>
          </a:ln>
        </p:spPr>
      </p:sp>
      <p:sp>
        <p:nvSpPr>
          <p:cNvPr id="13" name="text-137"/>
          <p:cNvSpPr txBox="1"/>
          <p:nvPr/>
        </p:nvSpPr>
        <p:spPr>
          <a:xfrm>
            <a:off x="2395728" y="1481328"/>
            <a:ext cx="914400" cy="457200"/>
          </a:xfrm>
          <a:prstGeom prst="rect">
            <a:avLst/>
          </a:prstGeom>
          <a:noFill/>
          <a:ln/>
        </p:spPr>
        <p:txBody>
          <a:bodyPr wrap="square" lIns="0" tIns="0" rIns="0" bIns="0" rtlCol="0" anchor="t"/>
          <a:lstStyle/>
          <a:p>
            <a:pPr indent="0" marL="0">
              <a:buNone/>
            </a:pPr>
            <a:r>
              <a:rPr lang="en-US" sz="2800" b="1" dirty="0">
                <a:solidFill>
                  <a:srgbClr val="C8235F"/>
                </a:solidFill>
              </a:rPr>
              <a:t>2</a:t>
            </a:r>
            <a:endParaRPr lang="en-US" sz="2800" dirty="0"/>
          </a:p>
        </p:txBody>
      </p:sp>
      <p:sp>
        <p:nvSpPr>
          <p:cNvPr id="14" name="text-138"/>
          <p:cNvSpPr txBox="1"/>
          <p:nvPr/>
        </p:nvSpPr>
        <p:spPr>
          <a:xfrm>
            <a:off x="2395728" y="1965960"/>
            <a:ext cx="1143000" cy="548640"/>
          </a:xfrm>
          <a:prstGeom prst="rect">
            <a:avLst/>
          </a:prstGeom>
          <a:noFill/>
          <a:ln/>
        </p:spPr>
        <p:txBody>
          <a:bodyPr wrap="square" lIns="0" tIns="0" rIns="0" bIns="0" rtlCol="0" anchor="t"/>
          <a:lstStyle/>
          <a:p>
            <a:pPr indent="0" marL="0">
              <a:buNone/>
            </a:pPr>
            <a:r>
              <a:rPr lang="en-US" sz="1250" dirty="0">
                <a:solidFill>
                  <a:srgbClr val="161A2C"/>
                </a:solidFill>
              </a:rPr>
              <a:t>ไฟล์ PDF JPG PNG</a:t>
            </a:r>
            <a:endParaRPr lang="en-US" sz="1250" dirty="0"/>
          </a:p>
        </p:txBody>
      </p:sp>
      <p:sp>
        <p:nvSpPr>
          <p:cNvPr id="15" name="text-139"/>
          <p:cNvSpPr txBox="1"/>
          <p:nvPr/>
        </p:nvSpPr>
        <p:spPr>
          <a:xfrm>
            <a:off x="2395728" y="2560320"/>
            <a:ext cx="1143000" cy="228600"/>
          </a:xfrm>
          <a:prstGeom prst="rect">
            <a:avLst/>
          </a:prstGeom>
          <a:noFill/>
          <a:ln/>
        </p:spPr>
        <p:txBody>
          <a:bodyPr wrap="square" lIns="0" tIns="0" rIns="0" bIns="0" rtlCol="0" anchor="t"/>
          <a:lstStyle/>
          <a:p>
            <a:pPr indent="0" marL="0">
              <a:buNone/>
            </a:pPr>
            <a:r>
              <a:rPr lang="en-US" sz="1000" dirty="0">
                <a:solidFill>
                  <a:srgbClr val="6B6F7B"/>
                </a:solidFill>
                <a:latin typeface="Consolas" pitchFamily="34" charset="0"/>
                <a:ea typeface="Consolas" pitchFamily="34" charset="-122"/>
                <a:cs typeface="Leelawadee UI" pitchFamily="34" charset="-120"/>
              </a:rPr>
              <a:t>FileType</a:t>
            </a:r>
            <a:endParaRPr lang="en-US" sz="1000" dirty="0"/>
          </a:p>
        </p:txBody>
      </p:sp>
      <p:sp>
        <p:nvSpPr>
          <p:cNvPr id="16" name="chain-arrow-140"/>
          <p:cNvSpPr/>
          <p:nvPr/>
        </p:nvSpPr>
        <p:spPr>
          <a:xfrm>
            <a:off x="3666744" y="2121408"/>
            <a:ext cx="164592" cy="0"/>
          </a:xfrm>
          <a:prstGeom prst="line">
            <a:avLst/>
          </a:prstGeom>
          <a:noFill/>
          <a:ln w="15875">
            <a:solidFill>
              <a:srgbClr val="161A2C"/>
            </a:solidFill>
            <a:prstDash val="solid"/>
            <a:tailEnd type="triangle"/>
          </a:ln>
        </p:spPr>
      </p:sp>
      <p:sp>
        <p:nvSpPr>
          <p:cNvPr id="17" name="card-141"/>
          <p:cNvSpPr/>
          <p:nvPr/>
        </p:nvSpPr>
        <p:spPr>
          <a:xfrm>
            <a:off x="3849624" y="1325880"/>
            <a:ext cx="1417320" cy="1600200"/>
          </a:xfrm>
          <a:prstGeom prst="rect">
            <a:avLst/>
          </a:prstGeom>
          <a:solidFill>
            <a:srgbClr val="FCFCFA"/>
          </a:solidFill>
          <a:ln w="9525">
            <a:solidFill>
              <a:srgbClr val="E2E0D8"/>
            </a:solidFill>
            <a:prstDash val="solid"/>
          </a:ln>
        </p:spPr>
      </p:sp>
      <p:sp>
        <p:nvSpPr>
          <p:cNvPr id="18" name="card-accent-142"/>
          <p:cNvSpPr/>
          <p:nvPr/>
        </p:nvSpPr>
        <p:spPr>
          <a:xfrm>
            <a:off x="3849624" y="1325880"/>
            <a:ext cx="1417320" cy="54864"/>
          </a:xfrm>
          <a:prstGeom prst="rect">
            <a:avLst/>
          </a:prstGeom>
          <a:solidFill>
            <a:srgbClr val="F2C200"/>
          </a:solidFill>
          <a:ln w="12700">
            <a:solidFill>
              <a:srgbClr val="F2C200"/>
            </a:solidFill>
            <a:prstDash val="solid"/>
          </a:ln>
        </p:spPr>
      </p:sp>
      <p:sp>
        <p:nvSpPr>
          <p:cNvPr id="19" name="text-143"/>
          <p:cNvSpPr txBox="1"/>
          <p:nvPr/>
        </p:nvSpPr>
        <p:spPr>
          <a:xfrm>
            <a:off x="4014216" y="1481328"/>
            <a:ext cx="914400" cy="457200"/>
          </a:xfrm>
          <a:prstGeom prst="rect">
            <a:avLst/>
          </a:prstGeom>
          <a:noFill/>
          <a:ln/>
        </p:spPr>
        <p:txBody>
          <a:bodyPr wrap="square" lIns="0" tIns="0" rIns="0" bIns="0" rtlCol="0" anchor="t"/>
          <a:lstStyle/>
          <a:p>
            <a:pPr indent="0" marL="0">
              <a:buNone/>
            </a:pPr>
            <a:r>
              <a:rPr lang="en-US" sz="2800" b="1" dirty="0">
                <a:solidFill>
                  <a:srgbClr val="8A6D00"/>
                </a:solidFill>
              </a:rPr>
              <a:t>3</a:t>
            </a:r>
            <a:endParaRPr lang="en-US" sz="2800" dirty="0"/>
          </a:p>
        </p:txBody>
      </p:sp>
      <p:sp>
        <p:nvSpPr>
          <p:cNvPr id="20" name="text-144"/>
          <p:cNvSpPr txBox="1"/>
          <p:nvPr/>
        </p:nvSpPr>
        <p:spPr>
          <a:xfrm>
            <a:off x="4014216" y="1965960"/>
            <a:ext cx="1143000" cy="548640"/>
          </a:xfrm>
          <a:prstGeom prst="rect">
            <a:avLst/>
          </a:prstGeom>
          <a:noFill/>
          <a:ln/>
        </p:spPr>
        <p:txBody>
          <a:bodyPr wrap="square" lIns="0" tIns="0" rIns="0" bIns="0" rtlCol="0" anchor="t"/>
          <a:lstStyle/>
          <a:p>
            <a:pPr indent="0" marL="0">
              <a:buNone/>
            </a:pPr>
            <a:r>
              <a:rPr lang="en-US" sz="1250" dirty="0">
                <a:solidFill>
                  <a:srgbClr val="161A2C"/>
                </a:solidFill>
              </a:rPr>
              <a:t>หน้าและชุด มากกว่า 0</a:t>
            </a:r>
            <a:endParaRPr lang="en-US" sz="1250" dirty="0"/>
          </a:p>
        </p:txBody>
      </p:sp>
      <p:sp>
        <p:nvSpPr>
          <p:cNvPr id="21" name="text-145"/>
          <p:cNvSpPr txBox="1"/>
          <p:nvPr/>
        </p:nvSpPr>
        <p:spPr>
          <a:xfrm>
            <a:off x="4014216" y="2560320"/>
            <a:ext cx="1143000" cy="228600"/>
          </a:xfrm>
          <a:prstGeom prst="rect">
            <a:avLst/>
          </a:prstGeom>
          <a:noFill/>
          <a:ln/>
        </p:spPr>
        <p:txBody>
          <a:bodyPr wrap="square" lIns="0" tIns="0" rIns="0" bIns="0" rtlCol="0" anchor="t"/>
          <a:lstStyle/>
          <a:p>
            <a:pPr indent="0" marL="0">
              <a:buNone/>
            </a:pPr>
            <a:r>
              <a:rPr lang="en-US" sz="1000" dirty="0">
                <a:solidFill>
                  <a:srgbClr val="6B6F7B"/>
                </a:solidFill>
                <a:latin typeface="Consolas" pitchFamily="34" charset="0"/>
                <a:ea typeface="Consolas" pitchFamily="34" charset="-122"/>
                <a:cs typeface="Leelawadee UI" pitchFamily="34" charset="-120"/>
              </a:rPr>
              <a:t>Quantity</a:t>
            </a:r>
            <a:endParaRPr lang="en-US" sz="1000" dirty="0"/>
          </a:p>
        </p:txBody>
      </p:sp>
      <p:sp>
        <p:nvSpPr>
          <p:cNvPr id="22" name="chain-arrow-146"/>
          <p:cNvSpPr/>
          <p:nvPr/>
        </p:nvSpPr>
        <p:spPr>
          <a:xfrm>
            <a:off x="5285232" y="2121408"/>
            <a:ext cx="164592" cy="0"/>
          </a:xfrm>
          <a:prstGeom prst="line">
            <a:avLst/>
          </a:prstGeom>
          <a:noFill/>
          <a:ln w="15875">
            <a:solidFill>
              <a:srgbClr val="161A2C"/>
            </a:solidFill>
            <a:prstDash val="solid"/>
            <a:tailEnd type="triangle"/>
          </a:ln>
        </p:spPr>
      </p:sp>
      <p:sp>
        <p:nvSpPr>
          <p:cNvPr id="23" name="card-147"/>
          <p:cNvSpPr/>
          <p:nvPr/>
        </p:nvSpPr>
        <p:spPr>
          <a:xfrm>
            <a:off x="5468112" y="1325880"/>
            <a:ext cx="1417320" cy="1600200"/>
          </a:xfrm>
          <a:prstGeom prst="rect">
            <a:avLst/>
          </a:prstGeom>
          <a:solidFill>
            <a:srgbClr val="FCFCFA"/>
          </a:solidFill>
          <a:ln w="9525">
            <a:solidFill>
              <a:srgbClr val="E2E0D8"/>
            </a:solidFill>
            <a:prstDash val="solid"/>
          </a:ln>
        </p:spPr>
      </p:sp>
      <p:sp>
        <p:nvSpPr>
          <p:cNvPr id="24" name="card-accent-148"/>
          <p:cNvSpPr/>
          <p:nvPr/>
        </p:nvSpPr>
        <p:spPr>
          <a:xfrm>
            <a:off x="5468112" y="1325880"/>
            <a:ext cx="1417320" cy="54864"/>
          </a:xfrm>
          <a:prstGeom prst="rect">
            <a:avLst/>
          </a:prstGeom>
          <a:solidFill>
            <a:srgbClr val="161A2C"/>
          </a:solidFill>
          <a:ln w="12700">
            <a:solidFill>
              <a:srgbClr val="161A2C"/>
            </a:solidFill>
            <a:prstDash val="solid"/>
          </a:ln>
        </p:spPr>
      </p:sp>
      <p:sp>
        <p:nvSpPr>
          <p:cNvPr id="25" name="text-149"/>
          <p:cNvSpPr txBox="1"/>
          <p:nvPr/>
        </p:nvSpPr>
        <p:spPr>
          <a:xfrm>
            <a:off x="5632704" y="1481328"/>
            <a:ext cx="914400" cy="457200"/>
          </a:xfrm>
          <a:prstGeom prst="rect">
            <a:avLst/>
          </a:prstGeom>
          <a:noFill/>
          <a:ln/>
        </p:spPr>
        <p:txBody>
          <a:bodyPr wrap="square" lIns="0" tIns="0" rIns="0" bIns="0" rtlCol="0" anchor="t"/>
          <a:lstStyle/>
          <a:p>
            <a:pPr indent="0" marL="0">
              <a:buNone/>
            </a:pPr>
            <a:r>
              <a:rPr lang="en-US" sz="2800" b="1" dirty="0">
                <a:solidFill>
                  <a:srgbClr val="161A2C"/>
                </a:solidFill>
              </a:rPr>
              <a:t>4</a:t>
            </a:r>
            <a:endParaRPr lang="en-US" sz="2800" dirty="0"/>
          </a:p>
        </p:txBody>
      </p:sp>
      <p:sp>
        <p:nvSpPr>
          <p:cNvPr id="26" name="text-150"/>
          <p:cNvSpPr txBox="1"/>
          <p:nvPr/>
        </p:nvSpPr>
        <p:spPr>
          <a:xfrm>
            <a:off x="5632704" y="1965960"/>
            <a:ext cx="1143000" cy="548640"/>
          </a:xfrm>
          <a:prstGeom prst="rect">
            <a:avLst/>
          </a:prstGeom>
          <a:noFill/>
          <a:ln/>
        </p:spPr>
        <p:txBody>
          <a:bodyPr wrap="square" lIns="0" tIns="0" rIns="0" bIns="0" rtlCol="0" anchor="t"/>
          <a:lstStyle/>
          <a:p>
            <a:pPr indent="0" marL="0">
              <a:buNone/>
            </a:pPr>
            <a:r>
              <a:rPr lang="en-US" sz="1250" dirty="0">
                <a:solidFill>
                  <a:srgbClr val="161A2C"/>
                </a:solidFill>
              </a:rPr>
              <a:t>โค้ดยังไม่หมดอายุ</a:t>
            </a:r>
            <a:endParaRPr lang="en-US" sz="1250" dirty="0"/>
          </a:p>
        </p:txBody>
      </p:sp>
      <p:sp>
        <p:nvSpPr>
          <p:cNvPr id="27" name="text-151"/>
          <p:cNvSpPr txBox="1"/>
          <p:nvPr/>
        </p:nvSpPr>
        <p:spPr>
          <a:xfrm>
            <a:off x="5632704" y="2560320"/>
            <a:ext cx="1143000" cy="228600"/>
          </a:xfrm>
          <a:prstGeom prst="rect">
            <a:avLst/>
          </a:prstGeom>
          <a:noFill/>
          <a:ln/>
        </p:spPr>
        <p:txBody>
          <a:bodyPr wrap="square" lIns="0" tIns="0" rIns="0" bIns="0" rtlCol="0" anchor="t"/>
          <a:lstStyle/>
          <a:p>
            <a:pPr indent="0" marL="0">
              <a:buNone/>
            </a:pPr>
            <a:r>
              <a:rPr lang="en-US" sz="1000" dirty="0">
                <a:solidFill>
                  <a:srgbClr val="6B6F7B"/>
                </a:solidFill>
                <a:latin typeface="Consolas" pitchFamily="34" charset="0"/>
                <a:ea typeface="Consolas" pitchFamily="34" charset="-122"/>
                <a:cs typeface="Leelawadee UI" pitchFamily="34" charset="-120"/>
              </a:rPr>
              <a:t>Promotion</a:t>
            </a:r>
            <a:endParaRPr lang="en-US" sz="1000" dirty="0"/>
          </a:p>
        </p:txBody>
      </p:sp>
      <p:sp>
        <p:nvSpPr>
          <p:cNvPr id="28" name="chain-arrow-152"/>
          <p:cNvSpPr/>
          <p:nvPr/>
        </p:nvSpPr>
        <p:spPr>
          <a:xfrm>
            <a:off x="6903720" y="2121408"/>
            <a:ext cx="164592" cy="0"/>
          </a:xfrm>
          <a:prstGeom prst="line">
            <a:avLst/>
          </a:prstGeom>
          <a:noFill/>
          <a:ln w="15875">
            <a:solidFill>
              <a:srgbClr val="161A2C"/>
            </a:solidFill>
            <a:prstDash val="solid"/>
            <a:tailEnd type="triangle"/>
          </a:ln>
        </p:spPr>
      </p:sp>
      <p:sp>
        <p:nvSpPr>
          <p:cNvPr id="29" name="card-153"/>
          <p:cNvSpPr/>
          <p:nvPr/>
        </p:nvSpPr>
        <p:spPr>
          <a:xfrm>
            <a:off x="7086600" y="1325880"/>
            <a:ext cx="1417320" cy="1600200"/>
          </a:xfrm>
          <a:prstGeom prst="rect">
            <a:avLst/>
          </a:prstGeom>
          <a:solidFill>
            <a:srgbClr val="FCFCFA"/>
          </a:solidFill>
          <a:ln w="9525">
            <a:solidFill>
              <a:srgbClr val="E2E0D8"/>
            </a:solidFill>
            <a:prstDash val="solid"/>
          </a:ln>
        </p:spPr>
      </p:sp>
      <p:sp>
        <p:nvSpPr>
          <p:cNvPr id="30" name="card-accent-154"/>
          <p:cNvSpPr/>
          <p:nvPr/>
        </p:nvSpPr>
        <p:spPr>
          <a:xfrm>
            <a:off x="7086600" y="1325880"/>
            <a:ext cx="1417320" cy="54864"/>
          </a:xfrm>
          <a:prstGeom prst="rect">
            <a:avLst/>
          </a:prstGeom>
          <a:solidFill>
            <a:srgbClr val="8B8C8E"/>
          </a:solidFill>
          <a:ln w="12700">
            <a:solidFill>
              <a:srgbClr val="8B8C8E"/>
            </a:solidFill>
            <a:prstDash val="solid"/>
          </a:ln>
        </p:spPr>
      </p:sp>
      <p:sp>
        <p:nvSpPr>
          <p:cNvPr id="31" name="text-155"/>
          <p:cNvSpPr txBox="1"/>
          <p:nvPr/>
        </p:nvSpPr>
        <p:spPr>
          <a:xfrm>
            <a:off x="7251192" y="1481328"/>
            <a:ext cx="914400" cy="457200"/>
          </a:xfrm>
          <a:prstGeom prst="rect">
            <a:avLst/>
          </a:prstGeom>
          <a:noFill/>
          <a:ln/>
        </p:spPr>
        <p:txBody>
          <a:bodyPr wrap="square" lIns="0" tIns="0" rIns="0" bIns="0" rtlCol="0" anchor="t"/>
          <a:lstStyle/>
          <a:p>
            <a:pPr indent="0" marL="0">
              <a:buNone/>
            </a:pPr>
            <a:r>
              <a:rPr lang="en-US" sz="2800" b="1" dirty="0">
                <a:solidFill>
                  <a:srgbClr val="6B6F7B"/>
                </a:solidFill>
              </a:rPr>
              <a:t>5</a:t>
            </a:r>
            <a:endParaRPr lang="en-US" sz="2800" dirty="0"/>
          </a:p>
        </p:txBody>
      </p:sp>
      <p:sp>
        <p:nvSpPr>
          <p:cNvPr id="32" name="text-156"/>
          <p:cNvSpPr txBox="1"/>
          <p:nvPr/>
        </p:nvSpPr>
        <p:spPr>
          <a:xfrm>
            <a:off x="7251192" y="1965960"/>
            <a:ext cx="1143000" cy="548640"/>
          </a:xfrm>
          <a:prstGeom prst="rect">
            <a:avLst/>
          </a:prstGeom>
          <a:noFill/>
          <a:ln/>
        </p:spPr>
        <p:txBody>
          <a:bodyPr wrap="square" lIns="0" tIns="0" rIns="0" bIns="0" rtlCol="0" anchor="t"/>
          <a:lstStyle/>
          <a:p>
            <a:pPr indent="0" marL="0">
              <a:buNone/>
            </a:pPr>
            <a:r>
              <a:rPr lang="en-US" sz="1250" dirty="0">
                <a:solidFill>
                  <a:srgbClr val="161A2C"/>
                </a:solidFill>
              </a:rPr>
              <a:t>ไม่เกินสิทธิ์ต่อคน</a:t>
            </a:r>
            <a:endParaRPr lang="en-US" sz="1250" dirty="0"/>
          </a:p>
        </p:txBody>
      </p:sp>
      <p:sp>
        <p:nvSpPr>
          <p:cNvPr id="33" name="text-157"/>
          <p:cNvSpPr txBox="1"/>
          <p:nvPr/>
        </p:nvSpPr>
        <p:spPr>
          <a:xfrm>
            <a:off x="7251192" y="2560320"/>
            <a:ext cx="1143000" cy="228600"/>
          </a:xfrm>
          <a:prstGeom prst="rect">
            <a:avLst/>
          </a:prstGeom>
          <a:noFill/>
          <a:ln/>
        </p:spPr>
        <p:txBody>
          <a:bodyPr wrap="square" lIns="0" tIns="0" rIns="0" bIns="0" rtlCol="0" anchor="t"/>
          <a:lstStyle/>
          <a:p>
            <a:pPr indent="0" marL="0">
              <a:buNone/>
            </a:pPr>
            <a:r>
              <a:rPr lang="en-US" sz="1000" dirty="0">
                <a:solidFill>
                  <a:srgbClr val="6B6F7B"/>
                </a:solidFill>
                <a:latin typeface="Consolas" pitchFamily="34" charset="0"/>
                <a:ea typeface="Consolas" pitchFamily="34" charset="-122"/>
                <a:cs typeface="Leelawadee UI" pitchFamily="34" charset="-120"/>
              </a:rPr>
              <a:t>UsageLimit</a:t>
            </a:r>
            <a:endParaRPr lang="en-US" sz="1000" dirty="0"/>
          </a:p>
        </p:txBody>
      </p:sp>
      <p:sp>
        <p:nvSpPr>
          <p:cNvPr id="34" name="chain-note-158"/>
          <p:cNvSpPr/>
          <p:nvPr/>
        </p:nvSpPr>
        <p:spPr>
          <a:xfrm>
            <a:off x="612648" y="3200400"/>
            <a:ext cx="3867912" cy="1280160"/>
          </a:xfrm>
          <a:prstGeom prst="rect">
            <a:avLst/>
          </a:prstGeom>
          <a:solidFill>
            <a:srgbClr val="161A2C"/>
          </a:solidFill>
          <a:ln w="12700">
            <a:solidFill>
              <a:srgbClr val="161A2C"/>
            </a:solidFill>
            <a:prstDash val="solid"/>
          </a:ln>
        </p:spPr>
      </p:sp>
      <p:sp>
        <p:nvSpPr>
          <p:cNvPr id="35" name="text-159"/>
          <p:cNvSpPr txBox="1"/>
          <p:nvPr/>
        </p:nvSpPr>
        <p:spPr>
          <a:xfrm>
            <a:off x="886968" y="3383280"/>
            <a:ext cx="3383280" cy="365760"/>
          </a:xfrm>
          <a:prstGeom prst="rect">
            <a:avLst/>
          </a:prstGeom>
          <a:noFill/>
          <a:ln/>
        </p:spPr>
        <p:txBody>
          <a:bodyPr wrap="square" lIns="0" tIns="0" rIns="0" bIns="0" rtlCol="0" anchor="t"/>
          <a:lstStyle/>
          <a:p>
            <a:pPr indent="0" marL="0">
              <a:buNone/>
            </a:pPr>
            <a:r>
              <a:rPr lang="en-US" sz="1600" b="1" dirty="0">
                <a:solidFill>
                  <a:srgbClr val="F5F4EF"/>
                </a:solidFill>
              </a:rPr>
              <a:t>ไม่ผ่านขั้นไหน หยุดทันที</a:t>
            </a:r>
            <a:endParaRPr lang="en-US" sz="1600" dirty="0"/>
          </a:p>
        </p:txBody>
      </p:sp>
      <p:sp>
        <p:nvSpPr>
          <p:cNvPr id="36" name="text-160"/>
          <p:cNvSpPr txBox="1"/>
          <p:nvPr/>
        </p:nvSpPr>
        <p:spPr>
          <a:xfrm>
            <a:off x="886968" y="3794760"/>
            <a:ext cx="3383280" cy="548640"/>
          </a:xfrm>
          <a:prstGeom prst="rect">
            <a:avLst/>
          </a:prstGeom>
          <a:noFill/>
          <a:ln/>
        </p:spPr>
        <p:txBody>
          <a:bodyPr wrap="square" lIns="0" tIns="0" rIns="0" bIns="0" rtlCol="0" anchor="t"/>
          <a:lstStyle/>
          <a:p>
            <a:pPr indent="0" marL="0">
              <a:buNone/>
            </a:pPr>
            <a:r>
              <a:rPr lang="en-US" sz="1250" dirty="0">
                <a:solidFill>
                  <a:srgbClr val="B9BDCB"/>
                </a:solidFill>
              </a:rPr>
              <a:t>ตอบ 400 พร้อมเหตุผล ยังไม่มีอะไรลงฐานข้อมูล</a:t>
            </a:r>
            <a:endParaRPr lang="en-US" sz="1250" dirty="0"/>
          </a:p>
        </p:txBody>
      </p:sp>
      <p:sp>
        <p:nvSpPr>
          <p:cNvPr id="37" name="chain-note-161"/>
          <p:cNvSpPr/>
          <p:nvPr/>
        </p:nvSpPr>
        <p:spPr>
          <a:xfrm>
            <a:off x="4663440" y="3200400"/>
            <a:ext cx="3867912" cy="1280160"/>
          </a:xfrm>
          <a:prstGeom prst="rect">
            <a:avLst/>
          </a:prstGeom>
          <a:solidFill>
            <a:srgbClr val="161A2C"/>
          </a:solidFill>
          <a:ln w="12700">
            <a:solidFill>
              <a:srgbClr val="161A2C"/>
            </a:solidFill>
            <a:prstDash val="solid"/>
          </a:ln>
        </p:spPr>
      </p:sp>
      <p:sp>
        <p:nvSpPr>
          <p:cNvPr id="38" name="text-162"/>
          <p:cNvSpPr txBox="1"/>
          <p:nvPr/>
        </p:nvSpPr>
        <p:spPr>
          <a:xfrm>
            <a:off x="4937760" y="3383280"/>
            <a:ext cx="3383280" cy="365760"/>
          </a:xfrm>
          <a:prstGeom prst="rect">
            <a:avLst/>
          </a:prstGeom>
          <a:noFill/>
          <a:ln/>
        </p:spPr>
        <p:txBody>
          <a:bodyPr wrap="square" lIns="0" tIns="0" rIns="0" bIns="0" rtlCol="0" anchor="t"/>
          <a:lstStyle/>
          <a:p>
            <a:pPr indent="0" marL="0">
              <a:buNone/>
            </a:pPr>
            <a:r>
              <a:rPr lang="en-US" sz="1600" b="1" dirty="0">
                <a:solidFill>
                  <a:srgbClr val="F5F4EF"/>
                </a:solidFill>
              </a:rPr>
              <a:t>เพิ่มกฎใหม่ = เพิ่ม handler</a:t>
            </a:r>
            <a:endParaRPr lang="en-US" sz="1600" dirty="0"/>
          </a:p>
        </p:txBody>
      </p:sp>
      <p:sp>
        <p:nvSpPr>
          <p:cNvPr id="39" name="text-163"/>
          <p:cNvSpPr txBox="1"/>
          <p:nvPr/>
        </p:nvSpPr>
        <p:spPr>
          <a:xfrm>
            <a:off x="4937760" y="3794760"/>
            <a:ext cx="3383280" cy="548640"/>
          </a:xfrm>
          <a:prstGeom prst="rect">
            <a:avLst/>
          </a:prstGeom>
          <a:noFill/>
          <a:ln/>
        </p:spPr>
        <p:txBody>
          <a:bodyPr wrap="square" lIns="0" tIns="0" rIns="0" bIns="0" rtlCol="0" anchor="t"/>
          <a:lstStyle/>
          <a:p>
            <a:pPr indent="0" marL="0">
              <a:buNone/>
            </a:pPr>
            <a:r>
              <a:rPr lang="en-US" sz="1250" dirty="0">
                <a:solidFill>
                  <a:srgbClr val="B9BDCB"/>
                </a:solidFill>
              </a:rPr>
              <a:t>ต่อเข้าสายใน OrderValidationChainConfig</a:t>
            </a:r>
            <a:endParaRPr lang="en-US" sz="1250" dirty="0"/>
          </a:p>
        </p:txBody>
      </p:sp>
      <p:sp>
        <p:nvSpPr>
          <p:cNvPr id="25" name="Slide Number Placeholder 0"/>
          <p:cNvSpPr>
            <a:spLocks noGrp="1"/>
          </p:cNvSpPr>
          <p:nvPr>
            <p:ph type="sldNum" sz="quarter" idx="4294967295"/>
          </p:nvPr>
        </p:nvSpPr>
        <p:spPr>
          <a:xfrm>
            <a:off x="8074152"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6F7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p:nvPr>
            <p:ph idx="105" type="title" hasCustomPrompt="1"/>
          </p:nvPr>
        </p:nvSpPr>
        <p:spPr>
          <a:xfrm>
            <a:off x="612648" y="566928"/>
            <a:ext cx="6400800" cy="566928"/>
          </a:xfrm>
          <a:prstGeom prst="rect">
            <a:avLst/>
          </a:prstGeom>
          <a:noFill/>
          <a:ln/>
        </p:spPr>
        <p:txBody>
          <a:bodyPr wrap="square" lIns="0" tIns="0" rIns="0" bIns="0" rtlCol="0" anchor="ctr"/>
          <a:lstStyle/>
          <a:p>
            <a:pPr algn="l" indent="0" marL="0">
              <a:buNone/>
            </a:pPr>
            <a:r>
              <a:rPr lang="en-US" sz="2600" b="1" dirty="0">
                <a:solidFill>
                  <a:srgbClr val="161A2C"/>
                </a:solidFill>
              </a:rPr>
              <a:t>Order 1 ใบ มีหลาย Item</a:t>
            </a:r>
            <a:endParaRPr lang="en-US" sz="2600" dirty="0"/>
          </a:p>
        </p:txBody>
      </p:sp>
      <p:sp>
        <p:nvSpPr>
          <p:cNvPr id="3" name="speaker-pill"/>
          <p:cNvSpPr/>
          <p:nvPr/>
        </p:nvSpPr>
        <p:spPr>
          <a:xfrm>
            <a:off x="7159752" y="329184"/>
            <a:ext cx="1371600" cy="292608"/>
          </a:xfrm>
          <a:prstGeom prst="roundRect">
            <a:avLst>
              <a:gd name="adj" fmla="val 50000"/>
            </a:avLst>
          </a:prstGeom>
          <a:solidFill>
            <a:srgbClr val="F2C200"/>
          </a:solidFill>
          <a:ln w="12700">
            <a:solidFill>
              <a:srgbClr val="F2C200"/>
            </a:solidFill>
            <a:prstDash val="solid"/>
          </a:ln>
        </p:spPr>
      </p:sp>
      <p:sp>
        <p:nvSpPr>
          <p:cNvPr id="4" name="speaker-label"/>
          <p:cNvSpPr txBox="1"/>
          <p:nvPr/>
        </p:nvSpPr>
        <p:spPr>
          <a:xfrm>
            <a:off x="7159752" y="329184"/>
            <a:ext cx="1371600" cy="292608"/>
          </a:xfrm>
          <a:prstGeom prst="rect">
            <a:avLst/>
          </a:prstGeom>
          <a:noFill/>
          <a:ln/>
        </p:spPr>
        <p:txBody>
          <a:bodyPr wrap="square" lIns="0" tIns="0" rIns="0" bIns="0" rtlCol="0" anchor="ctr"/>
          <a:lstStyle/>
          <a:p>
            <a:pPr algn="ctr" indent="0" marL="0">
              <a:buNone/>
            </a:pPr>
            <a:r>
              <a:rPr lang="en-US" sz="1100" b="1" dirty="0">
                <a:solidFill>
                  <a:srgbClr val="161A2C"/>
                </a:solidFill>
              </a:rPr>
              <a:t>P3 รัชชานนท์</a:t>
            </a:r>
            <a:endParaRPr lang="en-US" sz="1100" dirty="0"/>
          </a:p>
        </p:txBody>
      </p:sp>
      <p:sp>
        <p:nvSpPr>
          <p:cNvPr id="5" name="code-165"/>
          <p:cNvSpPr/>
          <p:nvPr/>
        </p:nvSpPr>
        <p:spPr>
          <a:xfrm>
            <a:off x="612648" y="1325880"/>
            <a:ext cx="4297680" cy="1197864"/>
          </a:xfrm>
          <a:prstGeom prst="rect">
            <a:avLst/>
          </a:prstGeom>
          <a:solidFill>
            <a:srgbClr val="161A2C"/>
          </a:solidFill>
          <a:ln w="12700">
            <a:solidFill>
              <a:srgbClr val="161A2C"/>
            </a:solidFill>
            <a:prstDash val="solid"/>
          </a:ln>
        </p:spPr>
      </p:sp>
      <p:sp>
        <p:nvSpPr>
          <p:cNvPr id="6" name="text-166"/>
          <p:cNvSpPr txBox="1"/>
          <p:nvPr/>
        </p:nvSpPr>
        <p:spPr>
          <a:xfrm>
            <a:off x="795528" y="1435608"/>
            <a:ext cx="3931920" cy="228600"/>
          </a:xfrm>
          <a:prstGeom prst="rect">
            <a:avLst/>
          </a:prstGeom>
          <a:noFill/>
          <a:ln/>
        </p:spPr>
        <p:txBody>
          <a:bodyPr wrap="square" lIns="0" tIns="0" rIns="0" bIns="0" rtlCol="0" anchor="t"/>
          <a:lstStyle/>
          <a:p>
            <a:pPr indent="0" marL="0">
              <a:buNone/>
            </a:pPr>
            <a:r>
              <a:rPr lang="en-US" sz="1050" b="1" dirty="0">
                <a:solidFill>
                  <a:srgbClr val="F2C200"/>
                </a:solidFill>
              </a:rPr>
              <a:t>PrintOrder.java · ฝั่ง inverse</a:t>
            </a:r>
            <a:endParaRPr lang="en-US" sz="1050" dirty="0"/>
          </a:p>
        </p:txBody>
      </p:sp>
      <p:sp>
        <p:nvSpPr>
          <p:cNvPr id="7" name="text-167"/>
          <p:cNvSpPr txBox="1"/>
          <p:nvPr/>
        </p:nvSpPr>
        <p:spPr>
          <a:xfrm>
            <a:off x="795528" y="1691640"/>
            <a:ext cx="3931920" cy="740664"/>
          </a:xfrm>
          <a:prstGeom prst="rect">
            <a:avLst/>
          </a:prstGeom>
          <a:noFill/>
          <a:ln/>
        </p:spPr>
        <p:txBody>
          <a:bodyPr wrap="square" lIns="0" tIns="0" rIns="0" bIns="0" rtlCol="0" anchor="t"/>
          <a:lstStyle/>
          <a:p>
            <a:pPr indent="0" marL="0">
              <a:lnSpc>
                <a:spcPct val="105000"/>
              </a:lnSpc>
              <a:buNone/>
            </a:pPr>
            <a:r>
              <a:rPr lang="en-US" sz="1150" dirty="0">
                <a:solidFill>
                  <a:srgbClr val="8FD3F5"/>
                </a:solidFill>
                <a:latin typeface="Consolas" pitchFamily="34" charset="0"/>
                <a:ea typeface="Consolas" pitchFamily="34" charset="-122"/>
                <a:cs typeface="Leelawadee UI" pitchFamily="34" charset="-120"/>
              </a:rPr>
              <a:t>@OneToMany(mappedBy = "order",</a:t>
            </a:r>
            <a:endParaRPr lang="en-US" sz="1150" dirty="0"/>
          </a:p>
          <a:p>
            <a:pPr indent="0" marL="0">
              <a:lnSpc>
                <a:spcPct val="105000"/>
              </a:lnSpc>
              <a:buNone/>
            </a:pPr>
            <a:r>
              <a:rPr lang="en-US" sz="1150" dirty="0">
                <a:solidFill>
                  <a:srgbClr val="8FD3F5"/>
                </a:solidFill>
                <a:latin typeface="Consolas" pitchFamily="34" charset="0"/>
                <a:ea typeface="Consolas" pitchFamily="34" charset="-122"/>
                <a:cs typeface="Leelawadee UI" pitchFamily="34" charset="-120"/>
              </a:rPr>
              <a:t>           fetch = FetchType.LAZY)</a:t>
            </a:r>
            <a:endParaRPr lang="en-US" sz="1150" dirty="0"/>
          </a:p>
          <a:p>
            <a:pPr indent="0" marL="0">
              <a:lnSpc>
                <a:spcPct val="105000"/>
              </a:lnSpc>
              <a:buNone/>
            </a:pPr>
            <a:r>
              <a:rPr lang="en-US" sz="1150" dirty="0">
                <a:solidFill>
                  <a:srgbClr val="D9DBE3"/>
                </a:solidFill>
                <a:latin typeface="Consolas" pitchFamily="34" charset="0"/>
                <a:ea typeface="Consolas" pitchFamily="34" charset="-122"/>
                <a:cs typeface="Leelawadee UI" pitchFamily="34" charset="-120"/>
              </a:rPr>
              <a:t>private List&lt;PrintItem&gt; items;</a:t>
            </a:r>
            <a:endParaRPr lang="en-US" sz="1150" dirty="0"/>
          </a:p>
        </p:txBody>
      </p:sp>
      <p:sp>
        <p:nvSpPr>
          <p:cNvPr id="8" name="code-168"/>
          <p:cNvSpPr/>
          <p:nvPr/>
        </p:nvSpPr>
        <p:spPr>
          <a:xfrm>
            <a:off x="612648" y="2706624"/>
            <a:ext cx="4297680" cy="1197864"/>
          </a:xfrm>
          <a:prstGeom prst="rect">
            <a:avLst/>
          </a:prstGeom>
          <a:solidFill>
            <a:srgbClr val="161A2C"/>
          </a:solidFill>
          <a:ln w="12700">
            <a:solidFill>
              <a:srgbClr val="161A2C"/>
            </a:solidFill>
            <a:prstDash val="solid"/>
          </a:ln>
        </p:spPr>
      </p:sp>
      <p:sp>
        <p:nvSpPr>
          <p:cNvPr id="9" name="text-169"/>
          <p:cNvSpPr txBox="1"/>
          <p:nvPr/>
        </p:nvSpPr>
        <p:spPr>
          <a:xfrm>
            <a:off x="795528" y="2816352"/>
            <a:ext cx="3931920" cy="228600"/>
          </a:xfrm>
          <a:prstGeom prst="rect">
            <a:avLst/>
          </a:prstGeom>
          <a:noFill/>
          <a:ln/>
        </p:spPr>
        <p:txBody>
          <a:bodyPr wrap="square" lIns="0" tIns="0" rIns="0" bIns="0" rtlCol="0" anchor="t"/>
          <a:lstStyle/>
          <a:p>
            <a:pPr indent="0" marL="0">
              <a:buNone/>
            </a:pPr>
            <a:r>
              <a:rPr lang="en-US" sz="1050" b="1" dirty="0">
                <a:solidFill>
                  <a:srgbClr val="F2C200"/>
                </a:solidFill>
              </a:rPr>
              <a:t>PrintItem.java · ฝั่งเจ้าของ FK</a:t>
            </a:r>
            <a:endParaRPr lang="en-US" sz="1050" dirty="0"/>
          </a:p>
        </p:txBody>
      </p:sp>
      <p:sp>
        <p:nvSpPr>
          <p:cNvPr id="10" name="text-170"/>
          <p:cNvSpPr txBox="1"/>
          <p:nvPr/>
        </p:nvSpPr>
        <p:spPr>
          <a:xfrm>
            <a:off x="795528" y="3072384"/>
            <a:ext cx="3931920" cy="740664"/>
          </a:xfrm>
          <a:prstGeom prst="rect">
            <a:avLst/>
          </a:prstGeom>
          <a:noFill/>
          <a:ln/>
        </p:spPr>
        <p:txBody>
          <a:bodyPr wrap="square" lIns="0" tIns="0" rIns="0" bIns="0" rtlCol="0" anchor="t"/>
          <a:lstStyle/>
          <a:p>
            <a:pPr indent="0" marL="0">
              <a:lnSpc>
                <a:spcPct val="105000"/>
              </a:lnSpc>
              <a:buNone/>
            </a:pPr>
            <a:r>
              <a:rPr lang="en-US" sz="1150" dirty="0">
                <a:solidFill>
                  <a:srgbClr val="8FD3F5"/>
                </a:solidFill>
                <a:latin typeface="Consolas" pitchFamily="34" charset="0"/>
                <a:ea typeface="Consolas" pitchFamily="34" charset="-122"/>
                <a:cs typeface="Leelawadee UI" pitchFamily="34" charset="-120"/>
              </a:rPr>
              <a:t>@ManyToOne(fetch = FetchType.LAZY)</a:t>
            </a:r>
            <a:endParaRPr lang="en-US" sz="1150" dirty="0"/>
          </a:p>
          <a:p>
            <a:pPr indent="0" marL="0">
              <a:lnSpc>
                <a:spcPct val="105000"/>
              </a:lnSpc>
              <a:buNone/>
            </a:pPr>
            <a:r>
              <a:rPr lang="en-US" sz="1150" dirty="0">
                <a:solidFill>
                  <a:srgbClr val="8FD3F5"/>
                </a:solidFill>
                <a:latin typeface="Consolas" pitchFamily="34" charset="0"/>
                <a:ea typeface="Consolas" pitchFamily="34" charset="-122"/>
                <a:cs typeface="Leelawadee UI" pitchFamily="34" charset="-120"/>
              </a:rPr>
              <a:t>@JoinColumn(name = "order_id")</a:t>
            </a:r>
            <a:endParaRPr lang="en-US" sz="1150" dirty="0"/>
          </a:p>
          <a:p>
            <a:pPr indent="0" marL="0">
              <a:lnSpc>
                <a:spcPct val="105000"/>
              </a:lnSpc>
              <a:buNone/>
            </a:pPr>
            <a:r>
              <a:rPr lang="en-US" sz="1150" dirty="0">
                <a:solidFill>
                  <a:srgbClr val="D9DBE3"/>
                </a:solidFill>
                <a:latin typeface="Consolas" pitchFamily="34" charset="0"/>
                <a:ea typeface="Consolas" pitchFamily="34" charset="-122"/>
                <a:cs typeface="Leelawadee UI" pitchFamily="34" charset="-120"/>
              </a:rPr>
              <a:t>private PrintOrder order;</a:t>
            </a:r>
            <a:endParaRPr lang="en-US" sz="1150" dirty="0"/>
          </a:p>
        </p:txBody>
      </p:sp>
      <p:sp>
        <p:nvSpPr>
          <p:cNvPr id="11" name="point-tab-171"/>
          <p:cNvSpPr/>
          <p:nvPr/>
        </p:nvSpPr>
        <p:spPr>
          <a:xfrm>
            <a:off x="5257800" y="1325880"/>
            <a:ext cx="54864" cy="658368"/>
          </a:xfrm>
          <a:prstGeom prst="rect">
            <a:avLst/>
          </a:prstGeom>
          <a:solidFill>
            <a:srgbClr val="0A86C7"/>
          </a:solidFill>
          <a:ln w="12700">
            <a:solidFill>
              <a:srgbClr val="0A86C7"/>
            </a:solidFill>
            <a:prstDash val="solid"/>
          </a:ln>
        </p:spPr>
      </p:sp>
      <p:sp>
        <p:nvSpPr>
          <p:cNvPr id="12" name="text-172"/>
          <p:cNvSpPr txBox="1"/>
          <p:nvPr/>
        </p:nvSpPr>
        <p:spPr>
          <a:xfrm>
            <a:off x="5486400" y="1344168"/>
            <a:ext cx="3017520" cy="292608"/>
          </a:xfrm>
          <a:prstGeom prst="rect">
            <a:avLst/>
          </a:prstGeom>
          <a:noFill/>
          <a:ln/>
        </p:spPr>
        <p:txBody>
          <a:bodyPr wrap="square" lIns="0" tIns="0" rIns="0" bIns="0" rtlCol="0" anchor="t"/>
          <a:lstStyle/>
          <a:p>
            <a:pPr indent="0" marL="0">
              <a:buNone/>
            </a:pPr>
            <a:r>
              <a:rPr lang="en-US" sz="1400" b="1" dirty="0">
                <a:solidFill>
                  <a:srgbClr val="161A2C"/>
                </a:solidFill>
              </a:rPr>
              <a:t>LAZY</a:t>
            </a:r>
            <a:endParaRPr lang="en-US" sz="1400" dirty="0"/>
          </a:p>
        </p:txBody>
      </p:sp>
      <p:sp>
        <p:nvSpPr>
          <p:cNvPr id="13" name="text-173"/>
          <p:cNvSpPr txBox="1"/>
          <p:nvPr/>
        </p:nvSpPr>
        <p:spPr>
          <a:xfrm>
            <a:off x="5486400" y="1673352"/>
            <a:ext cx="3017520" cy="274320"/>
          </a:xfrm>
          <a:prstGeom prst="rect">
            <a:avLst/>
          </a:prstGeom>
          <a:noFill/>
          <a:ln/>
        </p:spPr>
        <p:txBody>
          <a:bodyPr wrap="square" lIns="0" tIns="0" rIns="0" bIns="0" rtlCol="0" anchor="t"/>
          <a:lstStyle/>
          <a:p>
            <a:pPr indent="0" marL="0">
              <a:buNone/>
            </a:pPr>
            <a:r>
              <a:rPr lang="en-US" sz="1150" dirty="0">
                <a:solidFill>
                  <a:srgbClr val="4A4F5E"/>
                </a:solidFill>
              </a:rPr>
              <a:t>โหลด item เฉพาะตอนใช้</a:t>
            </a:r>
            <a:endParaRPr lang="en-US" sz="1150" dirty="0"/>
          </a:p>
        </p:txBody>
      </p:sp>
      <p:sp>
        <p:nvSpPr>
          <p:cNvPr id="14" name="point-tab-174"/>
          <p:cNvSpPr/>
          <p:nvPr/>
        </p:nvSpPr>
        <p:spPr>
          <a:xfrm>
            <a:off x="5257800" y="2139696"/>
            <a:ext cx="54864" cy="658368"/>
          </a:xfrm>
          <a:prstGeom prst="rect">
            <a:avLst/>
          </a:prstGeom>
          <a:solidFill>
            <a:srgbClr val="D6246E"/>
          </a:solidFill>
          <a:ln w="12700">
            <a:solidFill>
              <a:srgbClr val="D6246E"/>
            </a:solidFill>
            <a:prstDash val="solid"/>
          </a:ln>
        </p:spPr>
      </p:sp>
      <p:sp>
        <p:nvSpPr>
          <p:cNvPr id="15" name="text-175"/>
          <p:cNvSpPr txBox="1"/>
          <p:nvPr/>
        </p:nvSpPr>
        <p:spPr>
          <a:xfrm>
            <a:off x="5486400" y="2157984"/>
            <a:ext cx="3017520" cy="292608"/>
          </a:xfrm>
          <a:prstGeom prst="rect">
            <a:avLst/>
          </a:prstGeom>
          <a:noFill/>
          <a:ln/>
        </p:spPr>
        <p:txBody>
          <a:bodyPr wrap="square" lIns="0" tIns="0" rIns="0" bIns="0" rtlCol="0" anchor="t"/>
          <a:lstStyle/>
          <a:p>
            <a:pPr indent="0" marL="0">
              <a:buNone/>
            </a:pPr>
            <a:r>
              <a:rPr lang="en-US" sz="1400" b="1" dirty="0">
                <a:solidFill>
                  <a:srgbClr val="161A2C"/>
                </a:solidFill>
              </a:rPr>
              <a:t>ไม่ cascade ลบ</a:t>
            </a:r>
            <a:endParaRPr lang="en-US" sz="1400" dirty="0"/>
          </a:p>
        </p:txBody>
      </p:sp>
      <p:sp>
        <p:nvSpPr>
          <p:cNvPr id="16" name="text-176"/>
          <p:cNvSpPr txBox="1"/>
          <p:nvPr/>
        </p:nvSpPr>
        <p:spPr>
          <a:xfrm>
            <a:off x="5486400" y="2487168"/>
            <a:ext cx="3017520" cy="274320"/>
          </a:xfrm>
          <a:prstGeom prst="rect">
            <a:avLst/>
          </a:prstGeom>
          <a:noFill/>
          <a:ln/>
        </p:spPr>
        <p:txBody>
          <a:bodyPr wrap="square" lIns="0" tIns="0" rIns="0" bIns="0" rtlCol="0" anchor="t"/>
          <a:lstStyle/>
          <a:p>
            <a:pPr indent="0" marL="0">
              <a:buNone/>
            </a:pPr>
            <a:r>
              <a:rPr lang="en-US" sz="1150" dirty="0">
                <a:solidFill>
                  <a:srgbClr val="4A4F5E"/>
                </a:solidFill>
              </a:rPr>
              <a:t>order เป็นหลักฐานการเงิน</a:t>
            </a:r>
            <a:endParaRPr lang="en-US" sz="1150" dirty="0"/>
          </a:p>
        </p:txBody>
      </p:sp>
      <p:sp>
        <p:nvSpPr>
          <p:cNvPr id="17" name="point-tab-177"/>
          <p:cNvSpPr/>
          <p:nvPr/>
        </p:nvSpPr>
        <p:spPr>
          <a:xfrm>
            <a:off x="5257800" y="2953512"/>
            <a:ext cx="54864" cy="658368"/>
          </a:xfrm>
          <a:prstGeom prst="rect">
            <a:avLst/>
          </a:prstGeom>
          <a:solidFill>
            <a:srgbClr val="F2C200"/>
          </a:solidFill>
          <a:ln w="12700">
            <a:solidFill>
              <a:srgbClr val="F2C200"/>
            </a:solidFill>
            <a:prstDash val="solid"/>
          </a:ln>
        </p:spPr>
      </p:sp>
      <p:sp>
        <p:nvSpPr>
          <p:cNvPr id="18" name="text-178"/>
          <p:cNvSpPr txBox="1"/>
          <p:nvPr/>
        </p:nvSpPr>
        <p:spPr>
          <a:xfrm>
            <a:off x="5486400" y="2971800"/>
            <a:ext cx="3017520" cy="292608"/>
          </a:xfrm>
          <a:prstGeom prst="rect">
            <a:avLst/>
          </a:prstGeom>
          <a:noFill/>
          <a:ln/>
        </p:spPr>
        <p:txBody>
          <a:bodyPr wrap="square" lIns="0" tIns="0" rIns="0" bIns="0" rtlCol="0" anchor="t"/>
          <a:lstStyle/>
          <a:p>
            <a:pPr indent="0" marL="0">
              <a:buNone/>
            </a:pPr>
            <a:r>
              <a:rPr lang="en-US" sz="1400" b="1" dirty="0">
                <a:solidFill>
                  <a:srgbClr val="161A2C"/>
                </a:solidFill>
              </a:rPr>
              <a:t>POST ตอบ 201</a:t>
            </a:r>
            <a:endParaRPr lang="en-US" sz="1400" dirty="0"/>
          </a:p>
        </p:txBody>
      </p:sp>
      <p:sp>
        <p:nvSpPr>
          <p:cNvPr id="19" name="text-179"/>
          <p:cNvSpPr txBox="1"/>
          <p:nvPr/>
        </p:nvSpPr>
        <p:spPr>
          <a:xfrm>
            <a:off x="5486400" y="3300984"/>
            <a:ext cx="3017520" cy="274320"/>
          </a:xfrm>
          <a:prstGeom prst="rect">
            <a:avLst/>
          </a:prstGeom>
          <a:noFill/>
          <a:ln/>
        </p:spPr>
        <p:txBody>
          <a:bodyPr wrap="square" lIns="0" tIns="0" rIns="0" bIns="0" rtlCol="0" anchor="t"/>
          <a:lstStyle/>
          <a:p>
            <a:pPr indent="0" marL="0">
              <a:buNone/>
            </a:pPr>
            <a:r>
              <a:rPr lang="en-US" sz="1150" dirty="0">
                <a:solidFill>
                  <a:srgbClr val="4A4F5E"/>
                </a:solidFill>
              </a:rPr>
              <a:t>/api/v1/orders = 201 Created</a:t>
            </a:r>
            <a:endParaRPr lang="en-US" sz="1150" dirty="0"/>
          </a:p>
        </p:txBody>
      </p:sp>
      <p:sp>
        <p:nvSpPr>
          <p:cNvPr id="20" name="point-tab-180"/>
          <p:cNvSpPr/>
          <p:nvPr/>
        </p:nvSpPr>
        <p:spPr>
          <a:xfrm>
            <a:off x="5257800" y="3767328"/>
            <a:ext cx="54864" cy="658368"/>
          </a:xfrm>
          <a:prstGeom prst="rect">
            <a:avLst/>
          </a:prstGeom>
          <a:solidFill>
            <a:srgbClr val="161A2C"/>
          </a:solidFill>
          <a:ln w="12700">
            <a:solidFill>
              <a:srgbClr val="161A2C"/>
            </a:solidFill>
            <a:prstDash val="solid"/>
          </a:ln>
        </p:spPr>
      </p:sp>
      <p:sp>
        <p:nvSpPr>
          <p:cNvPr id="21" name="text-181"/>
          <p:cNvSpPr txBox="1"/>
          <p:nvPr/>
        </p:nvSpPr>
        <p:spPr>
          <a:xfrm>
            <a:off x="5486400" y="3785616"/>
            <a:ext cx="3017520" cy="292608"/>
          </a:xfrm>
          <a:prstGeom prst="rect">
            <a:avLst/>
          </a:prstGeom>
          <a:noFill/>
          <a:ln/>
        </p:spPr>
        <p:txBody>
          <a:bodyPr wrap="square" lIns="0" tIns="0" rIns="0" bIns="0" rtlCol="0" anchor="t"/>
          <a:lstStyle/>
          <a:p>
            <a:pPr indent="0" marL="0">
              <a:buNone/>
            </a:pPr>
            <a:r>
              <a:rPr lang="en-US" sz="1400" b="1" dirty="0">
                <a:solidFill>
                  <a:srgbClr val="161A2C"/>
                </a:solidFill>
              </a:rPr>
              <a:t>index 3 ตัว</a:t>
            </a:r>
            <a:endParaRPr lang="en-US" sz="1400" dirty="0"/>
          </a:p>
        </p:txBody>
      </p:sp>
      <p:sp>
        <p:nvSpPr>
          <p:cNvPr id="22" name="text-182"/>
          <p:cNvSpPr txBox="1"/>
          <p:nvPr/>
        </p:nvSpPr>
        <p:spPr>
          <a:xfrm>
            <a:off x="5486400" y="4114800"/>
            <a:ext cx="3017520" cy="274320"/>
          </a:xfrm>
          <a:prstGeom prst="rect">
            <a:avLst/>
          </a:prstGeom>
          <a:noFill/>
          <a:ln/>
        </p:spPr>
        <p:txBody>
          <a:bodyPr wrap="square" lIns="0" tIns="0" rIns="0" bIns="0" rtlCol="0" anchor="t"/>
          <a:lstStyle/>
          <a:p>
            <a:pPr indent="0" marL="0">
              <a:buNone/>
            </a:pPr>
            <a:r>
              <a:rPr lang="en-US" sz="1150" dirty="0">
                <a:solidFill>
                  <a:srgbClr val="4A4F5E"/>
                </a:solidFill>
              </a:rPr>
              <a:t>user_id, status, created_at</a:t>
            </a:r>
            <a:endParaRPr lang="en-US" sz="1150" dirty="0"/>
          </a:p>
        </p:txBody>
      </p:sp>
      <p:sp>
        <p:nvSpPr>
          <p:cNvPr id="25" name="Slide Number Placeholder 0"/>
          <p:cNvSpPr>
            <a:spLocks noGrp="1"/>
          </p:cNvSpPr>
          <p:nvPr>
            <p:ph type="sldNum" sz="quarter" idx="4294967295"/>
          </p:nvPr>
        </p:nvSpPr>
        <p:spPr>
          <a:xfrm>
            <a:off x="8074152"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6F7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p:nvPr>
            <p:ph idx="105" type="title" hasCustomPrompt="1"/>
          </p:nvPr>
        </p:nvSpPr>
        <p:spPr>
          <a:xfrm>
            <a:off x="612648" y="566928"/>
            <a:ext cx="6400800" cy="566928"/>
          </a:xfrm>
          <a:prstGeom prst="rect">
            <a:avLst/>
          </a:prstGeom>
          <a:noFill/>
          <a:ln/>
        </p:spPr>
        <p:txBody>
          <a:bodyPr wrap="square" lIns="0" tIns="0" rIns="0" bIns="0" rtlCol="0" anchor="ctr"/>
          <a:lstStyle/>
          <a:p>
            <a:pPr algn="l" indent="0" marL="0">
              <a:buNone/>
            </a:pPr>
            <a:r>
              <a:rPr lang="en-US" sz="2600" b="1" dirty="0">
                <a:solidFill>
                  <a:srgbClr val="161A2C"/>
                </a:solidFill>
              </a:rPr>
              <a:t>State: แต่ละสถานะรู้กฎของตัวเอง</a:t>
            </a:r>
            <a:endParaRPr lang="en-US" sz="2600" dirty="0"/>
          </a:p>
        </p:txBody>
      </p:sp>
      <p:sp>
        <p:nvSpPr>
          <p:cNvPr id="3" name="speaker-pill"/>
          <p:cNvSpPr/>
          <p:nvPr/>
        </p:nvSpPr>
        <p:spPr>
          <a:xfrm>
            <a:off x="7159752" y="329184"/>
            <a:ext cx="1371600" cy="292608"/>
          </a:xfrm>
          <a:prstGeom prst="roundRect">
            <a:avLst>
              <a:gd name="adj" fmla="val 50000"/>
            </a:avLst>
          </a:prstGeom>
          <a:solidFill>
            <a:srgbClr val="0A6FA6"/>
          </a:solidFill>
          <a:ln w="12700">
            <a:solidFill>
              <a:srgbClr val="0A6FA6"/>
            </a:solidFill>
            <a:prstDash val="solid"/>
          </a:ln>
        </p:spPr>
      </p:sp>
      <p:sp>
        <p:nvSpPr>
          <p:cNvPr id="4" name="speaker-label"/>
          <p:cNvSpPr txBox="1"/>
          <p:nvPr/>
        </p:nvSpPr>
        <p:spPr>
          <a:xfrm>
            <a:off x="7159752" y="329184"/>
            <a:ext cx="1371600" cy="292608"/>
          </a:xfrm>
          <a:prstGeom prst="rect">
            <a:avLst/>
          </a:prstGeom>
          <a:noFill/>
          <a:ln/>
        </p:spPr>
        <p:txBody>
          <a:bodyPr wrap="square" lIns="0" tIns="0" rIns="0" bIns="0" rtlCol="0" anchor="ctr"/>
          <a:lstStyle/>
          <a:p>
            <a:pPr algn="ctr" indent="0" marL="0">
              <a:buNone/>
            </a:pPr>
            <a:r>
              <a:rPr lang="en-US" sz="1100" b="1" dirty="0">
                <a:solidFill>
                  <a:srgbClr val="FCFCFA"/>
                </a:solidFill>
              </a:rPr>
              <a:t>P4 อาณัฐ</a:t>
            </a:r>
            <a:endParaRPr lang="en-US" sz="1100" dirty="0"/>
          </a:p>
        </p:txBody>
      </p:sp>
      <p:sp>
        <p:nvSpPr>
          <p:cNvPr id="5" name="card-184"/>
          <p:cNvSpPr/>
          <p:nvPr/>
        </p:nvSpPr>
        <p:spPr>
          <a:xfrm>
            <a:off x="612648" y="1325880"/>
            <a:ext cx="4572000" cy="1691640"/>
          </a:xfrm>
          <a:prstGeom prst="rect">
            <a:avLst/>
          </a:prstGeom>
          <a:solidFill>
            <a:srgbClr val="FCFCFA"/>
          </a:solidFill>
          <a:ln w="9525">
            <a:solidFill>
              <a:srgbClr val="E2E0D8"/>
            </a:solidFill>
            <a:prstDash val="solid"/>
          </a:ln>
        </p:spPr>
      </p:sp>
      <p:pic>
        <p:nvPicPr>
          <p:cNvPr id="6" name="tracking-shot" descr="หน้าติดตามสถานะงานของลูกค้า">    </p:cNvPr>
          <p:cNvPicPr>
            <a:picLocks noChangeAspect="1"/>
          </p:cNvPicPr>
          <p:nvPr/>
        </p:nvPicPr>
        <p:blipFill>
          <a:blip r:embed="rId1"/>
          <a:stretch>
            <a:fillRect/>
          </a:stretch>
        </p:blipFill>
        <p:spPr>
          <a:xfrm>
            <a:off x="685800" y="1442830"/>
            <a:ext cx="4425696" cy="1457739"/>
          </a:xfrm>
          <a:prstGeom prst="rect">
            <a:avLst/>
          </a:prstGeom>
        </p:spPr>
      </p:pic>
      <p:sp>
        <p:nvSpPr>
          <p:cNvPr id="7" name="status-185"/>
          <p:cNvSpPr/>
          <p:nvPr/>
        </p:nvSpPr>
        <p:spPr>
          <a:xfrm>
            <a:off x="612648" y="3200400"/>
            <a:ext cx="1444752" cy="347472"/>
          </a:xfrm>
          <a:prstGeom prst="roundRect">
            <a:avLst>
              <a:gd name="adj" fmla="val 50000"/>
            </a:avLst>
          </a:prstGeom>
          <a:solidFill>
            <a:srgbClr val="F2C200"/>
          </a:solidFill>
          <a:ln w="12700">
            <a:solidFill>
              <a:srgbClr val="F2C200"/>
            </a:solidFill>
            <a:prstDash val="solid"/>
          </a:ln>
        </p:spPr>
      </p:sp>
      <p:sp>
        <p:nvSpPr>
          <p:cNvPr id="8" name="text-186"/>
          <p:cNvSpPr txBox="1"/>
          <p:nvPr/>
        </p:nvSpPr>
        <p:spPr>
          <a:xfrm>
            <a:off x="612648" y="3200400"/>
            <a:ext cx="1444752" cy="347472"/>
          </a:xfrm>
          <a:prstGeom prst="rect">
            <a:avLst/>
          </a:prstGeom>
          <a:noFill/>
          <a:ln/>
        </p:spPr>
        <p:txBody>
          <a:bodyPr wrap="square" lIns="0" tIns="0" rIns="0" bIns="0" rtlCol="0" anchor="ctr"/>
          <a:lstStyle/>
          <a:p>
            <a:pPr algn="ctr" indent="0" marL="0">
              <a:buNone/>
            </a:pPr>
            <a:r>
              <a:rPr lang="en-US" sz="1150" dirty="0">
                <a:solidFill>
                  <a:srgbClr val="161A2C"/>
                </a:solidFill>
              </a:rPr>
              <a:t>รอร้านยืนยัน</a:t>
            </a:r>
            <a:endParaRPr lang="en-US" sz="1150" dirty="0"/>
          </a:p>
        </p:txBody>
      </p:sp>
      <p:sp>
        <p:nvSpPr>
          <p:cNvPr id="9" name="status-187"/>
          <p:cNvSpPr/>
          <p:nvPr/>
        </p:nvSpPr>
        <p:spPr>
          <a:xfrm>
            <a:off x="2167128" y="3200400"/>
            <a:ext cx="1444752" cy="347472"/>
          </a:xfrm>
          <a:prstGeom prst="roundRect">
            <a:avLst>
              <a:gd name="adj" fmla="val 50000"/>
            </a:avLst>
          </a:prstGeom>
          <a:solidFill>
            <a:srgbClr val="0A6FA6"/>
          </a:solidFill>
          <a:ln w="12700">
            <a:solidFill>
              <a:srgbClr val="0A6FA6"/>
            </a:solidFill>
            <a:prstDash val="solid"/>
          </a:ln>
        </p:spPr>
      </p:sp>
      <p:sp>
        <p:nvSpPr>
          <p:cNvPr id="10" name="text-188"/>
          <p:cNvSpPr txBox="1"/>
          <p:nvPr/>
        </p:nvSpPr>
        <p:spPr>
          <a:xfrm>
            <a:off x="2167128" y="3200400"/>
            <a:ext cx="1444752" cy="347472"/>
          </a:xfrm>
          <a:prstGeom prst="rect">
            <a:avLst/>
          </a:prstGeom>
          <a:noFill/>
          <a:ln/>
        </p:spPr>
        <p:txBody>
          <a:bodyPr wrap="square" lIns="0" tIns="0" rIns="0" bIns="0" rtlCol="0" anchor="ctr"/>
          <a:lstStyle/>
          <a:p>
            <a:pPr algn="ctr" indent="0" marL="0">
              <a:buNone/>
            </a:pPr>
            <a:r>
              <a:rPr lang="en-US" sz="1150" dirty="0">
                <a:solidFill>
                  <a:srgbClr val="FCFCFA"/>
                </a:solidFill>
              </a:rPr>
              <a:t>ร้านรับงานแล้ว</a:t>
            </a:r>
            <a:endParaRPr lang="en-US" sz="1150" dirty="0"/>
          </a:p>
        </p:txBody>
      </p:sp>
      <p:sp>
        <p:nvSpPr>
          <p:cNvPr id="11" name="status-189"/>
          <p:cNvSpPr/>
          <p:nvPr/>
        </p:nvSpPr>
        <p:spPr>
          <a:xfrm>
            <a:off x="3721608" y="3200400"/>
            <a:ext cx="1444752" cy="347472"/>
          </a:xfrm>
          <a:prstGeom prst="roundRect">
            <a:avLst>
              <a:gd name="adj" fmla="val 50000"/>
            </a:avLst>
          </a:prstGeom>
          <a:solidFill>
            <a:srgbClr val="C8235F"/>
          </a:solidFill>
          <a:ln w="12700">
            <a:solidFill>
              <a:srgbClr val="C8235F"/>
            </a:solidFill>
            <a:prstDash val="solid"/>
          </a:ln>
        </p:spPr>
      </p:sp>
      <p:sp>
        <p:nvSpPr>
          <p:cNvPr id="12" name="text-190"/>
          <p:cNvSpPr txBox="1"/>
          <p:nvPr/>
        </p:nvSpPr>
        <p:spPr>
          <a:xfrm>
            <a:off x="3721608" y="3200400"/>
            <a:ext cx="1444752" cy="347472"/>
          </a:xfrm>
          <a:prstGeom prst="rect">
            <a:avLst/>
          </a:prstGeom>
          <a:noFill/>
          <a:ln/>
        </p:spPr>
        <p:txBody>
          <a:bodyPr wrap="square" lIns="0" tIns="0" rIns="0" bIns="0" rtlCol="0" anchor="ctr"/>
          <a:lstStyle/>
          <a:p>
            <a:pPr algn="ctr" indent="0" marL="0">
              <a:buNone/>
            </a:pPr>
            <a:r>
              <a:rPr lang="en-US" sz="1150" dirty="0">
                <a:solidFill>
                  <a:srgbClr val="FCFCFA"/>
                </a:solidFill>
              </a:rPr>
              <a:t>กำลังพิมพ์</a:t>
            </a:r>
            <a:endParaRPr lang="en-US" sz="1150" dirty="0"/>
          </a:p>
        </p:txBody>
      </p:sp>
      <p:sp>
        <p:nvSpPr>
          <p:cNvPr id="13" name="status-191"/>
          <p:cNvSpPr/>
          <p:nvPr/>
        </p:nvSpPr>
        <p:spPr>
          <a:xfrm>
            <a:off x="612648" y="3657600"/>
            <a:ext cx="1444752" cy="347472"/>
          </a:xfrm>
          <a:prstGeom prst="roundRect">
            <a:avLst>
              <a:gd name="adj" fmla="val 50000"/>
            </a:avLst>
          </a:prstGeom>
          <a:solidFill>
            <a:srgbClr val="161A2C"/>
          </a:solidFill>
          <a:ln w="12700">
            <a:solidFill>
              <a:srgbClr val="161A2C"/>
            </a:solidFill>
            <a:prstDash val="solid"/>
          </a:ln>
        </p:spPr>
      </p:sp>
      <p:sp>
        <p:nvSpPr>
          <p:cNvPr id="14" name="text-192"/>
          <p:cNvSpPr txBox="1"/>
          <p:nvPr/>
        </p:nvSpPr>
        <p:spPr>
          <a:xfrm>
            <a:off x="612648" y="3657600"/>
            <a:ext cx="1444752" cy="347472"/>
          </a:xfrm>
          <a:prstGeom prst="rect">
            <a:avLst/>
          </a:prstGeom>
          <a:noFill/>
          <a:ln/>
        </p:spPr>
        <p:txBody>
          <a:bodyPr wrap="square" lIns="0" tIns="0" rIns="0" bIns="0" rtlCol="0" anchor="ctr"/>
          <a:lstStyle/>
          <a:p>
            <a:pPr algn="ctr" indent="0" marL="0">
              <a:buNone/>
            </a:pPr>
            <a:r>
              <a:rPr lang="en-US" sz="1150" dirty="0">
                <a:solidFill>
                  <a:srgbClr val="FCFCFA"/>
                </a:solidFill>
              </a:rPr>
              <a:t>พร้อมรับงาน</a:t>
            </a:r>
            <a:endParaRPr lang="en-US" sz="1150" dirty="0"/>
          </a:p>
        </p:txBody>
      </p:sp>
      <p:sp>
        <p:nvSpPr>
          <p:cNvPr id="15" name="status-193"/>
          <p:cNvSpPr/>
          <p:nvPr/>
        </p:nvSpPr>
        <p:spPr>
          <a:xfrm>
            <a:off x="2167128" y="3657600"/>
            <a:ext cx="1444752" cy="347472"/>
          </a:xfrm>
          <a:prstGeom prst="roundRect">
            <a:avLst>
              <a:gd name="adj" fmla="val 50000"/>
            </a:avLst>
          </a:prstGeom>
          <a:solidFill>
            <a:srgbClr val="5F6270"/>
          </a:solidFill>
          <a:ln w="12700">
            <a:solidFill>
              <a:srgbClr val="5F6270"/>
            </a:solidFill>
            <a:prstDash val="solid"/>
          </a:ln>
        </p:spPr>
      </p:sp>
      <p:sp>
        <p:nvSpPr>
          <p:cNvPr id="16" name="text-194"/>
          <p:cNvSpPr txBox="1"/>
          <p:nvPr/>
        </p:nvSpPr>
        <p:spPr>
          <a:xfrm>
            <a:off x="2167128" y="3657600"/>
            <a:ext cx="1444752" cy="347472"/>
          </a:xfrm>
          <a:prstGeom prst="rect">
            <a:avLst/>
          </a:prstGeom>
          <a:noFill/>
          <a:ln/>
        </p:spPr>
        <p:txBody>
          <a:bodyPr wrap="square" lIns="0" tIns="0" rIns="0" bIns="0" rtlCol="0" anchor="ctr"/>
          <a:lstStyle/>
          <a:p>
            <a:pPr algn="ctr" indent="0" marL="0">
              <a:buNone/>
            </a:pPr>
            <a:r>
              <a:rPr lang="en-US" sz="1150" dirty="0">
                <a:solidFill>
                  <a:srgbClr val="FCFCFA"/>
                </a:solidFill>
              </a:rPr>
              <a:t>ส่งมอบแล้ว</a:t>
            </a:r>
            <a:endParaRPr lang="en-US" sz="1150" dirty="0"/>
          </a:p>
        </p:txBody>
      </p:sp>
      <p:sp>
        <p:nvSpPr>
          <p:cNvPr id="17" name="status-195"/>
          <p:cNvSpPr/>
          <p:nvPr/>
        </p:nvSpPr>
        <p:spPr>
          <a:xfrm>
            <a:off x="3721608" y="3657600"/>
            <a:ext cx="1444752" cy="347472"/>
          </a:xfrm>
          <a:prstGeom prst="roundRect">
            <a:avLst>
              <a:gd name="adj" fmla="val 50000"/>
            </a:avLst>
          </a:prstGeom>
          <a:solidFill>
            <a:srgbClr val="FCFCFA"/>
          </a:solidFill>
          <a:ln w="12700">
            <a:solidFill>
              <a:srgbClr val="C8235F"/>
            </a:solidFill>
            <a:prstDash val="solid"/>
          </a:ln>
        </p:spPr>
      </p:sp>
      <p:sp>
        <p:nvSpPr>
          <p:cNvPr id="18" name="text-196"/>
          <p:cNvSpPr txBox="1"/>
          <p:nvPr/>
        </p:nvSpPr>
        <p:spPr>
          <a:xfrm>
            <a:off x="3721608" y="3657600"/>
            <a:ext cx="1444752" cy="347472"/>
          </a:xfrm>
          <a:prstGeom prst="rect">
            <a:avLst/>
          </a:prstGeom>
          <a:noFill/>
          <a:ln/>
        </p:spPr>
        <p:txBody>
          <a:bodyPr wrap="square" lIns="0" tIns="0" rIns="0" bIns="0" rtlCol="0" anchor="ctr"/>
          <a:lstStyle/>
          <a:p>
            <a:pPr algn="ctr" indent="0" marL="0">
              <a:buNone/>
            </a:pPr>
            <a:r>
              <a:rPr lang="en-US" sz="1150" dirty="0">
                <a:solidFill>
                  <a:srgbClr val="C8235F"/>
                </a:solidFill>
              </a:rPr>
              <a:t>ยกเลิกแล้ว</a:t>
            </a:r>
            <a:endParaRPr lang="en-US" sz="1150" dirty="0"/>
          </a:p>
        </p:txBody>
      </p:sp>
      <p:sp>
        <p:nvSpPr>
          <p:cNvPr id="19" name="code-197"/>
          <p:cNvSpPr/>
          <p:nvPr/>
        </p:nvSpPr>
        <p:spPr>
          <a:xfrm>
            <a:off x="5440680" y="1325880"/>
            <a:ext cx="3090672" cy="950976"/>
          </a:xfrm>
          <a:prstGeom prst="rect">
            <a:avLst/>
          </a:prstGeom>
          <a:solidFill>
            <a:srgbClr val="161A2C"/>
          </a:solidFill>
          <a:ln w="12700">
            <a:solidFill>
              <a:srgbClr val="161A2C"/>
            </a:solidFill>
            <a:prstDash val="solid"/>
          </a:ln>
        </p:spPr>
      </p:sp>
      <p:sp>
        <p:nvSpPr>
          <p:cNvPr id="20" name="text-198"/>
          <p:cNvSpPr txBox="1"/>
          <p:nvPr/>
        </p:nvSpPr>
        <p:spPr>
          <a:xfrm>
            <a:off x="5623560" y="1435608"/>
            <a:ext cx="2724912" cy="228600"/>
          </a:xfrm>
          <a:prstGeom prst="rect">
            <a:avLst/>
          </a:prstGeom>
          <a:noFill/>
          <a:ln/>
        </p:spPr>
        <p:txBody>
          <a:bodyPr wrap="square" lIns="0" tIns="0" rIns="0" bIns="0" rtlCol="0" anchor="t"/>
          <a:lstStyle/>
          <a:p>
            <a:pPr indent="0" marL="0">
              <a:buNone/>
            </a:pPr>
            <a:r>
              <a:rPr lang="en-US" sz="1050" b="1" dirty="0">
                <a:solidFill>
                  <a:srgbClr val="F2C200"/>
                </a:solidFill>
              </a:rPr>
              <a:t>AbstractOrderState</a:t>
            </a:r>
            <a:endParaRPr lang="en-US" sz="1050" dirty="0"/>
          </a:p>
        </p:txBody>
      </p:sp>
      <p:sp>
        <p:nvSpPr>
          <p:cNvPr id="21" name="text-199"/>
          <p:cNvSpPr txBox="1"/>
          <p:nvPr/>
        </p:nvSpPr>
        <p:spPr>
          <a:xfrm>
            <a:off x="5623560" y="1691640"/>
            <a:ext cx="2724912" cy="493776"/>
          </a:xfrm>
          <a:prstGeom prst="rect">
            <a:avLst/>
          </a:prstGeom>
          <a:noFill/>
          <a:ln/>
        </p:spPr>
        <p:txBody>
          <a:bodyPr wrap="square" lIns="0" tIns="0" rIns="0" bIns="0" rtlCol="0" anchor="t"/>
          <a:lstStyle/>
          <a:p>
            <a:pPr indent="0" marL="0">
              <a:lnSpc>
                <a:spcPct val="105000"/>
              </a:lnSpc>
              <a:buNone/>
            </a:pPr>
            <a:r>
              <a:rPr lang="en-US" sz="1150" dirty="0">
                <a:solidFill>
                  <a:srgbClr val="D9DBE3"/>
                </a:solidFill>
                <a:latin typeface="Consolas" pitchFamily="34" charset="0"/>
                <a:ea typeface="Consolas" pitchFamily="34" charset="-122"/>
                <a:cs typeface="Leelawadee UI" pitchFamily="34" charset="-120"/>
              </a:rPr>
              <a:t>ทุก action ปฏิเสธเป็นค่าเริ่มต้น</a:t>
            </a:r>
            <a:endParaRPr lang="en-US" sz="1150" dirty="0"/>
          </a:p>
          <a:p>
            <a:pPr indent="0" marL="0">
              <a:lnSpc>
                <a:spcPct val="105000"/>
              </a:lnSpc>
              <a:buNone/>
            </a:pPr>
            <a:r>
              <a:rPr lang="en-US" sz="1150" dirty="0">
                <a:solidFill>
                  <a:srgbClr val="D9DBE3"/>
                </a:solidFill>
                <a:latin typeface="Consolas" pitchFamily="34" charset="0"/>
                <a:ea typeface="Consolas" pitchFamily="34" charset="-122"/>
                <a:cs typeface="Leelawadee UI" pitchFamily="34" charset="-120"/>
              </a:rPr>
              <a:t>สถานะไหนทำได้ค่อย override</a:t>
            </a:r>
            <a:endParaRPr lang="en-US" sz="1150" dirty="0"/>
          </a:p>
        </p:txBody>
      </p:sp>
      <p:sp>
        <p:nvSpPr>
          <p:cNvPr id="22" name="text-200"/>
          <p:cNvSpPr txBox="1"/>
          <p:nvPr/>
        </p:nvSpPr>
        <p:spPr>
          <a:xfrm>
            <a:off x="5440680" y="2514600"/>
            <a:ext cx="3090672" cy="192024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2E3242"/>
                </a:solidFill>
              </a:rPr>
              <a:t>เปลี่ยนผิดลำดับ ตอบ 409 ไม่บันทึก</a:t>
            </a:r>
            <a:endParaRPr lang="en-US" sz="1250" dirty="0"/>
          </a:p>
          <a:p>
            <a:pPr marL="177800" indent="-177800">
              <a:spcAft>
                <a:spcPts val="800"/>
              </a:spcAft>
              <a:buSzPct val="100000"/>
              <a:buChar char="•"/>
            </a:pPr>
            <a:r>
              <a:rPr lang="en-US" sz="1250" dirty="0">
                <a:solidFill>
                  <a:srgbClr val="2E3242"/>
                </a:solidFill>
              </a:rPr>
              <a:t>เมนูพนักงานถาม State ว่าไปต่อไหนได้</a:t>
            </a:r>
            <a:endParaRPr lang="en-US" sz="1250" dirty="0"/>
          </a:p>
          <a:p>
            <a:pPr marL="177800" indent="-177800">
              <a:spcAft>
                <a:spcPts val="800"/>
              </a:spcAft>
              <a:buSzPct val="100000"/>
              <a:buChar char="•"/>
            </a:pPr>
            <a:r>
              <a:rPr lang="en-US" sz="1250" dirty="0">
                <a:solidFill>
                  <a:srgbClr val="2E3242"/>
                </a:solidFill>
              </a:rPr>
              <a:t>ลูกค้ายกเลิกได้ตอนรอยืนยันเท่านั้น</a:t>
            </a:r>
            <a:endParaRPr lang="en-US" sz="1250" dirty="0"/>
          </a:p>
        </p:txBody>
      </p:sp>
      <p:sp>
        <p:nvSpPr>
          <p:cNvPr id="25" name="Slide Number Placeholder 0"/>
          <p:cNvSpPr>
            <a:spLocks noGrp="1"/>
          </p:cNvSpPr>
          <p:nvPr>
            <p:ph type="sldNum" sz="quarter" idx="4294967295"/>
          </p:nvPr>
        </p:nvSpPr>
        <p:spPr>
          <a:xfrm>
            <a:off x="8074152"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6F7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p:nvPr>
            <p:ph idx="105" type="title" hasCustomPrompt="1"/>
          </p:nvPr>
        </p:nvSpPr>
        <p:spPr>
          <a:xfrm>
            <a:off x="612648" y="566928"/>
            <a:ext cx="6400800" cy="566928"/>
          </a:xfrm>
          <a:prstGeom prst="rect">
            <a:avLst/>
          </a:prstGeom>
          <a:noFill/>
          <a:ln/>
        </p:spPr>
        <p:txBody>
          <a:bodyPr wrap="square" lIns="0" tIns="0" rIns="0" bIns="0" rtlCol="0" anchor="ctr"/>
          <a:lstStyle/>
          <a:p>
            <a:pPr algn="l" indent="0" marL="0">
              <a:buNone/>
            </a:pPr>
            <a:r>
              <a:rPr lang="en-US" sz="2600" b="1" dirty="0">
                <a:solidFill>
                  <a:srgbClr val="161A2C"/>
                </a:solidFill>
              </a:rPr>
              <a:t>Observer: event 2 ตัว listener 5 ตัว</a:t>
            </a:r>
            <a:endParaRPr lang="en-US" sz="2600" dirty="0"/>
          </a:p>
        </p:txBody>
      </p:sp>
      <p:sp>
        <p:nvSpPr>
          <p:cNvPr id="3" name="speaker-pill"/>
          <p:cNvSpPr/>
          <p:nvPr/>
        </p:nvSpPr>
        <p:spPr>
          <a:xfrm>
            <a:off x="7159752" y="329184"/>
            <a:ext cx="1371600" cy="292608"/>
          </a:xfrm>
          <a:prstGeom prst="roundRect">
            <a:avLst>
              <a:gd name="adj" fmla="val 50000"/>
            </a:avLst>
          </a:prstGeom>
          <a:solidFill>
            <a:srgbClr val="0A6FA6"/>
          </a:solidFill>
          <a:ln w="12700">
            <a:solidFill>
              <a:srgbClr val="0A6FA6"/>
            </a:solidFill>
            <a:prstDash val="solid"/>
          </a:ln>
        </p:spPr>
      </p:sp>
      <p:sp>
        <p:nvSpPr>
          <p:cNvPr id="4" name="speaker-label"/>
          <p:cNvSpPr txBox="1"/>
          <p:nvPr/>
        </p:nvSpPr>
        <p:spPr>
          <a:xfrm>
            <a:off x="7159752" y="329184"/>
            <a:ext cx="1371600" cy="292608"/>
          </a:xfrm>
          <a:prstGeom prst="rect">
            <a:avLst/>
          </a:prstGeom>
          <a:noFill/>
          <a:ln/>
        </p:spPr>
        <p:txBody>
          <a:bodyPr wrap="square" lIns="0" tIns="0" rIns="0" bIns="0" rtlCol="0" anchor="ctr"/>
          <a:lstStyle/>
          <a:p>
            <a:pPr algn="ctr" indent="0" marL="0">
              <a:buNone/>
            </a:pPr>
            <a:r>
              <a:rPr lang="en-US" sz="1100" b="1" dirty="0">
                <a:solidFill>
                  <a:srgbClr val="FCFCFA"/>
                </a:solidFill>
              </a:rPr>
              <a:t>P4 อาณัฐ</a:t>
            </a:r>
            <a:endParaRPr lang="en-US" sz="1100" dirty="0"/>
          </a:p>
        </p:txBody>
      </p:sp>
      <p:sp>
        <p:nvSpPr>
          <p:cNvPr id="5" name="event-202"/>
          <p:cNvSpPr/>
          <p:nvPr/>
        </p:nvSpPr>
        <p:spPr>
          <a:xfrm>
            <a:off x="612648" y="1325880"/>
            <a:ext cx="2743200" cy="1005840"/>
          </a:xfrm>
          <a:prstGeom prst="rect">
            <a:avLst/>
          </a:prstGeom>
          <a:solidFill>
            <a:srgbClr val="161A2C"/>
          </a:solidFill>
          <a:ln w="12700">
            <a:solidFill>
              <a:srgbClr val="161A2C"/>
            </a:solidFill>
            <a:prstDash val="solid"/>
          </a:ln>
        </p:spPr>
      </p:sp>
      <p:sp>
        <p:nvSpPr>
          <p:cNvPr id="6" name="event-tab-203"/>
          <p:cNvSpPr/>
          <p:nvPr/>
        </p:nvSpPr>
        <p:spPr>
          <a:xfrm>
            <a:off x="612648" y="1325880"/>
            <a:ext cx="64008" cy="1005840"/>
          </a:xfrm>
          <a:prstGeom prst="rect">
            <a:avLst/>
          </a:prstGeom>
          <a:solidFill>
            <a:srgbClr val="0A86C7"/>
          </a:solidFill>
          <a:ln w="12700">
            <a:solidFill>
              <a:srgbClr val="0A86C7"/>
            </a:solidFill>
            <a:prstDash val="solid"/>
          </a:ln>
        </p:spPr>
      </p:sp>
      <p:sp>
        <p:nvSpPr>
          <p:cNvPr id="7" name="text-204"/>
          <p:cNvSpPr txBox="1"/>
          <p:nvPr/>
        </p:nvSpPr>
        <p:spPr>
          <a:xfrm>
            <a:off x="841248" y="1481328"/>
            <a:ext cx="2377440" cy="256032"/>
          </a:xfrm>
          <a:prstGeom prst="rect">
            <a:avLst/>
          </a:prstGeom>
          <a:noFill/>
          <a:ln/>
        </p:spPr>
        <p:txBody>
          <a:bodyPr wrap="square" lIns="0" tIns="0" rIns="0" bIns="0" rtlCol="0" anchor="t"/>
          <a:lstStyle/>
          <a:p>
            <a:pPr indent="0" marL="0">
              <a:buNone/>
            </a:pPr>
            <a:r>
              <a:rPr lang="en-US" sz="1100" dirty="0">
                <a:solidFill>
                  <a:srgbClr val="B9BDCB"/>
                </a:solidFill>
              </a:rPr>
              <a:t>เมื่อสร้าง order</a:t>
            </a:r>
            <a:endParaRPr lang="en-US" sz="1100" dirty="0"/>
          </a:p>
        </p:txBody>
      </p:sp>
      <p:sp>
        <p:nvSpPr>
          <p:cNvPr id="8" name="text-205"/>
          <p:cNvSpPr txBox="1"/>
          <p:nvPr/>
        </p:nvSpPr>
        <p:spPr>
          <a:xfrm>
            <a:off x="841248" y="1783080"/>
            <a:ext cx="2468880" cy="365760"/>
          </a:xfrm>
          <a:prstGeom prst="rect">
            <a:avLst/>
          </a:prstGeom>
          <a:noFill/>
          <a:ln/>
        </p:spPr>
        <p:txBody>
          <a:bodyPr wrap="square" lIns="0" tIns="0" rIns="0" bIns="0" rtlCol="0" anchor="t"/>
          <a:lstStyle/>
          <a:p>
            <a:pPr indent="0" marL="0">
              <a:buNone/>
            </a:pPr>
            <a:r>
              <a:rPr lang="en-US" sz="1250" b="1" dirty="0">
                <a:solidFill>
                  <a:srgbClr val="F5F4EF"/>
                </a:solidFill>
                <a:latin typeface="Consolas" pitchFamily="34" charset="0"/>
                <a:ea typeface="Consolas" pitchFamily="34" charset="-122"/>
                <a:cs typeface="Leelawadee UI" pitchFamily="34" charset="-120"/>
              </a:rPr>
              <a:t>OrderCreatedEvent</a:t>
            </a:r>
            <a:endParaRPr lang="en-US" sz="1250" dirty="0"/>
          </a:p>
        </p:txBody>
      </p:sp>
      <p:sp>
        <p:nvSpPr>
          <p:cNvPr id="9" name="event-arrow-206"/>
          <p:cNvSpPr/>
          <p:nvPr/>
        </p:nvSpPr>
        <p:spPr>
          <a:xfrm>
            <a:off x="3429000" y="1828800"/>
            <a:ext cx="320040" cy="0"/>
          </a:xfrm>
          <a:prstGeom prst="line">
            <a:avLst/>
          </a:prstGeom>
          <a:noFill/>
          <a:ln w="22225">
            <a:solidFill>
              <a:srgbClr val="161A2C"/>
            </a:solidFill>
            <a:prstDash val="solid"/>
            <a:tailEnd type="triangle"/>
          </a:ln>
        </p:spPr>
      </p:sp>
      <p:sp>
        <p:nvSpPr>
          <p:cNvPr id="10" name="card-207"/>
          <p:cNvSpPr/>
          <p:nvPr/>
        </p:nvSpPr>
        <p:spPr>
          <a:xfrm>
            <a:off x="3904488" y="1325880"/>
            <a:ext cx="2258568" cy="1005840"/>
          </a:xfrm>
          <a:prstGeom prst="rect">
            <a:avLst/>
          </a:prstGeom>
          <a:solidFill>
            <a:srgbClr val="FCFCFA"/>
          </a:solidFill>
          <a:ln w="9525">
            <a:solidFill>
              <a:srgbClr val="E2E0D8"/>
            </a:solidFill>
            <a:prstDash val="solid"/>
          </a:ln>
        </p:spPr>
      </p:sp>
      <p:sp>
        <p:nvSpPr>
          <p:cNvPr id="11" name="text-208"/>
          <p:cNvSpPr txBox="1"/>
          <p:nvPr/>
        </p:nvSpPr>
        <p:spPr>
          <a:xfrm>
            <a:off x="4050792" y="1481328"/>
            <a:ext cx="1984248" cy="457200"/>
          </a:xfrm>
          <a:prstGeom prst="rect">
            <a:avLst/>
          </a:prstGeom>
          <a:noFill/>
          <a:ln/>
        </p:spPr>
        <p:txBody>
          <a:bodyPr wrap="square" lIns="0" tIns="0" rIns="0" bIns="0" rtlCol="0" anchor="t"/>
          <a:lstStyle/>
          <a:p>
            <a:pPr indent="0" marL="0">
              <a:buNone/>
            </a:pPr>
            <a:r>
              <a:rPr lang="en-US" sz="1250" b="1" dirty="0">
                <a:solidFill>
                  <a:srgbClr val="161A2C"/>
                </a:solidFill>
              </a:rPr>
              <a:t>สร้าง payment UNPAID</a:t>
            </a:r>
            <a:endParaRPr lang="en-US" sz="1250" dirty="0"/>
          </a:p>
        </p:txBody>
      </p:sp>
      <p:sp>
        <p:nvSpPr>
          <p:cNvPr id="12" name="text-209"/>
          <p:cNvSpPr txBox="1"/>
          <p:nvPr/>
        </p:nvSpPr>
        <p:spPr>
          <a:xfrm>
            <a:off x="4050792" y="1984248"/>
            <a:ext cx="2029968" cy="228600"/>
          </a:xfrm>
          <a:prstGeom prst="rect">
            <a:avLst/>
          </a:prstGeom>
          <a:noFill/>
          <a:ln/>
        </p:spPr>
        <p:txBody>
          <a:bodyPr wrap="square" lIns="0" tIns="0" rIns="0" bIns="0" rtlCol="0" anchor="t"/>
          <a:lstStyle/>
          <a:p>
            <a:pPr indent="0" marL="0">
              <a:buNone/>
            </a:pPr>
            <a:r>
              <a:rPr lang="en-US" sz="950" dirty="0">
                <a:solidFill>
                  <a:srgbClr val="6B6F7B"/>
                </a:solidFill>
                <a:latin typeface="Consolas" pitchFamily="34" charset="0"/>
                <a:ea typeface="Consolas" pitchFamily="34" charset="-122"/>
                <a:cs typeface="Leelawadee UI" pitchFamily="34" charset="-120"/>
              </a:rPr>
              <a:t>PaymentCreation</a:t>
            </a:r>
            <a:endParaRPr lang="en-US" sz="950" dirty="0"/>
          </a:p>
        </p:txBody>
      </p:sp>
      <p:sp>
        <p:nvSpPr>
          <p:cNvPr id="13" name="card-210"/>
          <p:cNvSpPr/>
          <p:nvPr/>
        </p:nvSpPr>
        <p:spPr>
          <a:xfrm>
            <a:off x="6272784" y="1325880"/>
            <a:ext cx="2258568" cy="1005840"/>
          </a:xfrm>
          <a:prstGeom prst="rect">
            <a:avLst/>
          </a:prstGeom>
          <a:solidFill>
            <a:srgbClr val="FCFCFA"/>
          </a:solidFill>
          <a:ln w="9525">
            <a:solidFill>
              <a:srgbClr val="E2E0D8"/>
            </a:solidFill>
            <a:prstDash val="solid"/>
          </a:ln>
        </p:spPr>
      </p:sp>
      <p:sp>
        <p:nvSpPr>
          <p:cNvPr id="14" name="text-211"/>
          <p:cNvSpPr txBox="1"/>
          <p:nvPr/>
        </p:nvSpPr>
        <p:spPr>
          <a:xfrm>
            <a:off x="6419088" y="1481328"/>
            <a:ext cx="1984248" cy="457200"/>
          </a:xfrm>
          <a:prstGeom prst="rect">
            <a:avLst/>
          </a:prstGeom>
          <a:noFill/>
          <a:ln/>
        </p:spPr>
        <p:txBody>
          <a:bodyPr wrap="square" lIns="0" tIns="0" rIns="0" bIns="0" rtlCol="0" anchor="t"/>
          <a:lstStyle/>
          <a:p>
            <a:pPr indent="0" marL="0">
              <a:buNone/>
            </a:pPr>
            <a:r>
              <a:rPr lang="en-US" sz="1250" b="1" dirty="0">
                <a:solidFill>
                  <a:srgbClr val="161A2C"/>
                </a:solidFill>
              </a:rPr>
              <a:t>แจ้งพนักงาน งานใหม่</a:t>
            </a:r>
            <a:endParaRPr lang="en-US" sz="1250" dirty="0"/>
          </a:p>
        </p:txBody>
      </p:sp>
      <p:sp>
        <p:nvSpPr>
          <p:cNvPr id="15" name="text-212"/>
          <p:cNvSpPr txBox="1"/>
          <p:nvPr/>
        </p:nvSpPr>
        <p:spPr>
          <a:xfrm>
            <a:off x="6419088" y="1984248"/>
            <a:ext cx="2029968" cy="228600"/>
          </a:xfrm>
          <a:prstGeom prst="rect">
            <a:avLst/>
          </a:prstGeom>
          <a:noFill/>
          <a:ln/>
        </p:spPr>
        <p:txBody>
          <a:bodyPr wrap="square" lIns="0" tIns="0" rIns="0" bIns="0" rtlCol="0" anchor="t"/>
          <a:lstStyle/>
          <a:p>
            <a:pPr indent="0" marL="0">
              <a:buNone/>
            </a:pPr>
            <a:r>
              <a:rPr lang="en-US" sz="950" dirty="0">
                <a:solidFill>
                  <a:srgbClr val="6B6F7B"/>
                </a:solidFill>
                <a:latin typeface="Consolas" pitchFamily="34" charset="0"/>
                <a:ea typeface="Consolas" pitchFamily="34" charset="-122"/>
                <a:cs typeface="Leelawadee UI" pitchFamily="34" charset="-120"/>
              </a:rPr>
              <a:t>StaffNewOrder</a:t>
            </a:r>
            <a:endParaRPr lang="en-US" sz="950" dirty="0"/>
          </a:p>
        </p:txBody>
      </p:sp>
      <p:sp>
        <p:nvSpPr>
          <p:cNvPr id="16" name="event-213"/>
          <p:cNvSpPr/>
          <p:nvPr/>
        </p:nvSpPr>
        <p:spPr>
          <a:xfrm>
            <a:off x="612648" y="2514600"/>
            <a:ext cx="2743200" cy="1005840"/>
          </a:xfrm>
          <a:prstGeom prst="rect">
            <a:avLst/>
          </a:prstGeom>
          <a:solidFill>
            <a:srgbClr val="161A2C"/>
          </a:solidFill>
          <a:ln w="12700">
            <a:solidFill>
              <a:srgbClr val="161A2C"/>
            </a:solidFill>
            <a:prstDash val="solid"/>
          </a:ln>
        </p:spPr>
      </p:sp>
      <p:sp>
        <p:nvSpPr>
          <p:cNvPr id="17" name="event-tab-214"/>
          <p:cNvSpPr/>
          <p:nvPr/>
        </p:nvSpPr>
        <p:spPr>
          <a:xfrm>
            <a:off x="612648" y="2514600"/>
            <a:ext cx="64008" cy="1005840"/>
          </a:xfrm>
          <a:prstGeom prst="rect">
            <a:avLst/>
          </a:prstGeom>
          <a:solidFill>
            <a:srgbClr val="D6246E"/>
          </a:solidFill>
          <a:ln w="12700">
            <a:solidFill>
              <a:srgbClr val="D6246E"/>
            </a:solidFill>
            <a:prstDash val="solid"/>
          </a:ln>
        </p:spPr>
      </p:sp>
      <p:sp>
        <p:nvSpPr>
          <p:cNvPr id="18" name="text-215"/>
          <p:cNvSpPr txBox="1"/>
          <p:nvPr/>
        </p:nvSpPr>
        <p:spPr>
          <a:xfrm>
            <a:off x="841248" y="2670048"/>
            <a:ext cx="2377440" cy="256032"/>
          </a:xfrm>
          <a:prstGeom prst="rect">
            <a:avLst/>
          </a:prstGeom>
          <a:noFill/>
          <a:ln/>
        </p:spPr>
        <p:txBody>
          <a:bodyPr wrap="square" lIns="0" tIns="0" rIns="0" bIns="0" rtlCol="0" anchor="t"/>
          <a:lstStyle/>
          <a:p>
            <a:pPr indent="0" marL="0">
              <a:buNone/>
            </a:pPr>
            <a:r>
              <a:rPr lang="en-US" sz="1100" dirty="0">
                <a:solidFill>
                  <a:srgbClr val="B9BDCB"/>
                </a:solidFill>
              </a:rPr>
              <a:t>เมื่อเปลี่ยนสถานะ</a:t>
            </a:r>
            <a:endParaRPr lang="en-US" sz="1100" dirty="0"/>
          </a:p>
        </p:txBody>
      </p:sp>
      <p:sp>
        <p:nvSpPr>
          <p:cNvPr id="19" name="text-216"/>
          <p:cNvSpPr txBox="1"/>
          <p:nvPr/>
        </p:nvSpPr>
        <p:spPr>
          <a:xfrm>
            <a:off x="841248" y="2971800"/>
            <a:ext cx="2468880" cy="365760"/>
          </a:xfrm>
          <a:prstGeom prst="rect">
            <a:avLst/>
          </a:prstGeom>
          <a:noFill/>
          <a:ln/>
        </p:spPr>
        <p:txBody>
          <a:bodyPr wrap="square" lIns="0" tIns="0" rIns="0" bIns="0" rtlCol="0" anchor="t"/>
          <a:lstStyle/>
          <a:p>
            <a:pPr indent="0" marL="0">
              <a:buNone/>
            </a:pPr>
            <a:r>
              <a:rPr lang="en-US" sz="1250" b="1" dirty="0">
                <a:solidFill>
                  <a:srgbClr val="F5F4EF"/>
                </a:solidFill>
                <a:latin typeface="Consolas" pitchFamily="34" charset="0"/>
                <a:ea typeface="Consolas" pitchFamily="34" charset="-122"/>
                <a:cs typeface="Leelawadee UI" pitchFamily="34" charset="-120"/>
              </a:rPr>
              <a:t>OrderStatusChangedEvent</a:t>
            </a:r>
            <a:endParaRPr lang="en-US" sz="1250" dirty="0"/>
          </a:p>
        </p:txBody>
      </p:sp>
      <p:sp>
        <p:nvSpPr>
          <p:cNvPr id="20" name="event-arrow-217"/>
          <p:cNvSpPr/>
          <p:nvPr/>
        </p:nvSpPr>
        <p:spPr>
          <a:xfrm>
            <a:off x="3429000" y="3017520"/>
            <a:ext cx="320040" cy="0"/>
          </a:xfrm>
          <a:prstGeom prst="line">
            <a:avLst/>
          </a:prstGeom>
          <a:noFill/>
          <a:ln w="22225">
            <a:solidFill>
              <a:srgbClr val="161A2C"/>
            </a:solidFill>
            <a:prstDash val="solid"/>
            <a:tailEnd type="triangle"/>
          </a:ln>
        </p:spPr>
      </p:sp>
      <p:sp>
        <p:nvSpPr>
          <p:cNvPr id="21" name="card-218"/>
          <p:cNvSpPr/>
          <p:nvPr/>
        </p:nvSpPr>
        <p:spPr>
          <a:xfrm>
            <a:off x="3904488" y="2514600"/>
            <a:ext cx="1469136" cy="1005840"/>
          </a:xfrm>
          <a:prstGeom prst="rect">
            <a:avLst/>
          </a:prstGeom>
          <a:solidFill>
            <a:srgbClr val="FCFCFA"/>
          </a:solidFill>
          <a:ln w="9525">
            <a:solidFill>
              <a:srgbClr val="E2E0D8"/>
            </a:solidFill>
            <a:prstDash val="solid"/>
          </a:ln>
        </p:spPr>
      </p:sp>
      <p:sp>
        <p:nvSpPr>
          <p:cNvPr id="22" name="text-219"/>
          <p:cNvSpPr txBox="1"/>
          <p:nvPr/>
        </p:nvSpPr>
        <p:spPr>
          <a:xfrm>
            <a:off x="4050792" y="2670048"/>
            <a:ext cx="1194816" cy="457200"/>
          </a:xfrm>
          <a:prstGeom prst="rect">
            <a:avLst/>
          </a:prstGeom>
          <a:noFill/>
          <a:ln/>
        </p:spPr>
        <p:txBody>
          <a:bodyPr wrap="square" lIns="0" tIns="0" rIns="0" bIns="0" rtlCol="0" anchor="t"/>
          <a:lstStyle/>
          <a:p>
            <a:pPr indent="0" marL="0">
              <a:buNone/>
            </a:pPr>
            <a:r>
              <a:rPr lang="en-US" sz="1250" b="1" dirty="0">
                <a:solidFill>
                  <a:srgbClr val="161A2C"/>
                </a:solidFill>
              </a:rPr>
              <a:t>บันทึกประวัติ</a:t>
            </a:r>
            <a:endParaRPr lang="en-US" sz="1250" dirty="0"/>
          </a:p>
        </p:txBody>
      </p:sp>
      <p:sp>
        <p:nvSpPr>
          <p:cNvPr id="23" name="text-220"/>
          <p:cNvSpPr txBox="1"/>
          <p:nvPr/>
        </p:nvSpPr>
        <p:spPr>
          <a:xfrm>
            <a:off x="4050792" y="3172968"/>
            <a:ext cx="1240536" cy="228600"/>
          </a:xfrm>
          <a:prstGeom prst="rect">
            <a:avLst/>
          </a:prstGeom>
          <a:noFill/>
          <a:ln/>
        </p:spPr>
        <p:txBody>
          <a:bodyPr wrap="square" lIns="0" tIns="0" rIns="0" bIns="0" rtlCol="0" anchor="t"/>
          <a:lstStyle/>
          <a:p>
            <a:pPr indent="0" marL="0">
              <a:buNone/>
            </a:pPr>
            <a:r>
              <a:rPr lang="en-US" sz="950" dirty="0">
                <a:solidFill>
                  <a:srgbClr val="6B6F7B"/>
                </a:solidFill>
                <a:latin typeface="Consolas" pitchFamily="34" charset="0"/>
                <a:ea typeface="Consolas" pitchFamily="34" charset="-122"/>
                <a:cs typeface="Leelawadee UI" pitchFamily="34" charset="-120"/>
              </a:rPr>
              <a:t>OrderHistory</a:t>
            </a:r>
            <a:endParaRPr lang="en-US" sz="950" dirty="0"/>
          </a:p>
        </p:txBody>
      </p:sp>
      <p:sp>
        <p:nvSpPr>
          <p:cNvPr id="24" name="card-221"/>
          <p:cNvSpPr/>
          <p:nvPr/>
        </p:nvSpPr>
        <p:spPr>
          <a:xfrm>
            <a:off x="5483352" y="2514600"/>
            <a:ext cx="1469136" cy="1005840"/>
          </a:xfrm>
          <a:prstGeom prst="rect">
            <a:avLst/>
          </a:prstGeom>
          <a:solidFill>
            <a:srgbClr val="FCFCFA"/>
          </a:solidFill>
          <a:ln w="9525">
            <a:solidFill>
              <a:srgbClr val="E2E0D8"/>
            </a:solidFill>
            <a:prstDash val="solid"/>
          </a:ln>
        </p:spPr>
      </p:sp>
      <p:sp>
        <p:nvSpPr>
          <p:cNvPr id="25" name="text-222"/>
          <p:cNvSpPr txBox="1"/>
          <p:nvPr/>
        </p:nvSpPr>
        <p:spPr>
          <a:xfrm>
            <a:off x="5629656" y="2670048"/>
            <a:ext cx="1194816" cy="457200"/>
          </a:xfrm>
          <a:prstGeom prst="rect">
            <a:avLst/>
          </a:prstGeom>
          <a:noFill/>
          <a:ln/>
        </p:spPr>
        <p:txBody>
          <a:bodyPr wrap="square" lIns="0" tIns="0" rIns="0" bIns="0" rtlCol="0" anchor="t"/>
          <a:lstStyle/>
          <a:p>
            <a:pPr indent="0" marL="0">
              <a:buNone/>
            </a:pPr>
            <a:r>
              <a:rPr lang="en-US" sz="1250" b="1" dirty="0">
                <a:solidFill>
                  <a:srgbClr val="161A2C"/>
                </a:solidFill>
              </a:rPr>
              <a:t>แจ้งลูกค้า</a:t>
            </a:r>
            <a:endParaRPr lang="en-US" sz="1250" dirty="0"/>
          </a:p>
        </p:txBody>
      </p:sp>
      <p:sp>
        <p:nvSpPr>
          <p:cNvPr id="26" name="text-223"/>
          <p:cNvSpPr txBox="1"/>
          <p:nvPr/>
        </p:nvSpPr>
        <p:spPr>
          <a:xfrm>
            <a:off x="5629656" y="3172968"/>
            <a:ext cx="1240536" cy="228600"/>
          </a:xfrm>
          <a:prstGeom prst="rect">
            <a:avLst/>
          </a:prstGeom>
          <a:noFill/>
          <a:ln/>
        </p:spPr>
        <p:txBody>
          <a:bodyPr wrap="square" lIns="0" tIns="0" rIns="0" bIns="0" rtlCol="0" anchor="t"/>
          <a:lstStyle/>
          <a:p>
            <a:pPr indent="0" marL="0">
              <a:buNone/>
            </a:pPr>
            <a:r>
              <a:rPr lang="en-US" sz="950" dirty="0">
                <a:solidFill>
                  <a:srgbClr val="6B6F7B"/>
                </a:solidFill>
                <a:latin typeface="Consolas" pitchFamily="34" charset="0"/>
                <a:ea typeface="Consolas" pitchFamily="34" charset="-122"/>
                <a:cs typeface="Leelawadee UI" pitchFamily="34" charset="-120"/>
              </a:rPr>
              <a:t>InAppNotification</a:t>
            </a:r>
            <a:endParaRPr lang="en-US" sz="950" dirty="0"/>
          </a:p>
        </p:txBody>
      </p:sp>
      <p:sp>
        <p:nvSpPr>
          <p:cNvPr id="27" name="card-224"/>
          <p:cNvSpPr/>
          <p:nvPr/>
        </p:nvSpPr>
        <p:spPr>
          <a:xfrm>
            <a:off x="7062216" y="2514600"/>
            <a:ext cx="1469136" cy="1005840"/>
          </a:xfrm>
          <a:prstGeom prst="rect">
            <a:avLst/>
          </a:prstGeom>
          <a:solidFill>
            <a:srgbClr val="FCFCFA"/>
          </a:solidFill>
          <a:ln w="9525">
            <a:solidFill>
              <a:srgbClr val="E2E0D8"/>
            </a:solidFill>
            <a:prstDash val="solid"/>
          </a:ln>
        </p:spPr>
      </p:sp>
      <p:sp>
        <p:nvSpPr>
          <p:cNvPr id="28" name="text-225"/>
          <p:cNvSpPr txBox="1"/>
          <p:nvPr/>
        </p:nvSpPr>
        <p:spPr>
          <a:xfrm>
            <a:off x="7208520" y="2670048"/>
            <a:ext cx="1194816" cy="457200"/>
          </a:xfrm>
          <a:prstGeom prst="rect">
            <a:avLst/>
          </a:prstGeom>
          <a:noFill/>
          <a:ln/>
        </p:spPr>
        <p:txBody>
          <a:bodyPr wrap="square" lIns="0" tIns="0" rIns="0" bIns="0" rtlCol="0" anchor="t"/>
          <a:lstStyle/>
          <a:p>
            <a:pPr indent="0" marL="0">
              <a:buNone/>
            </a:pPr>
            <a:r>
              <a:rPr lang="en-US" sz="1250" b="1" dirty="0">
                <a:solidFill>
                  <a:srgbClr val="161A2C"/>
                </a:solidFill>
              </a:rPr>
              <a:t>คืนเงินถ้าจ่ายแล้ว</a:t>
            </a:r>
            <a:endParaRPr lang="en-US" sz="1250" dirty="0"/>
          </a:p>
        </p:txBody>
      </p:sp>
      <p:sp>
        <p:nvSpPr>
          <p:cNvPr id="29" name="text-226"/>
          <p:cNvSpPr txBox="1"/>
          <p:nvPr/>
        </p:nvSpPr>
        <p:spPr>
          <a:xfrm>
            <a:off x="7208520" y="3172968"/>
            <a:ext cx="1240536" cy="228600"/>
          </a:xfrm>
          <a:prstGeom prst="rect">
            <a:avLst/>
          </a:prstGeom>
          <a:noFill/>
          <a:ln/>
        </p:spPr>
        <p:txBody>
          <a:bodyPr wrap="square" lIns="0" tIns="0" rIns="0" bIns="0" rtlCol="0" anchor="t"/>
          <a:lstStyle/>
          <a:p>
            <a:pPr indent="0" marL="0">
              <a:buNone/>
            </a:pPr>
            <a:r>
              <a:rPr lang="en-US" sz="950" dirty="0">
                <a:solidFill>
                  <a:srgbClr val="6B6F7B"/>
                </a:solidFill>
                <a:latin typeface="Consolas" pitchFamily="34" charset="0"/>
                <a:ea typeface="Consolas" pitchFamily="34" charset="-122"/>
                <a:cs typeface="Leelawadee UI" pitchFamily="34" charset="-120"/>
              </a:rPr>
              <a:t>PaymentRefund</a:t>
            </a:r>
            <a:endParaRPr lang="en-US" sz="950" dirty="0"/>
          </a:p>
        </p:txBody>
      </p:sp>
      <p:sp>
        <p:nvSpPr>
          <p:cNvPr id="30" name="pay-227"/>
          <p:cNvSpPr/>
          <p:nvPr/>
        </p:nvSpPr>
        <p:spPr>
          <a:xfrm>
            <a:off x="612648" y="3840480"/>
            <a:ext cx="7918704" cy="685800"/>
          </a:xfrm>
          <a:prstGeom prst="rect">
            <a:avLst/>
          </a:prstGeom>
          <a:solidFill>
            <a:srgbClr val="ECEBE4"/>
          </a:solidFill>
          <a:ln w="12700">
            <a:solidFill>
              <a:srgbClr val="ECEBE4"/>
            </a:solidFill>
            <a:prstDash val="solid"/>
          </a:ln>
        </p:spPr>
      </p:sp>
      <p:sp>
        <p:nvSpPr>
          <p:cNvPr id="31" name="text-228"/>
          <p:cNvSpPr txBox="1"/>
          <p:nvPr/>
        </p:nvSpPr>
        <p:spPr>
          <a:xfrm>
            <a:off x="886968" y="3840480"/>
            <a:ext cx="7370064" cy="685800"/>
          </a:xfrm>
          <a:prstGeom prst="rect">
            <a:avLst/>
          </a:prstGeom>
          <a:noFill/>
          <a:ln/>
        </p:spPr>
        <p:txBody>
          <a:bodyPr wrap="square" lIns="0" tIns="0" rIns="0" bIns="0" rtlCol="0" anchor="ctr"/>
          <a:lstStyle/>
          <a:p>
            <a:pPr indent="0" marL="0">
              <a:buNone/>
            </a:pPr>
            <a:r>
              <a:rPr lang="en-US" sz="1300" b="1" dirty="0">
                <a:solidFill>
                  <a:srgbClr val="0A6FA6"/>
                </a:solidFill>
              </a:rPr>
              <a:t>การชำระเงิน  </a:t>
            </a:r>
            <a:pPr indent="0" marL="0">
              <a:buNone/>
            </a:pPr>
            <a:r>
              <a:rPr lang="en-US" sz="1300" dirty="0">
                <a:solidFill>
                  <a:srgbClr val="2E3242"/>
                </a:solidFill>
              </a:rPr>
              <a:t>จ่ายซ้ำ หรือจ่ายงานที่ยกเลิก ตอบ 409 · ยกเลิกหลังจ่าย ระบบเปลี่ยนเป็น REFUNDED</a:t>
            </a:r>
            <a:endParaRPr lang="en-US" sz="1300" dirty="0"/>
          </a:p>
        </p:txBody>
      </p:sp>
      <p:sp>
        <p:nvSpPr>
          <p:cNvPr id="25" name="Slide Number Placeholder 0"/>
          <p:cNvSpPr>
            <a:spLocks noGrp="1"/>
          </p:cNvSpPr>
          <p:nvPr>
            <p:ph type="sldNum" sz="quarter" idx="4294967295"/>
          </p:nvPr>
        </p:nvSpPr>
        <p:spPr>
          <a:xfrm>
            <a:off x="8074152"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6F7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p:nvPr>
            <p:ph idx="105" type="title" hasCustomPrompt="1"/>
          </p:nvPr>
        </p:nvSpPr>
        <p:spPr>
          <a:xfrm>
            <a:off x="612648" y="566928"/>
            <a:ext cx="6400800" cy="566928"/>
          </a:xfrm>
          <a:prstGeom prst="rect">
            <a:avLst/>
          </a:prstGeom>
          <a:noFill/>
          <a:ln/>
        </p:spPr>
        <p:txBody>
          <a:bodyPr wrap="square" lIns="0" tIns="0" rIns="0" bIns="0" rtlCol="0" anchor="ctr"/>
          <a:lstStyle/>
          <a:p>
            <a:pPr algn="l" indent="0" marL="0">
              <a:buNone/>
            </a:pPr>
            <a:r>
              <a:rPr lang="en-US" sz="2600" b="1" dirty="0">
                <a:solidFill>
                  <a:srgbClr val="161A2C"/>
                </a:solidFill>
              </a:rPr>
              <a:t>Testing และ DevOps</a:t>
            </a:r>
            <a:endParaRPr lang="en-US" sz="2600" dirty="0"/>
          </a:p>
        </p:txBody>
      </p:sp>
      <p:sp>
        <p:nvSpPr>
          <p:cNvPr id="3" name="speaker-pill"/>
          <p:cNvSpPr/>
          <p:nvPr/>
        </p:nvSpPr>
        <p:spPr>
          <a:xfrm>
            <a:off x="7159752" y="329184"/>
            <a:ext cx="1371600" cy="292608"/>
          </a:xfrm>
          <a:prstGeom prst="roundRect">
            <a:avLst>
              <a:gd name="adj" fmla="val 50000"/>
            </a:avLst>
          </a:prstGeom>
          <a:solidFill>
            <a:srgbClr val="F2C200"/>
          </a:solidFill>
          <a:ln w="12700">
            <a:solidFill>
              <a:srgbClr val="F2C200"/>
            </a:solidFill>
            <a:prstDash val="solid"/>
          </a:ln>
        </p:spPr>
      </p:sp>
      <p:sp>
        <p:nvSpPr>
          <p:cNvPr id="4" name="speaker-label"/>
          <p:cNvSpPr txBox="1"/>
          <p:nvPr/>
        </p:nvSpPr>
        <p:spPr>
          <a:xfrm>
            <a:off x="7159752" y="329184"/>
            <a:ext cx="1371600" cy="292608"/>
          </a:xfrm>
          <a:prstGeom prst="rect">
            <a:avLst/>
          </a:prstGeom>
          <a:noFill/>
          <a:ln/>
        </p:spPr>
        <p:txBody>
          <a:bodyPr wrap="square" lIns="0" tIns="0" rIns="0" bIns="0" rtlCol="0" anchor="ctr"/>
          <a:lstStyle/>
          <a:p>
            <a:pPr algn="ctr" indent="0" marL="0">
              <a:buNone/>
            </a:pPr>
            <a:r>
              <a:rPr lang="en-US" sz="1100" b="1" dirty="0">
                <a:solidFill>
                  <a:srgbClr val="161A2C"/>
                </a:solidFill>
              </a:rPr>
              <a:t>P3 รัชชานนท์</a:t>
            </a:r>
            <a:endParaRPr lang="en-US" sz="1100" dirty="0"/>
          </a:p>
        </p:txBody>
      </p:sp>
      <p:sp>
        <p:nvSpPr>
          <p:cNvPr id="5" name="text-230"/>
          <p:cNvSpPr txBox="1"/>
          <p:nvPr/>
        </p:nvSpPr>
        <p:spPr>
          <a:xfrm>
            <a:off x="612648" y="1234440"/>
            <a:ext cx="2743200" cy="1005840"/>
          </a:xfrm>
          <a:prstGeom prst="rect">
            <a:avLst/>
          </a:prstGeom>
          <a:noFill/>
          <a:ln/>
        </p:spPr>
        <p:txBody>
          <a:bodyPr wrap="square" lIns="0" tIns="0" rIns="0" bIns="0" rtlCol="0" anchor="b"/>
          <a:lstStyle/>
          <a:p>
            <a:pPr indent="0" marL="0">
              <a:buNone/>
            </a:pPr>
            <a:r>
              <a:rPr lang="en-US" sz="6600" b="1" dirty="0">
                <a:solidFill>
                  <a:srgbClr val="161A2C"/>
                </a:solidFill>
              </a:rPr>
              <a:t>257</a:t>
            </a:r>
            <a:endParaRPr lang="en-US" sz="6600" dirty="0"/>
          </a:p>
        </p:txBody>
      </p:sp>
      <p:sp>
        <p:nvSpPr>
          <p:cNvPr id="6" name="text-231"/>
          <p:cNvSpPr txBox="1"/>
          <p:nvPr/>
        </p:nvSpPr>
        <p:spPr>
          <a:xfrm>
            <a:off x="612648" y="2286000"/>
            <a:ext cx="2743200" cy="320040"/>
          </a:xfrm>
          <a:prstGeom prst="rect">
            <a:avLst/>
          </a:prstGeom>
          <a:noFill/>
          <a:ln/>
        </p:spPr>
        <p:txBody>
          <a:bodyPr wrap="square" lIns="0" tIns="0" rIns="0" bIns="0" rtlCol="0" anchor="t"/>
          <a:lstStyle/>
          <a:p>
            <a:pPr indent="0" marL="0">
              <a:buNone/>
            </a:pPr>
            <a:r>
              <a:rPr lang="en-US" sz="1500" b="1" dirty="0">
                <a:solidFill>
                  <a:srgbClr val="1F7A4D"/>
                </a:solidFill>
              </a:rPr>
              <a:t>test ผ่าน 100%</a:t>
            </a:r>
            <a:endParaRPr lang="en-US" sz="1500" dirty="0"/>
          </a:p>
        </p:txBody>
      </p:sp>
      <p:sp>
        <p:nvSpPr>
          <p:cNvPr id="7" name="text-232"/>
          <p:cNvSpPr txBox="1"/>
          <p:nvPr/>
        </p:nvSpPr>
        <p:spPr>
          <a:xfrm>
            <a:off x="612648" y="2743200"/>
            <a:ext cx="1600200" cy="274320"/>
          </a:xfrm>
          <a:prstGeom prst="rect">
            <a:avLst/>
          </a:prstGeom>
          <a:noFill/>
          <a:ln/>
        </p:spPr>
        <p:txBody>
          <a:bodyPr wrap="square" lIns="0" tIns="0" rIns="0" bIns="0" rtlCol="0" anchor="ctr"/>
          <a:lstStyle/>
          <a:p>
            <a:pPr indent="0" marL="0">
              <a:buNone/>
            </a:pPr>
            <a:r>
              <a:rPr lang="en-US" sz="1100" dirty="0">
                <a:solidFill>
                  <a:srgbClr val="161A2C"/>
                </a:solidFill>
              </a:rPr>
              <a:t>Controller, หน้าเว็บ</a:t>
            </a:r>
            <a:endParaRPr lang="en-US" sz="1100" dirty="0"/>
          </a:p>
        </p:txBody>
      </p:sp>
      <p:sp>
        <p:nvSpPr>
          <p:cNvPr id="8" name="test-bar-233"/>
          <p:cNvSpPr/>
          <p:nvPr/>
        </p:nvSpPr>
        <p:spPr>
          <a:xfrm>
            <a:off x="2258568" y="2807208"/>
            <a:ext cx="1463040" cy="155448"/>
          </a:xfrm>
          <a:prstGeom prst="rect">
            <a:avLst/>
          </a:prstGeom>
          <a:solidFill>
            <a:srgbClr val="0A6FA6"/>
          </a:solidFill>
          <a:ln w="12700">
            <a:solidFill>
              <a:srgbClr val="0A6FA6"/>
            </a:solidFill>
            <a:prstDash val="solid"/>
          </a:ln>
        </p:spPr>
      </p:sp>
      <p:sp>
        <p:nvSpPr>
          <p:cNvPr id="9" name="text-234"/>
          <p:cNvSpPr txBox="1"/>
          <p:nvPr/>
        </p:nvSpPr>
        <p:spPr>
          <a:xfrm>
            <a:off x="3794760" y="2743200"/>
            <a:ext cx="457200" cy="274320"/>
          </a:xfrm>
          <a:prstGeom prst="rect">
            <a:avLst/>
          </a:prstGeom>
          <a:noFill/>
          <a:ln/>
        </p:spPr>
        <p:txBody>
          <a:bodyPr wrap="square" lIns="0" tIns="0" rIns="0" bIns="0" rtlCol="0" anchor="ctr"/>
          <a:lstStyle/>
          <a:p>
            <a:pPr indent="0" marL="0">
              <a:buNone/>
            </a:pPr>
            <a:r>
              <a:rPr lang="en-US" sz="1100" b="1" dirty="0">
                <a:solidFill>
                  <a:srgbClr val="161A2C"/>
                </a:solidFill>
              </a:rPr>
              <a:t>118</a:t>
            </a:r>
            <a:endParaRPr lang="en-US" sz="1100" dirty="0"/>
          </a:p>
        </p:txBody>
      </p:sp>
      <p:sp>
        <p:nvSpPr>
          <p:cNvPr id="10" name="text-235"/>
          <p:cNvSpPr txBox="1"/>
          <p:nvPr/>
        </p:nvSpPr>
        <p:spPr>
          <a:xfrm>
            <a:off x="612648" y="3090672"/>
            <a:ext cx="1600200" cy="274320"/>
          </a:xfrm>
          <a:prstGeom prst="rect">
            <a:avLst/>
          </a:prstGeom>
          <a:noFill/>
          <a:ln/>
        </p:spPr>
        <p:txBody>
          <a:bodyPr wrap="square" lIns="0" tIns="0" rIns="0" bIns="0" rtlCol="0" anchor="ctr"/>
          <a:lstStyle/>
          <a:p>
            <a:pPr indent="0" marL="0">
              <a:buNone/>
            </a:pPr>
            <a:r>
              <a:rPr lang="en-US" sz="1100" dirty="0">
                <a:solidFill>
                  <a:srgbClr val="161A2C"/>
                </a:solidFill>
              </a:rPr>
              <a:t>Service, Pattern</a:t>
            </a:r>
            <a:endParaRPr lang="en-US" sz="1100" dirty="0"/>
          </a:p>
        </p:txBody>
      </p:sp>
      <p:sp>
        <p:nvSpPr>
          <p:cNvPr id="11" name="test-bar-236"/>
          <p:cNvSpPr/>
          <p:nvPr/>
        </p:nvSpPr>
        <p:spPr>
          <a:xfrm>
            <a:off x="2258568" y="3154680"/>
            <a:ext cx="1289459" cy="155448"/>
          </a:xfrm>
          <a:prstGeom prst="rect">
            <a:avLst/>
          </a:prstGeom>
          <a:solidFill>
            <a:srgbClr val="0A6FA6"/>
          </a:solidFill>
          <a:ln w="12700">
            <a:solidFill>
              <a:srgbClr val="0A6FA6"/>
            </a:solidFill>
            <a:prstDash val="solid"/>
          </a:ln>
        </p:spPr>
      </p:sp>
      <p:sp>
        <p:nvSpPr>
          <p:cNvPr id="12" name="text-237"/>
          <p:cNvSpPr txBox="1"/>
          <p:nvPr/>
        </p:nvSpPr>
        <p:spPr>
          <a:xfrm>
            <a:off x="3621179" y="3090672"/>
            <a:ext cx="457200" cy="274320"/>
          </a:xfrm>
          <a:prstGeom prst="rect">
            <a:avLst/>
          </a:prstGeom>
          <a:noFill/>
          <a:ln/>
        </p:spPr>
        <p:txBody>
          <a:bodyPr wrap="square" lIns="0" tIns="0" rIns="0" bIns="0" rtlCol="0" anchor="ctr"/>
          <a:lstStyle/>
          <a:p>
            <a:pPr indent="0" marL="0">
              <a:buNone/>
            </a:pPr>
            <a:r>
              <a:rPr lang="en-US" sz="1100" b="1" dirty="0">
                <a:solidFill>
                  <a:srgbClr val="161A2C"/>
                </a:solidFill>
              </a:rPr>
              <a:t>104</a:t>
            </a:r>
            <a:endParaRPr lang="en-US" sz="1100" dirty="0"/>
          </a:p>
        </p:txBody>
      </p:sp>
      <p:sp>
        <p:nvSpPr>
          <p:cNvPr id="13" name="text-238"/>
          <p:cNvSpPr txBox="1"/>
          <p:nvPr/>
        </p:nvSpPr>
        <p:spPr>
          <a:xfrm>
            <a:off x="612648" y="3438144"/>
            <a:ext cx="1600200" cy="274320"/>
          </a:xfrm>
          <a:prstGeom prst="rect">
            <a:avLst/>
          </a:prstGeom>
          <a:noFill/>
          <a:ln/>
        </p:spPr>
        <p:txBody>
          <a:bodyPr wrap="square" lIns="0" tIns="0" rIns="0" bIns="0" rtlCol="0" anchor="ctr"/>
          <a:lstStyle/>
          <a:p>
            <a:pPr indent="0" marL="0">
              <a:buNone/>
            </a:pPr>
            <a:r>
              <a:rPr lang="en-US" sz="1100" dirty="0">
                <a:solidFill>
                  <a:srgbClr val="161A2C"/>
                </a:solidFill>
              </a:rPr>
              <a:t>Security</a:t>
            </a:r>
            <a:endParaRPr lang="en-US" sz="1100" dirty="0"/>
          </a:p>
        </p:txBody>
      </p:sp>
      <p:sp>
        <p:nvSpPr>
          <p:cNvPr id="14" name="test-bar-239"/>
          <p:cNvSpPr/>
          <p:nvPr/>
        </p:nvSpPr>
        <p:spPr>
          <a:xfrm>
            <a:off x="2258568" y="3502152"/>
            <a:ext cx="260372" cy="155448"/>
          </a:xfrm>
          <a:prstGeom prst="rect">
            <a:avLst/>
          </a:prstGeom>
          <a:solidFill>
            <a:srgbClr val="0A6FA6"/>
          </a:solidFill>
          <a:ln w="12700">
            <a:solidFill>
              <a:srgbClr val="0A6FA6"/>
            </a:solidFill>
            <a:prstDash val="solid"/>
          </a:ln>
        </p:spPr>
      </p:sp>
      <p:sp>
        <p:nvSpPr>
          <p:cNvPr id="15" name="text-240"/>
          <p:cNvSpPr txBox="1"/>
          <p:nvPr/>
        </p:nvSpPr>
        <p:spPr>
          <a:xfrm>
            <a:off x="2592092" y="3438144"/>
            <a:ext cx="457200" cy="274320"/>
          </a:xfrm>
          <a:prstGeom prst="rect">
            <a:avLst/>
          </a:prstGeom>
          <a:noFill/>
          <a:ln/>
        </p:spPr>
        <p:txBody>
          <a:bodyPr wrap="square" lIns="0" tIns="0" rIns="0" bIns="0" rtlCol="0" anchor="ctr"/>
          <a:lstStyle/>
          <a:p>
            <a:pPr indent="0" marL="0">
              <a:buNone/>
            </a:pPr>
            <a:r>
              <a:rPr lang="en-US" sz="1100" b="1" dirty="0">
                <a:solidFill>
                  <a:srgbClr val="161A2C"/>
                </a:solidFill>
              </a:rPr>
              <a:t>21</a:t>
            </a:r>
            <a:endParaRPr lang="en-US" sz="1100" dirty="0"/>
          </a:p>
        </p:txBody>
      </p:sp>
      <p:sp>
        <p:nvSpPr>
          <p:cNvPr id="16" name="text-241"/>
          <p:cNvSpPr txBox="1"/>
          <p:nvPr/>
        </p:nvSpPr>
        <p:spPr>
          <a:xfrm>
            <a:off x="612648" y="3785616"/>
            <a:ext cx="1600200" cy="274320"/>
          </a:xfrm>
          <a:prstGeom prst="rect">
            <a:avLst/>
          </a:prstGeom>
          <a:noFill/>
          <a:ln/>
        </p:spPr>
        <p:txBody>
          <a:bodyPr wrap="square" lIns="0" tIns="0" rIns="0" bIns="0" rtlCol="0" anchor="ctr"/>
          <a:lstStyle/>
          <a:p>
            <a:pPr indent="0" marL="0">
              <a:buNone/>
            </a:pPr>
            <a:r>
              <a:rPr lang="en-US" sz="1100" dirty="0">
                <a:solidFill>
                  <a:srgbClr val="161A2C"/>
                </a:solidFill>
              </a:rPr>
              <a:t>Repository</a:t>
            </a:r>
            <a:endParaRPr lang="en-US" sz="1100" dirty="0"/>
          </a:p>
        </p:txBody>
      </p:sp>
      <p:sp>
        <p:nvSpPr>
          <p:cNvPr id="17" name="test-bar-242"/>
          <p:cNvSpPr/>
          <p:nvPr/>
        </p:nvSpPr>
        <p:spPr>
          <a:xfrm>
            <a:off x="2258568" y="3849624"/>
            <a:ext cx="123986" cy="155448"/>
          </a:xfrm>
          <a:prstGeom prst="rect">
            <a:avLst/>
          </a:prstGeom>
          <a:solidFill>
            <a:srgbClr val="0A6FA6"/>
          </a:solidFill>
          <a:ln w="12700">
            <a:solidFill>
              <a:srgbClr val="0A6FA6"/>
            </a:solidFill>
            <a:prstDash val="solid"/>
          </a:ln>
        </p:spPr>
      </p:sp>
      <p:sp>
        <p:nvSpPr>
          <p:cNvPr id="18" name="text-243"/>
          <p:cNvSpPr txBox="1"/>
          <p:nvPr/>
        </p:nvSpPr>
        <p:spPr>
          <a:xfrm>
            <a:off x="2455706" y="3785616"/>
            <a:ext cx="457200" cy="274320"/>
          </a:xfrm>
          <a:prstGeom prst="rect">
            <a:avLst/>
          </a:prstGeom>
          <a:noFill/>
          <a:ln/>
        </p:spPr>
        <p:txBody>
          <a:bodyPr wrap="square" lIns="0" tIns="0" rIns="0" bIns="0" rtlCol="0" anchor="ctr"/>
          <a:lstStyle/>
          <a:p>
            <a:pPr indent="0" marL="0">
              <a:buNone/>
            </a:pPr>
            <a:r>
              <a:rPr lang="en-US" sz="1100" b="1" dirty="0">
                <a:solidFill>
                  <a:srgbClr val="161A2C"/>
                </a:solidFill>
              </a:rPr>
              <a:t>10</a:t>
            </a:r>
            <a:endParaRPr lang="en-US" sz="1100" dirty="0"/>
          </a:p>
        </p:txBody>
      </p:sp>
      <p:sp>
        <p:nvSpPr>
          <p:cNvPr id="19" name="text-244"/>
          <p:cNvSpPr txBox="1"/>
          <p:nvPr/>
        </p:nvSpPr>
        <p:spPr>
          <a:xfrm>
            <a:off x="612648" y="4133088"/>
            <a:ext cx="1600200" cy="274320"/>
          </a:xfrm>
          <a:prstGeom prst="rect">
            <a:avLst/>
          </a:prstGeom>
          <a:noFill/>
          <a:ln/>
        </p:spPr>
        <p:txBody>
          <a:bodyPr wrap="square" lIns="0" tIns="0" rIns="0" bIns="0" rtlCol="0" anchor="ctr"/>
          <a:lstStyle/>
          <a:p>
            <a:pPr indent="0" marL="0">
              <a:buNone/>
            </a:pPr>
            <a:r>
              <a:rPr lang="en-US" sz="1100" dirty="0">
                <a:solidFill>
                  <a:srgbClr val="161A2C"/>
                </a:solidFill>
              </a:rPr>
              <a:t>Integration</a:t>
            </a:r>
            <a:endParaRPr lang="en-US" sz="1100" dirty="0"/>
          </a:p>
        </p:txBody>
      </p:sp>
      <p:sp>
        <p:nvSpPr>
          <p:cNvPr id="20" name="test-bar-245"/>
          <p:cNvSpPr/>
          <p:nvPr/>
        </p:nvSpPr>
        <p:spPr>
          <a:xfrm>
            <a:off x="2258568" y="4197096"/>
            <a:ext cx="49595" cy="155448"/>
          </a:xfrm>
          <a:prstGeom prst="rect">
            <a:avLst/>
          </a:prstGeom>
          <a:solidFill>
            <a:srgbClr val="0A6FA6"/>
          </a:solidFill>
          <a:ln w="12700">
            <a:solidFill>
              <a:srgbClr val="0A6FA6"/>
            </a:solidFill>
            <a:prstDash val="solid"/>
          </a:ln>
        </p:spPr>
      </p:sp>
      <p:sp>
        <p:nvSpPr>
          <p:cNvPr id="21" name="text-246"/>
          <p:cNvSpPr txBox="1"/>
          <p:nvPr/>
        </p:nvSpPr>
        <p:spPr>
          <a:xfrm>
            <a:off x="2381315" y="4133088"/>
            <a:ext cx="457200" cy="274320"/>
          </a:xfrm>
          <a:prstGeom prst="rect">
            <a:avLst/>
          </a:prstGeom>
          <a:noFill/>
          <a:ln/>
        </p:spPr>
        <p:txBody>
          <a:bodyPr wrap="square" lIns="0" tIns="0" rIns="0" bIns="0" rtlCol="0" anchor="ctr"/>
          <a:lstStyle/>
          <a:p>
            <a:pPr indent="0" marL="0">
              <a:buNone/>
            </a:pPr>
            <a:r>
              <a:rPr lang="en-US" sz="1100" b="1" dirty="0">
                <a:solidFill>
                  <a:srgbClr val="161A2C"/>
                </a:solidFill>
              </a:rPr>
              <a:t>4</a:t>
            </a:r>
            <a:endParaRPr lang="en-US" sz="1100" dirty="0"/>
          </a:p>
        </p:txBody>
      </p:sp>
      <p:sp>
        <p:nvSpPr>
          <p:cNvPr id="22" name="card-247"/>
          <p:cNvSpPr/>
          <p:nvPr/>
        </p:nvSpPr>
        <p:spPr>
          <a:xfrm>
            <a:off x="4526280" y="1325880"/>
            <a:ext cx="4005072" cy="685800"/>
          </a:xfrm>
          <a:prstGeom prst="rect">
            <a:avLst/>
          </a:prstGeom>
          <a:solidFill>
            <a:srgbClr val="FCFCFA"/>
          </a:solidFill>
          <a:ln w="9525">
            <a:solidFill>
              <a:srgbClr val="E2E0D8"/>
            </a:solidFill>
            <a:prstDash val="solid"/>
          </a:ln>
        </p:spPr>
      </p:sp>
      <p:sp>
        <p:nvSpPr>
          <p:cNvPr id="23" name="card-accent-248"/>
          <p:cNvSpPr/>
          <p:nvPr/>
        </p:nvSpPr>
        <p:spPr>
          <a:xfrm>
            <a:off x="4526280" y="1325880"/>
            <a:ext cx="54864" cy="685800"/>
          </a:xfrm>
          <a:prstGeom prst="rect">
            <a:avLst/>
          </a:prstGeom>
          <a:solidFill>
            <a:srgbClr val="0A86C7"/>
          </a:solidFill>
          <a:ln w="12700">
            <a:solidFill>
              <a:srgbClr val="0A86C7"/>
            </a:solidFill>
            <a:prstDash val="solid"/>
          </a:ln>
        </p:spPr>
      </p:sp>
      <p:sp>
        <p:nvSpPr>
          <p:cNvPr id="24" name="text-249"/>
          <p:cNvSpPr txBox="1"/>
          <p:nvPr/>
        </p:nvSpPr>
        <p:spPr>
          <a:xfrm>
            <a:off x="4754880" y="1399032"/>
            <a:ext cx="3657600" cy="274320"/>
          </a:xfrm>
          <a:prstGeom prst="rect">
            <a:avLst/>
          </a:prstGeom>
          <a:noFill/>
          <a:ln/>
        </p:spPr>
        <p:txBody>
          <a:bodyPr wrap="square" lIns="0" tIns="0" rIns="0" bIns="0" rtlCol="0" anchor="t"/>
          <a:lstStyle/>
          <a:p>
            <a:pPr indent="0" marL="0">
              <a:buNone/>
            </a:pPr>
            <a:r>
              <a:rPr lang="en-US" sz="1350" b="1" dirty="0">
                <a:solidFill>
                  <a:srgbClr val="161A2C"/>
                </a:solidFill>
              </a:rPr>
              <a:t>Git Flow</a:t>
            </a:r>
            <a:endParaRPr lang="en-US" sz="1350" dirty="0"/>
          </a:p>
        </p:txBody>
      </p:sp>
      <p:sp>
        <p:nvSpPr>
          <p:cNvPr id="25" name="text-250"/>
          <p:cNvSpPr txBox="1"/>
          <p:nvPr/>
        </p:nvSpPr>
        <p:spPr>
          <a:xfrm>
            <a:off x="4754880" y="1700784"/>
            <a:ext cx="3657600" cy="246888"/>
          </a:xfrm>
          <a:prstGeom prst="rect">
            <a:avLst/>
          </a:prstGeom>
          <a:noFill/>
          <a:ln/>
        </p:spPr>
        <p:txBody>
          <a:bodyPr wrap="square" lIns="0" tIns="0" rIns="0" bIns="0" rtlCol="0" anchor="t"/>
          <a:lstStyle/>
          <a:p>
            <a:pPr indent="0" marL="0">
              <a:buNone/>
            </a:pPr>
            <a:r>
              <a:rPr lang="en-US" sz="1100" dirty="0">
                <a:solidFill>
                  <a:srgbClr val="4A4F5E"/>
                </a:solidFill>
              </a:rPr>
              <a:t>branch ต่อคน → develop → main ผ่าน PR</a:t>
            </a:r>
            <a:endParaRPr lang="en-US" sz="1100" dirty="0"/>
          </a:p>
        </p:txBody>
      </p:sp>
      <p:sp>
        <p:nvSpPr>
          <p:cNvPr id="26" name="card-251"/>
          <p:cNvSpPr/>
          <p:nvPr/>
        </p:nvSpPr>
        <p:spPr>
          <a:xfrm>
            <a:off x="4526280" y="2139696"/>
            <a:ext cx="4005072" cy="685800"/>
          </a:xfrm>
          <a:prstGeom prst="rect">
            <a:avLst/>
          </a:prstGeom>
          <a:solidFill>
            <a:srgbClr val="FCFCFA"/>
          </a:solidFill>
          <a:ln w="9525">
            <a:solidFill>
              <a:srgbClr val="E2E0D8"/>
            </a:solidFill>
            <a:prstDash val="solid"/>
          </a:ln>
        </p:spPr>
      </p:sp>
      <p:sp>
        <p:nvSpPr>
          <p:cNvPr id="27" name="card-accent-252"/>
          <p:cNvSpPr/>
          <p:nvPr/>
        </p:nvSpPr>
        <p:spPr>
          <a:xfrm>
            <a:off x="4526280" y="2139696"/>
            <a:ext cx="54864" cy="685800"/>
          </a:xfrm>
          <a:prstGeom prst="rect">
            <a:avLst/>
          </a:prstGeom>
          <a:solidFill>
            <a:srgbClr val="D6246E"/>
          </a:solidFill>
          <a:ln w="12700">
            <a:solidFill>
              <a:srgbClr val="D6246E"/>
            </a:solidFill>
            <a:prstDash val="solid"/>
          </a:ln>
        </p:spPr>
      </p:sp>
      <p:sp>
        <p:nvSpPr>
          <p:cNvPr id="28" name="text-253"/>
          <p:cNvSpPr txBox="1"/>
          <p:nvPr/>
        </p:nvSpPr>
        <p:spPr>
          <a:xfrm>
            <a:off x="4754880" y="2212848"/>
            <a:ext cx="3657600" cy="274320"/>
          </a:xfrm>
          <a:prstGeom prst="rect">
            <a:avLst/>
          </a:prstGeom>
          <a:noFill/>
          <a:ln/>
        </p:spPr>
        <p:txBody>
          <a:bodyPr wrap="square" lIns="0" tIns="0" rIns="0" bIns="0" rtlCol="0" anchor="t"/>
          <a:lstStyle/>
          <a:p>
            <a:pPr indent="0" marL="0">
              <a:buNone/>
            </a:pPr>
            <a:r>
              <a:rPr lang="en-US" sz="1350" b="1" dirty="0">
                <a:solidFill>
                  <a:srgbClr val="161A2C"/>
                </a:solidFill>
              </a:rPr>
              <a:t>GitHub Actions</a:t>
            </a:r>
            <a:endParaRPr lang="en-US" sz="1350" dirty="0"/>
          </a:p>
        </p:txBody>
      </p:sp>
      <p:sp>
        <p:nvSpPr>
          <p:cNvPr id="29" name="text-254"/>
          <p:cNvSpPr txBox="1"/>
          <p:nvPr/>
        </p:nvSpPr>
        <p:spPr>
          <a:xfrm>
            <a:off x="4754880" y="2514600"/>
            <a:ext cx="3657600" cy="246888"/>
          </a:xfrm>
          <a:prstGeom prst="rect">
            <a:avLst/>
          </a:prstGeom>
          <a:noFill/>
          <a:ln/>
        </p:spPr>
        <p:txBody>
          <a:bodyPr wrap="square" lIns="0" tIns="0" rIns="0" bIns="0" rtlCol="0" anchor="t"/>
          <a:lstStyle/>
          <a:p>
            <a:pPr indent="0" marL="0">
              <a:buNone/>
            </a:pPr>
            <a:r>
              <a:rPr lang="en-US" sz="1100" dirty="0">
                <a:solidFill>
                  <a:srgbClr val="4A4F5E"/>
                </a:solidFill>
              </a:rPr>
              <a:t>build และรัน test ทุก push</a:t>
            </a:r>
            <a:endParaRPr lang="en-US" sz="1100" dirty="0"/>
          </a:p>
        </p:txBody>
      </p:sp>
      <p:sp>
        <p:nvSpPr>
          <p:cNvPr id="30" name="card-255"/>
          <p:cNvSpPr/>
          <p:nvPr/>
        </p:nvSpPr>
        <p:spPr>
          <a:xfrm>
            <a:off x="4526280" y="2953512"/>
            <a:ext cx="4005072" cy="685800"/>
          </a:xfrm>
          <a:prstGeom prst="rect">
            <a:avLst/>
          </a:prstGeom>
          <a:solidFill>
            <a:srgbClr val="FCFCFA"/>
          </a:solidFill>
          <a:ln w="9525">
            <a:solidFill>
              <a:srgbClr val="E2E0D8"/>
            </a:solidFill>
            <a:prstDash val="solid"/>
          </a:ln>
        </p:spPr>
      </p:sp>
      <p:sp>
        <p:nvSpPr>
          <p:cNvPr id="31" name="card-accent-256"/>
          <p:cNvSpPr/>
          <p:nvPr/>
        </p:nvSpPr>
        <p:spPr>
          <a:xfrm>
            <a:off x="4526280" y="2953512"/>
            <a:ext cx="54864" cy="685800"/>
          </a:xfrm>
          <a:prstGeom prst="rect">
            <a:avLst/>
          </a:prstGeom>
          <a:solidFill>
            <a:srgbClr val="F2C200"/>
          </a:solidFill>
          <a:ln w="12700">
            <a:solidFill>
              <a:srgbClr val="F2C200"/>
            </a:solidFill>
            <a:prstDash val="solid"/>
          </a:ln>
        </p:spPr>
      </p:sp>
      <p:sp>
        <p:nvSpPr>
          <p:cNvPr id="32" name="text-257"/>
          <p:cNvSpPr txBox="1"/>
          <p:nvPr/>
        </p:nvSpPr>
        <p:spPr>
          <a:xfrm>
            <a:off x="4754880" y="3026664"/>
            <a:ext cx="3657600" cy="274320"/>
          </a:xfrm>
          <a:prstGeom prst="rect">
            <a:avLst/>
          </a:prstGeom>
          <a:noFill/>
          <a:ln/>
        </p:spPr>
        <p:txBody>
          <a:bodyPr wrap="square" lIns="0" tIns="0" rIns="0" bIns="0" rtlCol="0" anchor="t"/>
          <a:lstStyle/>
          <a:p>
            <a:pPr indent="0" marL="0">
              <a:buNone/>
            </a:pPr>
            <a:r>
              <a:rPr lang="en-US" sz="1350" b="1" dirty="0">
                <a:solidFill>
                  <a:srgbClr val="161A2C"/>
                </a:solidFill>
              </a:rPr>
              <a:t>Docker</a:t>
            </a:r>
            <a:endParaRPr lang="en-US" sz="1350" dirty="0"/>
          </a:p>
        </p:txBody>
      </p:sp>
      <p:sp>
        <p:nvSpPr>
          <p:cNvPr id="33" name="text-258"/>
          <p:cNvSpPr txBox="1"/>
          <p:nvPr/>
        </p:nvSpPr>
        <p:spPr>
          <a:xfrm>
            <a:off x="4754880" y="3328416"/>
            <a:ext cx="3657600" cy="246888"/>
          </a:xfrm>
          <a:prstGeom prst="rect">
            <a:avLst/>
          </a:prstGeom>
          <a:noFill/>
          <a:ln/>
        </p:spPr>
        <p:txBody>
          <a:bodyPr wrap="square" lIns="0" tIns="0" rIns="0" bIns="0" rtlCol="0" anchor="t"/>
          <a:lstStyle/>
          <a:p>
            <a:pPr indent="0" marL="0">
              <a:buNone/>
            </a:pPr>
            <a:r>
              <a:rPr lang="en-US" sz="1100" dirty="0">
                <a:solidFill>
                  <a:srgbClr val="4A4F5E"/>
                </a:solidFill>
              </a:rPr>
              <a:t>multi-stage, JRE 17, เวลาไทย</a:t>
            </a:r>
            <a:endParaRPr lang="en-US" sz="1100" dirty="0"/>
          </a:p>
        </p:txBody>
      </p:sp>
      <p:sp>
        <p:nvSpPr>
          <p:cNvPr id="34" name="card-259"/>
          <p:cNvSpPr/>
          <p:nvPr/>
        </p:nvSpPr>
        <p:spPr>
          <a:xfrm>
            <a:off x="4526280" y="3767328"/>
            <a:ext cx="4005072" cy="685800"/>
          </a:xfrm>
          <a:prstGeom prst="rect">
            <a:avLst/>
          </a:prstGeom>
          <a:solidFill>
            <a:srgbClr val="FCFCFA"/>
          </a:solidFill>
          <a:ln w="9525">
            <a:solidFill>
              <a:srgbClr val="E2E0D8"/>
            </a:solidFill>
            <a:prstDash val="solid"/>
          </a:ln>
        </p:spPr>
      </p:sp>
      <p:sp>
        <p:nvSpPr>
          <p:cNvPr id="35" name="card-accent-260"/>
          <p:cNvSpPr/>
          <p:nvPr/>
        </p:nvSpPr>
        <p:spPr>
          <a:xfrm>
            <a:off x="4526280" y="3767328"/>
            <a:ext cx="54864" cy="685800"/>
          </a:xfrm>
          <a:prstGeom prst="rect">
            <a:avLst/>
          </a:prstGeom>
          <a:solidFill>
            <a:srgbClr val="161A2C"/>
          </a:solidFill>
          <a:ln w="12700">
            <a:solidFill>
              <a:srgbClr val="161A2C"/>
            </a:solidFill>
            <a:prstDash val="solid"/>
          </a:ln>
        </p:spPr>
      </p:sp>
      <p:sp>
        <p:nvSpPr>
          <p:cNvPr id="36" name="text-261"/>
          <p:cNvSpPr txBox="1"/>
          <p:nvPr/>
        </p:nvSpPr>
        <p:spPr>
          <a:xfrm>
            <a:off x="4754880" y="3840480"/>
            <a:ext cx="3657600" cy="274320"/>
          </a:xfrm>
          <a:prstGeom prst="rect">
            <a:avLst/>
          </a:prstGeom>
          <a:noFill/>
          <a:ln/>
        </p:spPr>
        <p:txBody>
          <a:bodyPr wrap="square" lIns="0" tIns="0" rIns="0" bIns="0" rtlCol="0" anchor="t"/>
          <a:lstStyle/>
          <a:p>
            <a:pPr indent="0" marL="0">
              <a:buNone/>
            </a:pPr>
            <a:r>
              <a:rPr lang="en-US" sz="1350" b="1" dirty="0">
                <a:solidFill>
                  <a:srgbClr val="161A2C"/>
                </a:solidFill>
              </a:rPr>
              <a:t>Render + Neon</a:t>
            </a:r>
            <a:endParaRPr lang="en-US" sz="1350" dirty="0"/>
          </a:p>
        </p:txBody>
      </p:sp>
      <p:sp>
        <p:nvSpPr>
          <p:cNvPr id="37" name="text-262"/>
          <p:cNvSpPr txBox="1"/>
          <p:nvPr/>
        </p:nvSpPr>
        <p:spPr>
          <a:xfrm>
            <a:off x="4754880" y="4142232"/>
            <a:ext cx="3657600" cy="246888"/>
          </a:xfrm>
          <a:prstGeom prst="rect">
            <a:avLst/>
          </a:prstGeom>
          <a:noFill/>
          <a:ln/>
        </p:spPr>
        <p:txBody>
          <a:bodyPr wrap="square" lIns="0" tIns="0" rIns="0" bIns="0" rtlCol="0" anchor="t"/>
          <a:lstStyle/>
          <a:p>
            <a:pPr indent="0" marL="0">
              <a:buNone/>
            </a:pPr>
            <a:r>
              <a:rPr lang="en-US" sz="1100" dirty="0">
                <a:solidFill>
                  <a:srgbClr val="4A4F5E"/>
                </a:solidFill>
              </a:rPr>
              <a:t>deploy อัตโนมัติ ค่าลับอยู่ใน env</a:t>
            </a:r>
            <a:endParaRPr lang="en-US" sz="1100" dirty="0"/>
          </a:p>
        </p:txBody>
      </p:sp>
      <p:sp>
        <p:nvSpPr>
          <p:cNvPr id="25" name="Slide Number Placeholder 0"/>
          <p:cNvSpPr>
            <a:spLocks noGrp="1"/>
          </p:cNvSpPr>
          <p:nvPr>
            <p:ph type="sldNum" sz="quarter" idx="4294967295"/>
          </p:nvPr>
        </p:nvSpPr>
        <p:spPr>
          <a:xfrm>
            <a:off x="8074152"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6F7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p:nvPr>
            <p:ph idx="105" type="title" hasCustomPrompt="1"/>
          </p:nvPr>
        </p:nvSpPr>
        <p:spPr>
          <a:xfrm>
            <a:off x="612648" y="566928"/>
            <a:ext cx="6400800" cy="566928"/>
          </a:xfrm>
          <a:prstGeom prst="rect">
            <a:avLst/>
          </a:prstGeom>
          <a:noFill/>
          <a:ln/>
        </p:spPr>
        <p:txBody>
          <a:bodyPr wrap="square" lIns="0" tIns="0" rIns="0" bIns="0" rtlCol="0" anchor="ctr"/>
          <a:lstStyle/>
          <a:p>
            <a:pPr algn="l" indent="0" marL="0">
              <a:buNone/>
            </a:pPr>
            <a:r>
              <a:rPr lang="en-US" sz="2600" b="1" dirty="0">
                <a:solidFill>
                  <a:srgbClr val="161A2C"/>
                </a:solidFill>
              </a:rPr>
              <a:t>สรุปผล: ครบตามวัตถุประสงค์</a:t>
            </a:r>
            <a:endParaRPr lang="en-US" sz="2600" dirty="0"/>
          </a:p>
        </p:txBody>
      </p:sp>
      <p:sp>
        <p:nvSpPr>
          <p:cNvPr id="3" name="speaker-pill"/>
          <p:cNvSpPr/>
          <p:nvPr/>
        </p:nvSpPr>
        <p:spPr>
          <a:xfrm>
            <a:off x="7159752" y="329184"/>
            <a:ext cx="1371600" cy="292608"/>
          </a:xfrm>
          <a:prstGeom prst="roundRect">
            <a:avLst>
              <a:gd name="adj" fmla="val 50000"/>
            </a:avLst>
          </a:prstGeom>
          <a:solidFill>
            <a:srgbClr val="0A6FA6"/>
          </a:solidFill>
          <a:ln w="12700">
            <a:solidFill>
              <a:srgbClr val="0A6FA6"/>
            </a:solidFill>
            <a:prstDash val="solid"/>
          </a:ln>
        </p:spPr>
      </p:sp>
      <p:sp>
        <p:nvSpPr>
          <p:cNvPr id="4" name="speaker-label"/>
          <p:cNvSpPr txBox="1"/>
          <p:nvPr/>
        </p:nvSpPr>
        <p:spPr>
          <a:xfrm>
            <a:off x="7159752" y="329184"/>
            <a:ext cx="1371600" cy="292608"/>
          </a:xfrm>
          <a:prstGeom prst="rect">
            <a:avLst/>
          </a:prstGeom>
          <a:noFill/>
          <a:ln/>
        </p:spPr>
        <p:txBody>
          <a:bodyPr wrap="square" lIns="0" tIns="0" rIns="0" bIns="0" rtlCol="0" anchor="ctr"/>
          <a:lstStyle/>
          <a:p>
            <a:pPr algn="ctr" indent="0" marL="0">
              <a:buNone/>
            </a:pPr>
            <a:r>
              <a:rPr lang="en-US" sz="1100" b="1" dirty="0">
                <a:solidFill>
                  <a:srgbClr val="FCFCFA"/>
                </a:solidFill>
              </a:rPr>
              <a:t>P4 อาณัฐ</a:t>
            </a:r>
            <a:endParaRPr lang="en-US" sz="1100" dirty="0"/>
          </a:p>
        </p:txBody>
      </p:sp>
      <p:graphicFrame>
        <p:nvGraphicFramePr>
          <p:cNvPr id="14" name="summary-table"/>
          <p:cNvGraphicFramePr>
            <a:graphicFrameLocks noGrp="1"/>
          </p:cNvGraphicFramePr>
          <p:nvPr>
            <p:extLst>
              <p:ext uri="{D42A27DB-BD31-4B8C-83A1-F6EECF244321}">
                <p14:modId xmlns:p14="http://schemas.microsoft.com/office/powerpoint/2010/main" val="1579011935"/>
              </p:ext>
            </p:extLst>
          </p:nvPr>
        </p:nvGraphicFramePr>
        <p:xfrm>
          <a:off x="612648" y="1325880"/>
          <a:ext cx="7918704" cy="914400"/>
        </p:xfrm>
        <a:graphic>
          <a:graphicData uri="http://schemas.openxmlformats.org/drawingml/2006/table">
            <a:tbl>
              <a:tblPr/>
              <a:tblGrid>
                <a:gridCol w="3108960"/>
                <a:gridCol w="3986784"/>
                <a:gridCol w="822960"/>
              </a:tblGrid>
              <a:tr h="402336">
                <a:tc>
                  <a:txBody>
                    <a:bodyPr/>
                    <a:lstStyle/>
                    <a:p>
                      <a:pPr indent="0" marL="0">
                        <a:buNone/>
                      </a:pPr>
                      <a:r>
                        <a:rPr lang="en-US" sz="1300" b="1" dirty="0">
                          <a:solidFill>
                            <a:srgbClr val="F5F4EF"/>
                          </a:solidFill>
                        </a:rPr>
                        <a:t>วัตถุประสงค์</a:t>
                      </a:r>
                      <a:endParaRPr lang="en-US" sz="1300" dirty="0"/>
                    </a:p>
                  </a:txBody>
                  <a:tcPr marL="91440" marR="91440" marT="91440" marB="91440"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161A2C"/>
                    </a:solidFill>
                  </a:tcPr>
                </a:tc>
                <a:tc>
                  <a:txBody>
                    <a:bodyPr/>
                    <a:lstStyle/>
                    <a:p>
                      <a:pPr indent="0" marL="0">
                        <a:buNone/>
                      </a:pPr>
                      <a:r>
                        <a:rPr lang="en-US" sz="1300" b="1" dirty="0">
                          <a:solidFill>
                            <a:srgbClr val="F5F4EF"/>
                          </a:solidFill>
                        </a:rPr>
                        <a:t>สิ่งที่ทำได้</a:t>
                      </a:r>
                      <a:endParaRPr lang="en-US" sz="1300" dirty="0"/>
                    </a:p>
                  </a:txBody>
                  <a:tcPr marL="91440" marR="91440" marT="91440" marB="91440"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161A2C"/>
                    </a:solidFill>
                  </a:tcPr>
                </a:tc>
                <a:tc>
                  <a:txBody>
                    <a:bodyPr/>
                    <a:lstStyle/>
                    <a:p>
                      <a:pPr algn="ctr" indent="0" marL="0">
                        <a:buNone/>
                      </a:pPr>
                      <a:r>
                        <a:rPr lang="en-US" sz="1300" b="1" dirty="0">
                          <a:solidFill>
                            <a:srgbClr val="F5F4EF"/>
                          </a:solidFill>
                        </a:rPr>
                        <a:t>ผล</a:t>
                      </a:r>
                      <a:endParaRPr lang="en-US" sz="1300" dirty="0"/>
                    </a:p>
                  </a:txBody>
                  <a:tcPr marL="91440" marR="91440" marT="91440" marB="91440"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161A2C"/>
                    </a:solidFill>
                  </a:tcPr>
                </a:tc>
              </a:tr>
              <a:tr h="402336">
                <a:tc>
                  <a:txBody>
                    <a:bodyPr/>
                    <a:lstStyle/>
                    <a:p>
                      <a:pPr indent="0" marL="0">
                        <a:buNone/>
                      </a:pPr>
                      <a:r>
                        <a:rPr lang="en-US" sz="1300" dirty="0">
                          <a:solidFill>
                            <a:srgbClr val="161A2C"/>
                          </a:solidFill>
                        </a:rPr>
                        <a:t>สั่งออนไลน์ รู้ราคา ติดตามสถานะ</a:t>
                      </a:r>
                      <a:endParaRPr lang="en-US" sz="1300" dirty="0"/>
                    </a:p>
                  </a:txBody>
                  <a:tcPr marL="91440" marR="91440" marT="91440" marB="91440"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FCFCFA"/>
                    </a:solidFill>
                  </a:tcPr>
                </a:tc>
                <a:tc>
                  <a:txBody>
                    <a:bodyPr/>
                    <a:lstStyle/>
                    <a:p>
                      <a:pPr indent="0" marL="0">
                        <a:buNone/>
                      </a:pPr>
                      <a:r>
                        <a:rPr lang="en-US" sz="1300" dirty="0">
                          <a:solidFill>
                            <a:srgbClr val="161A2C"/>
                          </a:solidFill>
                        </a:rPr>
                        <a:t>คิดราคาทันที + แจ้งเตือนทุกครั้ง</a:t>
                      </a:r>
                      <a:endParaRPr lang="en-US" sz="1300" dirty="0"/>
                    </a:p>
                  </a:txBody>
                  <a:tcPr marL="91440" marR="91440" marT="91440" marB="91440"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FCFCFA"/>
                    </a:solidFill>
                  </a:tcPr>
                </a:tc>
                <a:tc>
                  <a:txBody>
                    <a:bodyPr/>
                    <a:lstStyle/>
                    <a:p>
                      <a:pPr algn="ctr" indent="0" marL="0">
                        <a:buNone/>
                      </a:pPr>
                      <a:r>
                        <a:rPr lang="en-US" sz="1300" b="1" dirty="0">
                          <a:solidFill>
                            <a:srgbClr val="1F7A4D"/>
                          </a:solidFill>
                        </a:rPr>
                        <a:t>ครบ</a:t>
                      </a:r>
                      <a:endParaRPr lang="en-US" sz="1300" dirty="0"/>
                    </a:p>
                  </a:txBody>
                  <a:tcPr marL="91440" marR="91440" marT="91440" marB="91440"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FCFCFA"/>
                    </a:solidFill>
                  </a:tcPr>
                </a:tc>
              </a:tr>
              <a:tr h="402336">
                <a:tc>
                  <a:txBody>
                    <a:bodyPr/>
                    <a:lstStyle/>
                    <a:p>
                      <a:pPr indent="0" marL="0">
                        <a:buNone/>
                      </a:pPr>
                      <a:r>
                        <a:rPr lang="en-US" sz="1300" dirty="0">
                          <a:solidFill>
                            <a:srgbClr val="161A2C"/>
                          </a:solidFill>
                        </a:rPr>
                        <a:t>ร้านจัดการงาน เงิน รายงาน</a:t>
                      </a:r>
                      <a:endParaRPr lang="en-US" sz="1300" dirty="0"/>
                    </a:p>
                  </a:txBody>
                  <a:tcPr marL="91440" marR="91440" marT="91440" marB="91440"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FCFCFA"/>
                    </a:solidFill>
                  </a:tcPr>
                </a:tc>
                <a:tc>
                  <a:txBody>
                    <a:bodyPr/>
                    <a:lstStyle/>
                    <a:p>
                      <a:pPr indent="0" marL="0">
                        <a:buNone/>
                      </a:pPr>
                      <a:r>
                        <a:rPr lang="en-US" sz="1300" dirty="0">
                          <a:solidFill>
                            <a:srgbClr val="161A2C"/>
                          </a:solidFill>
                        </a:rPr>
                        <a:t>14 use case ครบ 3 บทบาท</a:t>
                      </a:r>
                      <a:endParaRPr lang="en-US" sz="1300" dirty="0"/>
                    </a:p>
                  </a:txBody>
                  <a:tcPr marL="91440" marR="91440" marT="91440" marB="91440"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FCFCFA"/>
                    </a:solidFill>
                  </a:tcPr>
                </a:tc>
                <a:tc>
                  <a:txBody>
                    <a:bodyPr/>
                    <a:lstStyle/>
                    <a:p>
                      <a:pPr algn="ctr" indent="0" marL="0">
                        <a:buNone/>
                      </a:pPr>
                      <a:r>
                        <a:rPr lang="en-US" sz="1300" b="1" dirty="0">
                          <a:solidFill>
                            <a:srgbClr val="1F7A4D"/>
                          </a:solidFill>
                        </a:rPr>
                        <a:t>ครบ</a:t>
                      </a:r>
                      <a:endParaRPr lang="en-US" sz="1300" dirty="0"/>
                    </a:p>
                  </a:txBody>
                  <a:tcPr marL="91440" marR="91440" marT="91440" marB="91440"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FCFCFA"/>
                    </a:solidFill>
                  </a:tcPr>
                </a:tc>
              </a:tr>
              <a:tr h="402336">
                <a:tc>
                  <a:txBody>
                    <a:bodyPr/>
                    <a:lstStyle/>
                    <a:p>
                      <a:pPr indent="0" marL="0">
                        <a:buNone/>
                      </a:pPr>
                      <a:r>
                        <a:rPr lang="en-US" sz="1300" dirty="0">
                          <a:solidFill>
                            <a:srgbClr val="161A2C"/>
                          </a:solidFill>
                        </a:rPr>
                        <a:t>Layered, SOLID, Pattern</a:t>
                      </a:r>
                      <a:endParaRPr lang="en-US" sz="1300" dirty="0"/>
                    </a:p>
                  </a:txBody>
                  <a:tcPr marL="91440" marR="91440" marT="91440" marB="91440"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FCFCFA"/>
                    </a:solidFill>
                  </a:tcPr>
                </a:tc>
                <a:tc>
                  <a:txBody>
                    <a:bodyPr/>
                    <a:lstStyle/>
                    <a:p>
                      <a:pPr indent="0" marL="0">
                        <a:buNone/>
                      </a:pPr>
                      <a:r>
                        <a:rPr lang="en-US" sz="1300" dirty="0">
                          <a:solidFill>
                            <a:srgbClr val="161A2C"/>
                          </a:solidFill>
                        </a:rPr>
                        <a:t>4 ชั้น + Strategy State Observer Chain</a:t>
                      </a:r>
                      <a:endParaRPr lang="en-US" sz="1300" dirty="0"/>
                    </a:p>
                  </a:txBody>
                  <a:tcPr marL="91440" marR="91440" marT="91440" marB="91440"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FCFCFA"/>
                    </a:solidFill>
                  </a:tcPr>
                </a:tc>
                <a:tc>
                  <a:txBody>
                    <a:bodyPr/>
                    <a:lstStyle/>
                    <a:p>
                      <a:pPr algn="ctr" indent="0" marL="0">
                        <a:buNone/>
                      </a:pPr>
                      <a:r>
                        <a:rPr lang="en-US" sz="1300" b="1" dirty="0">
                          <a:solidFill>
                            <a:srgbClr val="1F7A4D"/>
                          </a:solidFill>
                        </a:rPr>
                        <a:t>ครบ</a:t>
                      </a:r>
                      <a:endParaRPr lang="en-US" sz="1300" dirty="0"/>
                    </a:p>
                  </a:txBody>
                  <a:tcPr marL="91440" marR="91440" marT="91440" marB="91440"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FCFCFA"/>
                    </a:solidFill>
                  </a:tcPr>
                </a:tc>
              </a:tr>
              <a:tr h="402336">
                <a:tc>
                  <a:txBody>
                    <a:bodyPr/>
                    <a:lstStyle/>
                    <a:p>
                      <a:pPr indent="0" marL="0">
                        <a:buNone/>
                      </a:pPr>
                      <a:r>
                        <a:rPr lang="en-US" sz="1300" dirty="0">
                          <a:solidFill>
                            <a:srgbClr val="161A2C"/>
                          </a:solidFill>
                        </a:rPr>
                        <a:t>Test และ CI/CD</a:t>
                      </a:r>
                      <a:endParaRPr lang="en-US" sz="1300" dirty="0"/>
                    </a:p>
                  </a:txBody>
                  <a:tcPr marL="91440" marR="91440" marT="91440" marB="91440"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FCFCFA"/>
                    </a:solidFill>
                  </a:tcPr>
                </a:tc>
                <a:tc>
                  <a:txBody>
                    <a:bodyPr/>
                    <a:lstStyle/>
                    <a:p>
                      <a:pPr indent="0" marL="0">
                        <a:buNone/>
                      </a:pPr>
                      <a:r>
                        <a:rPr lang="en-US" sz="1300" dirty="0">
                          <a:solidFill>
                            <a:srgbClr val="161A2C"/>
                          </a:solidFill>
                        </a:rPr>
                        <a:t>257 test ผ่าน, Actions → Render</a:t>
                      </a:r>
                      <a:endParaRPr lang="en-US" sz="1300" dirty="0"/>
                    </a:p>
                  </a:txBody>
                  <a:tcPr marL="91440" marR="91440" marT="91440" marB="91440"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FCFCFA"/>
                    </a:solidFill>
                  </a:tcPr>
                </a:tc>
                <a:tc>
                  <a:txBody>
                    <a:bodyPr/>
                    <a:lstStyle/>
                    <a:p>
                      <a:pPr algn="ctr" indent="0" marL="0">
                        <a:buNone/>
                      </a:pPr>
                      <a:r>
                        <a:rPr lang="en-US" sz="1300" b="1" dirty="0">
                          <a:solidFill>
                            <a:srgbClr val="1F7A4D"/>
                          </a:solidFill>
                        </a:rPr>
                        <a:t>ครบ</a:t>
                      </a:r>
                      <a:endParaRPr lang="en-US" sz="1300" dirty="0"/>
                    </a:p>
                  </a:txBody>
                  <a:tcPr marL="91440" marR="91440" marT="91440" marB="91440" anchor="ctr">
                    <a:lnL w="6350" cap="flat" cmpd="sng" algn="ctr">
                      <a:solidFill>
                        <a:srgbClr val="E2E0D8"/>
                      </a:solidFill>
                      <a:prstDash val="solid"/>
                      <a:round/>
                      <a:headEnd type="none" w="med" len="med"/>
                      <a:tailEnd type="none" w="med" len="med"/>
                    </a:lnL>
                    <a:lnR w="6350" cap="flat" cmpd="sng" algn="ctr">
                      <a:solidFill>
                        <a:srgbClr val="E2E0D8"/>
                      </a:solidFill>
                      <a:prstDash val="solid"/>
                      <a:round/>
                      <a:headEnd type="none" w="med" len="med"/>
                      <a:tailEnd type="none" w="med" len="med"/>
                    </a:lnR>
                    <a:lnT w="6350" cap="flat" cmpd="sng" algn="ctr">
                      <a:solidFill>
                        <a:srgbClr val="E2E0D8"/>
                      </a:solidFill>
                      <a:prstDash val="solid"/>
                      <a:round/>
                      <a:headEnd type="none" w="med" len="med"/>
                      <a:tailEnd type="none" w="med" len="med"/>
                    </a:lnT>
                    <a:lnB w="6350" cap="flat" cmpd="sng" algn="ctr">
                      <a:solidFill>
                        <a:srgbClr val="E2E0D8"/>
                      </a:solidFill>
                      <a:prstDash val="solid"/>
                      <a:round/>
                      <a:headEnd type="none" w="med" len="med"/>
                      <a:tailEnd type="none" w="med" len="med"/>
                    </a:lnB>
                    <a:solidFill>
                      <a:srgbClr val="FCFCFA"/>
                    </a:solidFill>
                  </a:tcPr>
                </a:tc>
              </a:tr>
            </a:tbl>
          </a:graphicData>
        </a:graphic>
      </p:graphicFrame>
      <p:sp>
        <p:nvSpPr>
          <p:cNvPr id="6" name="learned-264"/>
          <p:cNvSpPr/>
          <p:nvPr/>
        </p:nvSpPr>
        <p:spPr>
          <a:xfrm>
            <a:off x="612648" y="3611880"/>
            <a:ext cx="7918704" cy="914400"/>
          </a:xfrm>
          <a:prstGeom prst="rect">
            <a:avLst/>
          </a:prstGeom>
          <a:solidFill>
            <a:srgbClr val="161A2C"/>
          </a:solidFill>
          <a:ln w="12700">
            <a:solidFill>
              <a:srgbClr val="161A2C"/>
            </a:solidFill>
            <a:prstDash val="solid"/>
          </a:ln>
        </p:spPr>
      </p:sp>
      <p:sp>
        <p:nvSpPr>
          <p:cNvPr id="7" name="text-265"/>
          <p:cNvSpPr txBox="1"/>
          <p:nvPr/>
        </p:nvSpPr>
        <p:spPr>
          <a:xfrm>
            <a:off x="886968" y="3703320"/>
            <a:ext cx="2743200" cy="274320"/>
          </a:xfrm>
          <a:prstGeom prst="rect">
            <a:avLst/>
          </a:prstGeom>
          <a:noFill/>
          <a:ln/>
        </p:spPr>
        <p:txBody>
          <a:bodyPr wrap="square" lIns="0" tIns="0" rIns="0" bIns="0" rtlCol="0" anchor="t"/>
          <a:lstStyle/>
          <a:p>
            <a:pPr indent="0" marL="0">
              <a:buNone/>
            </a:pPr>
            <a:r>
              <a:rPr lang="en-US" sz="1200" b="1" dirty="0">
                <a:solidFill>
                  <a:srgbClr val="F2C200"/>
                </a:solidFill>
              </a:rPr>
              <a:t>สิ่งที่ได้เรียนรู้</a:t>
            </a:r>
            <a:endParaRPr lang="en-US" sz="1200" dirty="0"/>
          </a:p>
        </p:txBody>
      </p:sp>
      <p:sp>
        <p:nvSpPr>
          <p:cNvPr id="8" name="text-266"/>
          <p:cNvSpPr txBox="1"/>
          <p:nvPr/>
        </p:nvSpPr>
        <p:spPr>
          <a:xfrm>
            <a:off x="886968" y="3977640"/>
            <a:ext cx="7370064" cy="457200"/>
          </a:xfrm>
          <a:prstGeom prst="rect">
            <a:avLst/>
          </a:prstGeom>
          <a:noFill/>
          <a:ln/>
        </p:spPr>
        <p:txBody>
          <a:bodyPr wrap="square" lIns="0" tIns="0" rIns="0" bIns="0" rtlCol="0" anchor="ctr"/>
          <a:lstStyle/>
          <a:p>
            <a:pPr indent="0" marL="0">
              <a:buNone/>
            </a:pPr>
            <a:r>
              <a:rPr lang="en-US" sz="1300" dirty="0">
                <a:solidFill>
                  <a:srgbClr val="F5F4EF"/>
                </a:solidFill>
              </a:rPr>
              <a:t>Pattern ทำให้เพิ่มความสามารถได้โดยไม่แก้ของเดิม เช่น กฎจำกัดสิทธิ์โค้ดต่อคน เพิ่มเป็น handler ใหม่ในสาย</a:t>
            </a:r>
            <a:endParaRPr lang="en-US" sz="1300" dirty="0"/>
          </a:p>
        </p:txBody>
      </p:sp>
      <p:sp>
        <p:nvSpPr>
          <p:cNvPr id="25" name="Slide Number Placeholder 0"/>
          <p:cNvSpPr>
            <a:spLocks noGrp="1"/>
          </p:cNvSpPr>
          <p:nvPr>
            <p:ph type="sldNum" sz="quarter" idx="4294967295"/>
          </p:nvPr>
        </p:nvSpPr>
        <p:spPr>
          <a:xfrm>
            <a:off x="8074152"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6F7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267"/>
          <p:cNvSpPr txBox="1"/>
          <p:nvPr/>
        </p:nvSpPr>
        <p:spPr>
          <a:xfrm>
            <a:off x="612648" y="1097280"/>
            <a:ext cx="4572000" cy="274320"/>
          </a:xfrm>
          <a:prstGeom prst="rect">
            <a:avLst/>
          </a:prstGeom>
          <a:noFill/>
          <a:ln/>
        </p:spPr>
        <p:txBody>
          <a:bodyPr wrap="square" lIns="0" tIns="0" rIns="0" bIns="0" rtlCol="0" anchor="t"/>
          <a:lstStyle/>
          <a:p>
            <a:pPr indent="0" marL="0">
              <a:buNone/>
            </a:pPr>
            <a:r>
              <a:rPr lang="en-US" sz="1300" b="1" dirty="0">
                <a:solidFill>
                  <a:srgbClr val="F2C200"/>
                </a:solidFill>
              </a:rPr>
              <a:t>ลำดับการสาธิต · 3 นาที</a:t>
            </a:r>
            <a:endParaRPr lang="en-US" sz="1300" dirty="0"/>
          </a:p>
        </p:txBody>
      </p:sp>
      <p:sp>
        <p:nvSpPr>
          <p:cNvPr id="3" name="text-268"/>
          <p:cNvSpPr txBox="1"/>
          <p:nvPr/>
        </p:nvSpPr>
        <p:spPr>
          <a:xfrm>
            <a:off x="612648" y="1417320"/>
            <a:ext cx="4846320" cy="914400"/>
          </a:xfrm>
          <a:prstGeom prst="rect">
            <a:avLst/>
          </a:prstGeom>
          <a:noFill/>
          <a:ln/>
        </p:spPr>
        <p:txBody>
          <a:bodyPr wrap="square" lIns="0" tIns="0" rIns="0" bIns="0" rtlCol="0" anchor="ctr"/>
          <a:lstStyle/>
          <a:p>
            <a:pPr indent="0" marL="0">
              <a:buNone/>
            </a:pPr>
            <a:r>
              <a:rPr lang="en-US" sz="5000" b="1" dirty="0">
                <a:solidFill>
                  <a:srgbClr val="F5F4EF"/>
                </a:solidFill>
              </a:rPr>
              <a:t>Demo และ Q&amp;A</a:t>
            </a:r>
            <a:endParaRPr lang="en-US" sz="5000" dirty="0"/>
          </a:p>
        </p:txBody>
      </p:sp>
      <p:sp>
        <p:nvSpPr>
          <p:cNvPr id="4" name="text-269"/>
          <p:cNvSpPr txBox="1"/>
          <p:nvPr/>
        </p:nvSpPr>
        <p:spPr>
          <a:xfrm>
            <a:off x="612648" y="2468880"/>
            <a:ext cx="4846320" cy="365760"/>
          </a:xfrm>
          <a:prstGeom prst="rect">
            <a:avLst/>
          </a:prstGeom>
          <a:noFill/>
          <a:ln/>
        </p:spPr>
        <p:txBody>
          <a:bodyPr wrap="square" lIns="0" tIns="0" rIns="0" bIns="0" rtlCol="0" anchor="t"/>
          <a:lstStyle/>
          <a:p>
            <a:pPr indent="0" marL="0">
              <a:buNone/>
            </a:pPr>
            <a:r>
              <a:rPr lang="en-US" sz="1800" dirty="0">
                <a:solidFill>
                  <a:srgbClr val="F5F4EF"/>
                </a:solidFill>
              </a:rPr>
              <a:t>printflow-ogm4.onrender.com</a:t>
            </a:r>
            <a:endParaRPr lang="en-US" sz="1800" dirty="0"/>
          </a:p>
        </p:txBody>
      </p:sp>
      <p:sp>
        <p:nvSpPr>
          <p:cNvPr id="5" name="text-270"/>
          <p:cNvSpPr txBox="1"/>
          <p:nvPr/>
        </p:nvSpPr>
        <p:spPr>
          <a:xfrm>
            <a:off x="612648" y="2834640"/>
            <a:ext cx="4846320" cy="274320"/>
          </a:xfrm>
          <a:prstGeom prst="rect">
            <a:avLst/>
          </a:prstGeom>
          <a:noFill/>
          <a:ln/>
        </p:spPr>
        <p:txBody>
          <a:bodyPr wrap="square" lIns="0" tIns="0" rIns="0" bIns="0" rtlCol="0" anchor="t"/>
          <a:lstStyle/>
          <a:p>
            <a:pPr indent="0" marL="0">
              <a:buNone/>
            </a:pPr>
            <a:r>
              <a:rPr lang="en-US" sz="1300" dirty="0">
                <a:solidFill>
                  <a:srgbClr val="B9BDCB"/>
                </a:solidFill>
              </a:rPr>
              <a:t>Swagger UI: /swagger-ui.html</a:t>
            </a:r>
            <a:endParaRPr lang="en-US" sz="1300" dirty="0"/>
          </a:p>
        </p:txBody>
      </p:sp>
      <p:sp>
        <p:nvSpPr>
          <p:cNvPr id="6" name="text-271"/>
          <p:cNvSpPr txBox="1"/>
          <p:nvPr/>
        </p:nvSpPr>
        <p:spPr>
          <a:xfrm>
            <a:off x="612648" y="4297680"/>
            <a:ext cx="3657600" cy="320040"/>
          </a:xfrm>
          <a:prstGeom prst="rect">
            <a:avLst/>
          </a:prstGeom>
          <a:noFill/>
          <a:ln/>
        </p:spPr>
        <p:txBody>
          <a:bodyPr wrap="square" lIns="0" tIns="0" rIns="0" bIns="0" rtlCol="0" anchor="t"/>
          <a:lstStyle/>
          <a:p>
            <a:pPr indent="0" marL="0">
              <a:buNone/>
            </a:pPr>
            <a:r>
              <a:rPr lang="en-US" sz="1400" dirty="0">
                <a:solidFill>
                  <a:srgbClr val="B9BDCB"/>
                </a:solidFill>
              </a:rPr>
              <a:t>ขอบคุณครับ</a:t>
            </a:r>
            <a:endParaRPr lang="en-US" sz="1400" dirty="0"/>
          </a:p>
        </p:txBody>
      </p:sp>
      <p:sp>
        <p:nvSpPr>
          <p:cNvPr id="7" name="demo-tab-272"/>
          <p:cNvSpPr/>
          <p:nvPr/>
        </p:nvSpPr>
        <p:spPr>
          <a:xfrm>
            <a:off x="5577840" y="960120"/>
            <a:ext cx="54864" cy="658368"/>
          </a:xfrm>
          <a:prstGeom prst="rect">
            <a:avLst/>
          </a:prstGeom>
          <a:solidFill>
            <a:srgbClr val="0A86C7"/>
          </a:solidFill>
          <a:ln w="12700">
            <a:solidFill>
              <a:srgbClr val="0A86C7"/>
            </a:solidFill>
            <a:prstDash val="solid"/>
          </a:ln>
        </p:spPr>
      </p:sp>
      <p:sp>
        <p:nvSpPr>
          <p:cNvPr id="8" name="text-273"/>
          <p:cNvSpPr txBox="1"/>
          <p:nvPr/>
        </p:nvSpPr>
        <p:spPr>
          <a:xfrm>
            <a:off x="5806440" y="960120"/>
            <a:ext cx="2743200" cy="658368"/>
          </a:xfrm>
          <a:prstGeom prst="rect">
            <a:avLst/>
          </a:prstGeom>
          <a:noFill/>
          <a:ln/>
        </p:spPr>
        <p:txBody>
          <a:bodyPr wrap="square" lIns="0" tIns="0" rIns="0" bIns="0" rtlCol="0" anchor="ctr"/>
          <a:lstStyle/>
          <a:p>
            <a:pPr indent="0" marL="0">
              <a:buNone/>
            </a:pPr>
            <a:r>
              <a:rPr lang="en-US" sz="1050" dirty="0">
                <a:solidFill>
                  <a:srgbClr val="B9BDCB"/>
                </a:solidFill>
              </a:rPr>
              <a:t>ขั้นที่ 1 · P3</a:t>
            </a:r>
            <a:endParaRPr lang="en-US" sz="1300" dirty="0"/>
          </a:p>
          <a:p>
            <a:pPr indent="0" marL="0">
              <a:buNone/>
            </a:pPr>
            <a:r>
              <a:rPr lang="en-US" sz="1350" b="1" dirty="0">
                <a:solidFill>
                  <a:srgbClr val="F5F4EF"/>
                </a:solidFill>
              </a:rPr>
              <a:t>ลูกค้าสั่งพิมพ์ ระบบคิดราคาให้</a:t>
            </a:r>
            <a:endParaRPr lang="en-US" sz="1300" dirty="0"/>
          </a:p>
        </p:txBody>
      </p:sp>
      <p:sp>
        <p:nvSpPr>
          <p:cNvPr id="9" name="demo-tab-274"/>
          <p:cNvSpPr/>
          <p:nvPr/>
        </p:nvSpPr>
        <p:spPr>
          <a:xfrm>
            <a:off x="5577840" y="1828800"/>
            <a:ext cx="54864" cy="658368"/>
          </a:xfrm>
          <a:prstGeom prst="rect">
            <a:avLst/>
          </a:prstGeom>
          <a:solidFill>
            <a:srgbClr val="D6246E"/>
          </a:solidFill>
          <a:ln w="12700">
            <a:solidFill>
              <a:srgbClr val="D6246E"/>
            </a:solidFill>
            <a:prstDash val="solid"/>
          </a:ln>
        </p:spPr>
      </p:sp>
      <p:sp>
        <p:nvSpPr>
          <p:cNvPr id="10" name="text-275"/>
          <p:cNvSpPr txBox="1"/>
          <p:nvPr/>
        </p:nvSpPr>
        <p:spPr>
          <a:xfrm>
            <a:off x="5806440" y="1828800"/>
            <a:ext cx="2743200" cy="658368"/>
          </a:xfrm>
          <a:prstGeom prst="rect">
            <a:avLst/>
          </a:prstGeom>
          <a:noFill/>
          <a:ln/>
        </p:spPr>
        <p:txBody>
          <a:bodyPr wrap="square" lIns="0" tIns="0" rIns="0" bIns="0" rtlCol="0" anchor="ctr"/>
          <a:lstStyle/>
          <a:p>
            <a:pPr indent="0" marL="0">
              <a:buNone/>
            </a:pPr>
            <a:r>
              <a:rPr lang="en-US" sz="1050" dirty="0">
                <a:solidFill>
                  <a:srgbClr val="B9BDCB"/>
                </a:solidFill>
              </a:rPr>
              <a:t>ขั้นที่ 2 · P4</a:t>
            </a:r>
            <a:endParaRPr lang="en-US" sz="1300" dirty="0"/>
          </a:p>
          <a:p>
            <a:pPr indent="0" marL="0">
              <a:buNone/>
            </a:pPr>
            <a:r>
              <a:rPr lang="en-US" sz="1350" b="1" dirty="0">
                <a:solidFill>
                  <a:srgbClr val="F5F4EF"/>
                </a:solidFill>
              </a:rPr>
              <a:t>พนักงานยืนยันงาน บันทึกชำระเงิน</a:t>
            </a:r>
            <a:endParaRPr lang="en-US" sz="1300" dirty="0"/>
          </a:p>
        </p:txBody>
      </p:sp>
      <p:sp>
        <p:nvSpPr>
          <p:cNvPr id="11" name="demo-tab-276"/>
          <p:cNvSpPr/>
          <p:nvPr/>
        </p:nvSpPr>
        <p:spPr>
          <a:xfrm>
            <a:off x="5577840" y="2697480"/>
            <a:ext cx="54864" cy="658368"/>
          </a:xfrm>
          <a:prstGeom prst="rect">
            <a:avLst/>
          </a:prstGeom>
          <a:solidFill>
            <a:srgbClr val="F2C200"/>
          </a:solidFill>
          <a:ln w="12700">
            <a:solidFill>
              <a:srgbClr val="F2C200"/>
            </a:solidFill>
            <a:prstDash val="solid"/>
          </a:ln>
        </p:spPr>
      </p:sp>
      <p:sp>
        <p:nvSpPr>
          <p:cNvPr id="12" name="text-277"/>
          <p:cNvSpPr txBox="1"/>
          <p:nvPr/>
        </p:nvSpPr>
        <p:spPr>
          <a:xfrm>
            <a:off x="5806440" y="2697480"/>
            <a:ext cx="2743200" cy="658368"/>
          </a:xfrm>
          <a:prstGeom prst="rect">
            <a:avLst/>
          </a:prstGeom>
          <a:noFill/>
          <a:ln/>
        </p:spPr>
        <p:txBody>
          <a:bodyPr wrap="square" lIns="0" tIns="0" rIns="0" bIns="0" rtlCol="0" anchor="ctr"/>
          <a:lstStyle/>
          <a:p>
            <a:pPr indent="0" marL="0">
              <a:buNone/>
            </a:pPr>
            <a:r>
              <a:rPr lang="en-US" sz="1050" dirty="0">
                <a:solidFill>
                  <a:srgbClr val="B9BDCB"/>
                </a:solidFill>
              </a:rPr>
              <a:t>ขั้นที่ 3 · P4</a:t>
            </a:r>
            <a:endParaRPr lang="en-US" sz="1300" dirty="0"/>
          </a:p>
          <a:p>
            <a:pPr indent="0" marL="0">
              <a:buNone/>
            </a:pPr>
            <a:r>
              <a:rPr lang="en-US" sz="1350" b="1" dirty="0">
                <a:solidFill>
                  <a:srgbClr val="F5F4EF"/>
                </a:solidFill>
              </a:rPr>
              <a:t>ลูกค้าเห็นแจ้งเตือนและสถานะใหม่</a:t>
            </a:r>
            <a:endParaRPr lang="en-US" sz="1300" dirty="0"/>
          </a:p>
        </p:txBody>
      </p:sp>
      <p:sp>
        <p:nvSpPr>
          <p:cNvPr id="13" name="demo-tab-278"/>
          <p:cNvSpPr/>
          <p:nvPr/>
        </p:nvSpPr>
        <p:spPr>
          <a:xfrm>
            <a:off x="5577840" y="3566160"/>
            <a:ext cx="54864" cy="658368"/>
          </a:xfrm>
          <a:prstGeom prst="rect">
            <a:avLst/>
          </a:prstGeom>
          <a:solidFill>
            <a:srgbClr val="F5F4EF"/>
          </a:solidFill>
          <a:ln w="12700">
            <a:solidFill>
              <a:srgbClr val="F5F4EF"/>
            </a:solidFill>
            <a:prstDash val="solid"/>
          </a:ln>
        </p:spPr>
      </p:sp>
      <p:sp>
        <p:nvSpPr>
          <p:cNvPr id="14" name="text-279"/>
          <p:cNvSpPr txBox="1"/>
          <p:nvPr/>
        </p:nvSpPr>
        <p:spPr>
          <a:xfrm>
            <a:off x="5806440" y="3566160"/>
            <a:ext cx="2743200" cy="658368"/>
          </a:xfrm>
          <a:prstGeom prst="rect">
            <a:avLst/>
          </a:prstGeom>
          <a:noFill/>
          <a:ln/>
        </p:spPr>
        <p:txBody>
          <a:bodyPr wrap="square" lIns="0" tIns="0" rIns="0" bIns="0" rtlCol="0" anchor="ctr"/>
          <a:lstStyle/>
          <a:p>
            <a:pPr indent="0" marL="0">
              <a:buNone/>
            </a:pPr>
            <a:r>
              <a:rPr lang="en-US" sz="1050" dirty="0">
                <a:solidFill>
                  <a:srgbClr val="B9BDCB"/>
                </a:solidFill>
              </a:rPr>
              <a:t>ขั้นที่ 4 · P1</a:t>
            </a:r>
            <a:endParaRPr lang="en-US" sz="1300" dirty="0"/>
          </a:p>
          <a:p>
            <a:pPr indent="0" marL="0">
              <a:buNone/>
            </a:pPr>
            <a:r>
              <a:rPr lang="en-US" sz="1350" b="1" dirty="0">
                <a:solidFill>
                  <a:srgbClr val="F5F4EF"/>
                </a:solidFill>
              </a:rPr>
              <a:t>Admin ดูรายงาน และ Swagger</a:t>
            </a:r>
            <a:endParaRPr lang="en-US" sz="1300" dirty="0"/>
          </a:p>
        </p:txBody>
      </p:sp>
    </p:spTree>
  </p:cSld>
  <p:clrMapOvr>
    <a:masterClrMapping/>
  </p:clrMapOvr>
</p:sld>
</file>

<file path=ppt/theme/theme1.xml><?xml version="1.0" encoding="utf-8"?>
<a:theme xmlns:a="http://schemas.openxmlformats.org/drawingml/2006/main" name="PrintFlow Ink">
  <a:themeElements>
    <a:clrScheme name="PrintFlow Ink">
      <a:dk1>
        <a:srgbClr val="161A2C"/>
      </a:dk1>
      <a:lt1>
        <a:srgbClr val="FCFCFA"/>
      </a:lt1>
      <a:dk2>
        <a:srgbClr val="161A2C"/>
      </a:dk2>
      <a:lt2>
        <a:srgbClr val="F5F4EF"/>
      </a:lt2>
      <a:accent1>
        <a:srgbClr val="0A86C7"/>
      </a:accent1>
      <a:accent2>
        <a:srgbClr val="D6246E"/>
      </a:accent2>
      <a:accent3>
        <a:srgbClr val="F2C200"/>
      </a:accent3>
      <a:accent4>
        <a:srgbClr val="161A2C"/>
      </a:accent4>
      <a:accent5>
        <a:srgbClr val="1F7A4D"/>
      </a:accent5>
      <a:accent6>
        <a:srgbClr val="6B6F7B"/>
      </a:accent6>
      <a:hlink>
        <a:srgbClr val="0A6FA6"/>
      </a:hlink>
      <a:folHlink>
        <a:srgbClr val="6B6F7B"/>
      </a:folHlink>
    </a:clrScheme>
    <a:fontScheme name="PrintFlow Ink">
      <a:majorFont>
        <a:latin typeface="Leelawadee UI"/>
        <a:ea typeface=""/>
        <a:cs typeface="Leelawadee UI"/>
        <a:font script="Jpan" typeface="游ゴシック Light"/>
        <a:font script="Hang" typeface="맑은 고딕"/>
        <a:font script="Hans" typeface="等线 Light"/>
        <a:font script="Hant" typeface="新細明體"/>
        <a:font script="Arab" typeface="Times New Roman"/>
        <a:font script="Hebr" typeface="Times New Roman"/>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font script="Thai" typeface="Leelawadee UI"/>
      </a:majorFont>
      <a:minorFont>
        <a:latin typeface="Leelawadee UI"/>
        <a:ea typeface=""/>
        <a:cs typeface="Leelawadee UI"/>
        <a:font script="Jpan" typeface="游ゴシック"/>
        <a:font script="Hang" typeface="맑은 고딕"/>
        <a:font script="Hans" typeface="等线"/>
        <a:font script="Hant" typeface="新細明體"/>
        <a:font script="Arab" typeface="Arial"/>
        <a:font script="Hebr" typeface="Arial"/>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font script="Thai" typeface="Leelawadee U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PrintFlow — ระบบจัดการร้านรับพิมพ์</dc:title>
  <dc:subject>PptxGenJS Presentation</dc:subject>
  <dc:creator>PrintFlow Team CP353002 Sec 04</dc:creator>
  <cp:lastModifiedBy>PrintFlow Team CP353002 Sec 04</cp:lastModifiedBy>
  <cp:revision>1</cp:revision>
  <dcterms:created xsi:type="dcterms:W3CDTF">2026-10-10T10:48:39Z</dcterms:created>
  <dcterms:modified xsi:type="dcterms:W3CDTF">2026-10-10T10:48:39Z</dcterms:modified>
</cp:coreProperties>
</file>